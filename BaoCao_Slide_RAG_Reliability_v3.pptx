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19.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29.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84" r:id="rId35"/>
    <p:sldId id="259" r:id="rId5"/>
    <p:sldId id="260" r:id="rId6"/>
    <p:sldId id="262" r:id="rId8"/>
    <p:sldId id="263" r:id="rId9"/>
    <p:sldId id="274" r:id="rId20"/>
    <p:sldId id="266" r:id="rId12"/>
    <p:sldId id="268" r:id="rId14"/>
    <p:sldId id="270" r:id="rId16"/>
    <p:sldId id="272" r:id="rId18"/>
    <p:sldId id="277" r:id="rId23"/>
    <p:sldId id="278" r:id="rId24"/>
    <p:sldId id="279" r:id="rId25"/>
    <p:sldId id="280" r:id="rId26"/>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8" Type="http://schemas.openxmlformats.org/officeDocument/2006/relationships/slide" Target="slides/slide7.xml"/><Relationship Id="rId9" Type="http://schemas.openxmlformats.org/officeDocument/2006/relationships/slide" Target="slides/slide8.xml"/><Relationship Id="rId12" Type="http://schemas.openxmlformats.org/officeDocument/2006/relationships/slide" Target="slides/slide11.xml"/><Relationship Id="rId14" Type="http://schemas.openxmlformats.org/officeDocument/2006/relationships/slide" Target="slides/slide13.xml"/><Relationship Id="rId16" Type="http://schemas.openxmlformats.org/officeDocument/2006/relationships/slide" Target="slides/slide15.xml"/><Relationship Id="rId18" Type="http://schemas.openxmlformats.org/officeDocument/2006/relationships/slide" Target="slides/slide17.xml"/><Relationship Id="rId20" Type="http://schemas.openxmlformats.org/officeDocument/2006/relationships/slide" Target="slides/slide19.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  <Relationship Id="rId35" Type="http://schemas.openxmlformats.org/officeDocument/2006/relationships/slide" Target="slides/slide29.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Đồ án xây phần lõi của một trợ lý hỏi đáp cho giảng viên: trả lời có trích dẫn, biết từ chối khi thiếu bằng chứng, gọi được công cụ nghiệp vụ trong giới hạn an toàn, và đo được độ tin cậy của cả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Năm phần. Hai phần giữa là trọng tâm kỹ thuật, phần cuối là số liệu đo thực tế.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“học kỳ này tôi vượt giờ bao nhiêu và phần vượt thanh toán theo quy định nào” hiện phải tra nhiều màn hình và văn bản. Chatbot thông thường không đáp ứng được vì mô hình ghép chữ thành câu nghe hợp lý; ghép với kho riêng thì rủi ro chỉ chuyển chỗ thành ba nhóm trong hình. Các giải pháp đám mây vướng dữ liệu và phân quyền, giải pháp tự triển khai thiếu kiểm chứng và đo lường, nên đồ án tự xây dựng.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Điểm khác biệt so với bản RAG thông thường nằm ở mục tiêu hai và 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Toàn bộ mô hình chạy cục bộ nên chi phí cho mỗi truy vấn bằng không và dữ liệu không rời máy chủ.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Nhờ tầng trừu tượng, đổi mô hình hay đổi nguồn công cụ chỉ là đổi cấu hình.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Nguyên tắc hai và năm là hai thứ em giữ chặt nhất trong suốt dự 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Lỗi hạ tầng được ghi riêng bằng trạng thái ERROR, không trộn vào nhóm từ chối.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nguồn chạy song song, nguồn nào lỗi thì phần hợp nhất vẫn tiếp tục với nguồn còn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chỗ không tin mô hình chính là lý do trích dẫn của hệ thống không bao giờ trỏ tới tài liệu không tồn tại.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bộ bảo vệ: ngân sách, phát hiện lặp, không tiến triển và ngưỡng lỗi công cụ.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này là thiết kế, chưa cài đặt. Hai hệ thống giữ độc lập. Máy chủ công cụ nhận thông tin uỷ quyền ngắn hạn cho từng lượt hỏi nên không gắn với JWT hay phiên. Khảo sát mã nguồn phát hiện điểm cuối xuất bảng kê vượt giờ đang công khai, cần gắn quyền trước khi mở cho tác tử. Rủi ro chính: chèn lệnh qua dữ liệu, dữ liệu cá nhân trong vết, độ trễ khoảng 18 giây.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Điểm cần nhấn: không có trường hợp nào bịa ra câu trả lời khi kho tri thức không chứa thông tin.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Giá trị của cách thiết kế bộ dữ liệu theo tầng lỗi nằm ở chỗ tách được hai nguyên nhân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Điểm tổng hợp trước khắc phục là 7,45 trên 10. Ba lỗi chặn đều đã sửa và đo lại để xác nhận.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case có cài lỗi được phân loại đúng nhãn lỗi nhà cung cấp và quá thời gian chờ, cả hai đều phục hồi thành công.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mục tiêu cài đặt và đo đạc đã hoàn thành, mục tiêu tích hợp dừng ở thiết kế. Hạn chế: chưa tích hợp và chưa đánh giá trên văn bản nội bộ, câu hỏi nhiều chặng mới đạt 0,44, độ trễ khoảng 18 giây, tác tử mới giới hạn ở công cụ chỉ đọc.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xin cảm ơn và sẵn sàng nhận câu hỏi.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FEFEE"/>
        </a:solidFill>
      </p:bgPr>
    </p:bg>
    <p:spTree>
      <p:nvGrpSpPr>
        <p:cNvPr id="1" name=""/>
        <p:cNvGrpSpPr/>
        <p:nvPr/>
      </p:nvGrpSpPr>
      <p:grpSpPr>
        <a:xfrm>
          <a:off x="0" y="0"/>
          <a:ext cx="0" cy="0"/>
          <a:chOff x="0" y="0"/>
          <a:chExt cx="0" cy="0"/>
        </a:xfrm>
      </p:grpSpPr>
      <p:sp>
        <p:nvSpPr>
          <p:cNvPr id="2" name="Text 0"/>
          <p:cNvSpPr txBox="1"/>
          <p:nvPr/>
        </p:nvSpPr>
        <p:spPr>
          <a:xfrm>
            <a:off x="566928" y="6400800"/>
            <a:ext cx="6400800" cy="274320"/>
          </a:xfrm>
          <a:prstGeom prst="rect">
            <a:avLst/>
          </a:prstGeom>
          <a:noFill/>
          <a:ln/>
        </p:spPr>
        <p:txBody>
          <a:bodyPr wrap="square" lIns="0" tIns="0" rIns="0" bIns="0" rtlCol="0" anchor="ctr"/>
          <a:lstStyle/>
          <a:p>
            <a:pPr indent="0" marL="0">
              <a:buNone/>
            </a:pPr>
            <a:r>
              <a:rPr lang="en-US" sz="900" dirty="0">
                <a:solidFill>
                  <a:srgbClr val="8A8F98"/>
                </a:solidFill>
                <a:latin typeface="Arial" pitchFamily="34" charset="0"/>
                <a:ea typeface="Arial" pitchFamily="34" charset="-122"/>
                <a:cs typeface="Arial" pitchFamily="34" charset="-120"/>
              </a:rPr>
              <a:t>HỆ THỐNG HỎI ĐÁP CÓ CĂN CỨ  ·  Báo cáo đồ án</a:t>
            </a:r>
            <a:endParaRPr lang="en-US" sz="900" dirty="0"/>
          </a:p>
        </p:txBody>
      </p:sp>
      <p:sp>
        <p:nvSpPr>
          <p:cNvPr id="3" name="Text 1"/>
          <p:cNvSpPr txBox="1"/>
          <p:nvPr/>
        </p:nvSpPr>
        <p:spPr>
          <a:xfrm>
            <a:off x="10972800" y="6400800"/>
            <a:ext cx="658368" cy="274320"/>
          </a:xfrm>
          <a:prstGeom prst="rect">
            <a:avLst/>
          </a:prstGeom>
          <a:noFill/>
          <a:ln/>
        </p:spPr>
        <p:txBody>
          <a:bodyPr wrap="square" lIns="0" tIns="0" rIns="0" bIns="0" rtlCol="0" anchor="ctr"/>
          <a:lstStyle/>
          <a:p>
            <a:pPr algn="r" indent="0" marL="0">
              <a:buNone/>
            </a:pPr>
            <a:r>
              <a:rPr lang="en-US" sz="900" dirty="0">
                <a:solidFill>
                  <a:srgbClr val="8A8F98"/>
                </a:solidFill>
                <a:latin typeface="Arial" pitchFamily="34" charset="0"/>
                <a:ea typeface="Arial" pitchFamily="34" charset="-122"/>
                <a:cs typeface="Arial" pitchFamily="34" charset="-120"/>
              </a:rPr>
              <a:t>01</a:t>
            </a:r>
            <a:endParaRPr lang="en-US" sz="900" dirty="0"/>
          </a:p>
        </p:txBody>
      </p:sp>
      <p:sp>
        <p:nvSpPr>
          <p:cNvPr id="4" name="Shape 2"/>
          <p:cNvSpPr/>
          <p:nvPr/>
        </p:nvSpPr>
        <p:spPr>
          <a:xfrm>
            <a:off x="566928" y="960120"/>
            <a:ext cx="4343400" cy="566928"/>
          </a:xfrm>
          <a:prstGeom prst="roundRect">
            <a:avLst>
              <a:gd name="adj" fmla="val 50000"/>
            </a:avLst>
          </a:prstGeom>
          <a:solidFill>
            <a:srgbClr val="132B5E"/>
          </a:solidFill>
          <a:ln/>
        </p:spPr>
      </p:sp>
      <p:sp>
        <p:nvSpPr>
          <p:cNvPr id="5" name="Text 3"/>
          <p:cNvSpPr txBox="1"/>
          <p:nvPr/>
        </p:nvSpPr>
        <p:spPr>
          <a:xfrm>
            <a:off x="566928" y="960120"/>
            <a:ext cx="4343400" cy="566928"/>
          </a:xfrm>
          <a:prstGeom prst="rect">
            <a:avLst/>
          </a:prstGeom>
          <a:noFill/>
          <a:ln/>
        </p:spPr>
        <p:txBody>
          <a:bodyPr wrap="square" lIns="0" tIns="0" rIns="0" bIns="0" rtlCol="0" anchor="ctr"/>
          <a:lstStyle/>
          <a:p>
            <a:pPr algn="ctr" indent="0" marL="0">
              <a:buNone/>
            </a:pPr>
            <a:r>
              <a:rPr lang="en-US" sz="1400" b="1" spc="100" kern="0" dirty="0">
                <a:solidFill>
                  <a:srgbClr val="FFFFFF"/>
                </a:solidFill>
                <a:latin typeface="Arial" pitchFamily="34" charset="0"/>
                <a:ea typeface="Arial" pitchFamily="34" charset="-122"/>
                <a:cs typeface="Arial" pitchFamily="34" charset="-120"/>
              </a:rPr>
              <a:t>[ BÁO CÁO ĐỒ ÁN ]</a:t>
            </a:r>
            <a:endParaRPr lang="en-US" sz="1400" dirty="0"/>
          </a:p>
        </p:txBody>
      </p:sp>
      <p:sp>
        <p:nvSpPr>
          <p:cNvPr id="6" name="Text 4"/>
          <p:cNvSpPr txBox="1"/>
          <p:nvPr/>
        </p:nvSpPr>
        <p:spPr>
          <a:xfrm>
            <a:off x="566928" y="1783080"/>
            <a:ext cx="5486400" cy="2103120"/>
          </a:xfrm>
          <a:prstGeom prst="rect">
            <a:avLst/>
          </a:prstGeom>
          <a:noFill/>
          <a:ln/>
        </p:spPr>
        <p:txBody>
          <a:bodyPr wrap="square" lIns="0" tIns="0" rIns="0" bIns="0" rtlCol="0" anchor="t"/>
          <a:lstStyle/>
          <a:p>
            <a:pPr indent="0" marL="0">
              <a:lnSpc>
                <a:spcPct val="95000"/>
              </a:lnSpc>
              <a:buNone/>
            </a:pPr>
            <a:r>
              <a:rPr lang="en-US" sz="3000" b="1" dirty="0">
                <a:solidFill>
                  <a:srgbClr val="132B5E"/>
                </a:solidFill>
                <a:latin typeface="Arial" pitchFamily="34" charset="0"/>
                <a:ea typeface="Arial" pitchFamily="34" charset="-122"/>
                <a:cs typeface="Arial" pitchFamily="34" charset="-120"/>
              </a:rPr>
              <a:t>XÂY DỰNG HỆ THỐNG</a:t>
            </a:r>
            <a:endParaRPr lang="en-US" sz="3000" dirty="0"/>
          </a:p>
          <a:p>
            <a:pPr indent="0" marL="0">
              <a:lnSpc>
                <a:spcPct val="95000"/>
              </a:lnSpc>
              <a:buNone/>
            </a:pPr>
            <a:r>
              <a:rPr lang="en-US" sz="3000" b="1" dirty="0">
                <a:solidFill>
                  <a:srgbClr val="132B5E"/>
                </a:solidFill>
                <a:latin typeface="Arial" pitchFamily="34" charset="0"/>
                <a:ea typeface="Arial" pitchFamily="34" charset="-122"/>
                <a:cs typeface="Arial" pitchFamily="34" charset="-120"/>
              </a:rPr>
              <a:t>HỎI ĐÁP CÓ CĂN CỨ</a:t>
            </a:r>
            <a:endParaRPr lang="en-US" sz="3000" dirty="0"/>
          </a:p>
          <a:p>
            <a:pPr indent="0" marL="0">
              <a:lnSpc>
                <a:spcPct val="95000"/>
              </a:lnSpc>
              <a:buNone/>
            </a:pPr>
            <a:r>
              <a:rPr lang="en-US" sz="3000" b="1" dirty="0">
                <a:solidFill>
                  <a:srgbClr val="132B5E"/>
                </a:solidFill>
                <a:latin typeface="Arial" pitchFamily="34" charset="0"/>
                <a:ea typeface="Arial" pitchFamily="34" charset="-122"/>
                <a:cs typeface="Arial" pitchFamily="34" charset="-120"/>
              </a:rPr>
              <a:t>HỖ TRỢ QUẢN LÝ</a:t>
            </a:r>
            <a:endParaRPr lang="en-US" sz="3000" dirty="0"/>
          </a:p>
          <a:p>
            <a:pPr indent="0" marL="0">
              <a:lnSpc>
                <a:spcPct val="95000"/>
              </a:lnSpc>
              <a:buNone/>
            </a:pPr>
            <a:r>
              <a:rPr lang="en-US" sz="3000" b="1" dirty="0">
                <a:solidFill>
                  <a:srgbClr val="132B5E"/>
                </a:solidFill>
                <a:latin typeface="Arial" pitchFamily="34" charset="0"/>
                <a:ea typeface="Arial" pitchFamily="34" charset="-122"/>
                <a:cs typeface="Arial" pitchFamily="34" charset="-120"/>
              </a:rPr>
              <a:t>GIẢNG VIÊN</a:t>
            </a:r>
            <a:endParaRPr lang="en-US" sz="3000" dirty="0"/>
          </a:p>
        </p:txBody>
      </p:sp>
      <p:sp>
        <p:nvSpPr>
          <p:cNvPr id="7" name="Text 5"/>
          <p:cNvSpPr txBox="1"/>
          <p:nvPr/>
        </p:nvSpPr>
        <p:spPr>
          <a:xfrm>
            <a:off x="566928" y="3977640"/>
            <a:ext cx="5394960" cy="1371600"/>
          </a:xfrm>
          <a:prstGeom prst="rect">
            <a:avLst/>
          </a:prstGeom>
          <a:noFill/>
          <a:ln/>
        </p:spPr>
        <p:txBody>
          <a:bodyPr wrap="square" lIns="0" tIns="0" rIns="0" bIns="0" rtlCol="0" anchor="t"/>
          <a:lstStyle/>
          <a:p>
            <a:pPr indent="0" marL="0">
              <a:lnSpc>
                <a:spcPct val="130000"/>
              </a:lnSpc>
              <a:buNone/>
            </a:pPr>
            <a:r>
              <a:rPr lang="en-US" sz="1500" dirty="0">
                <a:solidFill>
                  <a:srgbClr val="1F3A6E"/>
                </a:solidFill>
                <a:latin typeface="Arial" pitchFamily="34" charset="0"/>
                <a:ea typeface="Arial" pitchFamily="34" charset="-122"/>
                <a:cs typeface="Arial" pitchFamily="34" charset="-120"/>
              </a:rPr>
              <a:t>Trả lời có trích dẫn, từ chối khi thiếu bằng chứng, tác tử gọi công cụ an toàn và khung đo độ tin cậy, hướng tới trợ lý cho giảng viên trên kma-training-support.</a:t>
            </a:r>
            <a:endParaRPr lang="en-US" sz="1500" dirty="0"/>
          </a:p>
        </p:txBody>
      </p:sp>
      <p:sp>
        <p:nvSpPr>
          <p:cNvPr id="8" name="Text 6"/>
          <p:cNvSpPr txBox="1"/>
          <p:nvPr/>
        </p:nvSpPr>
        <p:spPr>
          <a:xfrm>
            <a:off x="566928" y="5349240"/>
            <a:ext cx="6035040" cy="777240"/>
          </a:xfrm>
          <a:prstGeom prst="rect">
            <a:avLst/>
          </a:prstGeom>
          <a:noFill/>
          <a:ln/>
        </p:spPr>
        <p:txBody>
          <a:bodyPr wrap="square" lIns="0" tIns="0" rIns="0" bIns="0" rtlCol="0" anchor="ctr"/>
          <a:lstStyle/>
          <a:p>
            <a:pPr indent="0" marL="0">
              <a:buNone/>
            </a:pPr>
            <a:r>
              <a:rPr lang="en-US" sz="1100" dirty="0">
                <a:solidFill>
                  <a:srgbClr val="44546A"/>
                </a:solidFill>
                <a:latin typeface="Arial" pitchFamily="34" charset="0"/>
                <a:ea typeface="Arial" pitchFamily="34" charset="-122"/>
                <a:cs typeface="Arial" pitchFamily="34" charset="-120"/>
              </a:rPr>
              <a:t>Cán bộ hướng dẫn: TS. Mai Đức Thọ</a:t>
            </a:r>
            <a:endParaRPr lang="en-US" sz="1100" dirty="0"/>
          </a:p>
          <a:p>
            <a:pPr indent="0" marL="0">
              <a:buNone/>
            </a:pPr>
            <a:r>
              <a:rPr lang="en-US" sz="1100" dirty="0">
                <a:solidFill>
                  <a:srgbClr val="44546A"/>
                </a:solidFill>
                <a:latin typeface="Arial" pitchFamily="34" charset="0"/>
                <a:ea typeface="Arial" pitchFamily="34" charset="-122"/>
                <a:cs typeface="Arial" pitchFamily="34" charset="-120"/>
              </a:rPr>
              <a:t>Sinh viên: Trương Quang Hợp – CT070321  ·  Nguyễn Văn Việt – CT070262</a:t>
            </a:r>
            <a:endParaRPr lang="en-US" sz="1100" dirty="0"/>
          </a:p>
          <a:p>
            <a:pPr indent="0" marL="0">
              <a:buNone/>
            </a:pPr>
            <a:r>
              <a:rPr lang="en-US" sz="1100" dirty="0">
                <a:solidFill>
                  <a:srgbClr val="44546A"/>
                </a:solidFill>
                <a:latin typeface="Arial" pitchFamily="34" charset="0"/>
                <a:ea typeface="Arial" pitchFamily="34" charset="-122"/>
                <a:cs typeface="Arial" pitchFamily="34" charset="-120"/>
              </a:rPr>
              <a:t>Lớp ACT-AI 1  ·  Khoa Công nghệ thông tin  ·  Học viện Kỹ thuật Mật mã</a:t>
            </a:r>
            <a:endParaRPr lang="en-US" sz="1100" dirty="0"/>
          </a:p>
        </p:txBody>
      </p:sp>
      <p:sp>
        <p:nvSpPr>
          <p:cNvPr id="9" name="Shape 7"/>
          <p:cNvSpPr/>
          <p:nvPr/>
        </p:nvSpPr>
        <p:spPr>
          <a:xfrm>
            <a:off x="6446520" y="868680"/>
            <a:ext cx="5349240" cy="3431239"/>
          </a:xfrm>
          <a:prstGeom prst="rect">
            <a:avLst/>
          </a:prstGeom>
          <a:solidFill>
            <a:srgbClr val="132B5E"/>
          </a:solidFill>
          <a:ln/>
        </p:spPr>
      </p:sp>
      <p:sp>
        <p:nvSpPr>
          <p:cNvPr id="10" name="Shape 8"/>
          <p:cNvSpPr/>
          <p:nvPr/>
        </p:nvSpPr>
        <p:spPr>
          <a:xfrm>
            <a:off x="6355080" y="777240"/>
            <a:ext cx="5349240" cy="3431239"/>
          </a:xfrm>
          <a:prstGeom prst="rect">
            <a:avLst/>
          </a:prstGeom>
          <a:solidFill>
            <a:srgbClr val="FFFFFF"/>
          </a:solidFill>
          <a:ln w="12700">
            <a:solidFill>
              <a:srgbClr val="FFFFFF"/>
            </a:solidFill>
            <a:prstDash val="solid"/>
          </a:ln>
        </p:spPr>
      </p:sp>
      <p:pic>
        <p:nvPicPr>
          <p:cNvPr id="11" name="Image 0" descr="/private/tmp/claude-501/-Volumes-Data-Documents-rag-reliability/6db8fc1f-3028-4f02-8952-927e30b47723/scratchpad/report/img/d01-architecture.png">    </p:cNvPr>
          <p:cNvPicPr>
            <a:picLocks noChangeAspect="1"/>
          </p:cNvPicPr>
          <p:nvPr/>
        </p:nvPicPr>
        <p:blipFill>
          <a:blip r:embed="rId1"/>
          <a:stretch>
            <a:fillRect/>
          </a:stretch>
        </p:blipFill>
        <p:spPr>
          <a:xfrm>
            <a:off x="6419088" y="841248"/>
            <a:ext cx="5221224" cy="3303223"/>
          </a:xfrm>
          <a:prstGeom prst="rect">
            <a:avLst/>
          </a:prstGeom>
        </p:spPr>
      </p:pic>
      <p:sp>
        <p:nvSpPr>
          <p:cNvPr id="12" name="Shape 9"/>
          <p:cNvSpPr/>
          <p:nvPr/>
        </p:nvSpPr>
        <p:spPr>
          <a:xfrm>
            <a:off x="7040880" y="3931920"/>
            <a:ext cx="4754880" cy="2244560"/>
          </a:xfrm>
          <a:prstGeom prst="rect">
            <a:avLst/>
          </a:prstGeom>
          <a:solidFill>
            <a:srgbClr val="132B5E"/>
          </a:solidFill>
          <a:ln/>
        </p:spPr>
      </p:sp>
      <p:sp>
        <p:nvSpPr>
          <p:cNvPr id="13" name="Shape 10"/>
          <p:cNvSpPr/>
          <p:nvPr/>
        </p:nvSpPr>
        <p:spPr>
          <a:xfrm>
            <a:off x="6949440" y="3840480"/>
            <a:ext cx="4754880" cy="2244560"/>
          </a:xfrm>
          <a:prstGeom prst="rect">
            <a:avLst/>
          </a:prstGeom>
          <a:solidFill>
            <a:srgbClr val="FFFFFF"/>
          </a:solidFill>
          <a:ln w="12700">
            <a:solidFill>
              <a:srgbClr val="FFFFFF"/>
            </a:solidFill>
            <a:prstDash val="solid"/>
          </a:ln>
        </p:spPr>
      </p:sp>
      <p:pic>
        <p:nvPicPr>
          <p:cNvPr id="14" name="Image 1" descr="/private/tmp/claude-501/-Volumes-Data-Documents-rag-reliability/6db8fc1f-3028-4f02-8952-927e30b47723/scratchpad/report/img/c01-passrate.png">    </p:cNvPr>
          <p:cNvPicPr>
            <a:picLocks noChangeAspect="1"/>
          </p:cNvPicPr>
          <p:nvPr/>
        </p:nvPicPr>
        <p:blipFill>
          <a:blip r:embed="rId2"/>
          <a:stretch>
            <a:fillRect/>
          </a:stretch>
        </p:blipFill>
        <p:spPr>
          <a:xfrm>
            <a:off x="7013448" y="3904488"/>
            <a:ext cx="4626864" cy="211654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FEFEE"/>
        </a:solidFill>
      </p:bgPr>
    </p:bg>
    <p:spTree>
      <p:nvGrpSpPr>
        <p:cNvPr id="1" name=""/>
        <p:cNvGrpSpPr/>
        <p:nvPr/>
      </p:nvGrpSpPr>
      <p:grpSpPr>
        <a:xfrm>
          <a:off x="0" y="0"/>
          <a:ext cx="0" cy="0"/>
          <a:chOff x="0" y="0"/>
          <a:chExt cx="0" cy="0"/>
        </a:xfrm>
      </p:grpSpPr>
      <p:sp>
        <p:nvSpPr>
          <p:cNvPr id="2" name="Text 0"/>
          <p:cNvSpPr txBox="1"/>
          <p:nvPr/>
        </p:nvSpPr>
        <p:spPr>
          <a:xfrm>
            <a:off x="566928" y="6400800"/>
            <a:ext cx="6400800" cy="274320"/>
          </a:xfrm>
          <a:prstGeom prst="rect">
            <a:avLst/>
          </a:prstGeom>
          <a:noFill/>
          <a:ln/>
        </p:spPr>
        <p:txBody>
          <a:bodyPr wrap="square" lIns="0" tIns="0" rIns="0" bIns="0" rtlCol="0" anchor="ctr"/>
          <a:lstStyle/>
          <a:p>
            <a:pPr indent="0" marL="0">
              <a:buNone/>
            </a:pPr>
            <a:r>
              <a:rPr lang="en-US" sz="900" dirty="0">
                <a:solidFill>
                  <a:srgbClr val="8A8F98"/>
                </a:solidFill>
                <a:latin typeface="Arial" pitchFamily="34" charset="0"/>
                <a:ea typeface="Arial" pitchFamily="34" charset="-122"/>
                <a:cs typeface="Arial" pitchFamily="34" charset="-120"/>
              </a:rPr>
              <a:t>HỆ THỐNG HỎI ĐÁP CÓ CĂN CỨ  ·  Báo cáo đồ án</a:t>
            </a:r>
            <a:endParaRPr lang="en-US" sz="900" dirty="0"/>
          </a:p>
        </p:txBody>
      </p:sp>
      <p:sp>
        <p:nvSpPr>
          <p:cNvPr id="3" name="Text 1"/>
          <p:cNvSpPr txBox="1"/>
          <p:nvPr/>
        </p:nvSpPr>
        <p:spPr>
          <a:xfrm>
            <a:off x="10972800" y="6400800"/>
            <a:ext cx="658368" cy="274320"/>
          </a:xfrm>
          <a:prstGeom prst="rect">
            <a:avLst/>
          </a:prstGeom>
          <a:noFill/>
          <a:ln/>
        </p:spPr>
        <p:txBody>
          <a:bodyPr wrap="square" lIns="0" tIns="0" rIns="0" bIns="0" rtlCol="0" anchor="ctr"/>
          <a:lstStyle/>
          <a:p>
            <a:pPr algn="r" indent="0" marL="0">
              <a:buNone/>
            </a:pPr>
            <a:r>
              <a:rPr lang="en-US" sz="900" dirty="0">
                <a:solidFill>
                  <a:srgbClr val="8A8F98"/>
                </a:solidFill>
                <a:latin typeface="Arial" pitchFamily="34" charset="0"/>
                <a:ea typeface="Arial" pitchFamily="34" charset="-122"/>
                <a:cs typeface="Arial" pitchFamily="34" charset="-120"/>
              </a:rPr>
              <a:t>02</a:t>
            </a:r>
            <a:endParaRPr lang="en-US" sz="900" dirty="0"/>
          </a:p>
        </p:txBody>
      </p:sp>
      <p:sp>
        <p:nvSpPr>
          <p:cNvPr id="4" name="Text 2"/>
          <p:cNvSpPr txBox="1"/>
          <p:nvPr/>
        </p:nvSpPr>
        <p:spPr>
          <a:xfrm>
            <a:off x="566928" y="384048"/>
            <a:ext cx="5303520" cy="1234440"/>
          </a:xfrm>
          <a:prstGeom prst="rect">
            <a:avLst/>
          </a:prstGeom>
          <a:noFill/>
          <a:ln/>
        </p:spPr>
        <p:txBody>
          <a:bodyPr wrap="square" lIns="0" tIns="0" rIns="0" bIns="0" rtlCol="0" anchor="t"/>
          <a:lstStyle/>
          <a:p>
            <a:pPr indent="0" marL="0">
              <a:lnSpc>
                <a:spcPct val="108000"/>
              </a:lnSpc>
              <a:buNone/>
            </a:pPr>
            <a:r>
              <a:rPr lang="en-US" sz="3200" b="1" dirty="0">
                <a:solidFill>
                  <a:srgbClr val="132B5E"/>
                </a:solidFill>
                <a:latin typeface="Arial" pitchFamily="34" charset="0"/>
                <a:ea typeface="Arial" pitchFamily="34" charset="-122"/>
                <a:cs typeface="Arial" pitchFamily="34" charset="-120"/>
              </a:rPr>
              <a:t>NỘI DUNG</a:t>
            </a:r>
            <a:endParaRPr lang="en-US" sz="3200" dirty="0"/>
          </a:p>
          <a:p>
            <a:pPr indent="0" marL="0">
              <a:lnSpc>
                <a:spcPct val="108000"/>
              </a:lnSpc>
              <a:buNone/>
            </a:pPr>
            <a:r>
              <a:rPr lang="en-US" sz="3200" b="1" dirty="0">
                <a:solidFill>
                  <a:srgbClr val="132B5E"/>
                </a:solidFill>
                <a:latin typeface="Arial" pitchFamily="34" charset="0"/>
                <a:ea typeface="Arial" pitchFamily="34" charset="-122"/>
                <a:cs typeface="Arial" pitchFamily="34" charset="-120"/>
              </a:rPr>
              <a:t>BÁO CÁO</a:t>
            </a:r>
            <a:endParaRPr lang="en-US" sz="3200" dirty="0"/>
          </a:p>
        </p:txBody>
      </p:sp>
      <p:sp>
        <p:nvSpPr>
          <p:cNvPr id="5" name="Text 3"/>
          <p:cNvSpPr txBox="1"/>
          <p:nvPr/>
        </p:nvSpPr>
        <p:spPr>
          <a:xfrm>
            <a:off x="566928" y="1965960"/>
            <a:ext cx="4754880" cy="1097280"/>
          </a:xfrm>
          <a:prstGeom prst="rect">
            <a:avLst/>
          </a:prstGeom>
          <a:noFill/>
          <a:ln/>
        </p:spPr>
        <p:txBody>
          <a:bodyPr wrap="square" lIns="0" tIns="0" rIns="0" bIns="0" rtlCol="0" anchor="t"/>
          <a:lstStyle/>
          <a:p>
            <a:pPr indent="0" marL="0">
              <a:lnSpc>
                <a:spcPct val="128000"/>
              </a:lnSpc>
              <a:buNone/>
            </a:pPr>
            <a:r>
              <a:rPr lang="en-US" sz="1450" dirty="0">
                <a:solidFill>
                  <a:srgbClr val="1F3A6E"/>
                </a:solidFill>
                <a:latin typeface="Arial" pitchFamily="34" charset="0"/>
                <a:ea typeface="Arial" pitchFamily="34" charset="-122"/>
                <a:cs typeface="Arial" pitchFamily="34" charset="-120"/>
              </a:rPr>
              <a:t>Trình bày theo bốn chương của báo cáo: từ bài toán tại Học viện, thiết kế, xây dựng, tới kết quả đo và hướng phát triển.</a:t>
            </a:r>
            <a:endParaRPr lang="en-US" sz="1450" dirty="0"/>
          </a:p>
        </p:txBody>
      </p:sp>
      <p:sp>
        <p:nvSpPr>
          <p:cNvPr id="6" name="Shape 4"/>
          <p:cNvSpPr/>
          <p:nvPr/>
        </p:nvSpPr>
        <p:spPr>
          <a:xfrm>
            <a:off x="5943600" y="960120"/>
            <a:ext cx="5669280" cy="786384"/>
          </a:xfrm>
          <a:prstGeom prst="parallelogram">
            <a:avLst/>
          </a:prstGeom>
          <a:solidFill>
            <a:srgbClr val="8CC0E4"/>
          </a:solidFill>
          <a:ln w="12700">
            <a:solidFill>
              <a:srgbClr val="8CC0E4"/>
            </a:solidFill>
            <a:prstDash val="solid"/>
          </a:ln>
        </p:spPr>
      </p:sp>
      <p:sp>
        <p:nvSpPr>
          <p:cNvPr id="7" name="Text 5"/>
          <p:cNvSpPr txBox="1"/>
          <p:nvPr/>
        </p:nvSpPr>
        <p:spPr>
          <a:xfrm>
            <a:off x="6254496" y="960120"/>
            <a:ext cx="822960" cy="786384"/>
          </a:xfrm>
          <a:prstGeom prst="rect">
            <a:avLst/>
          </a:prstGeom>
          <a:noFill/>
          <a:ln/>
        </p:spPr>
        <p:txBody>
          <a:bodyPr wrap="square" lIns="0" tIns="0" rIns="0" bIns="0" rtlCol="0" anchor="ctr"/>
          <a:lstStyle/>
          <a:p>
            <a:pPr indent="0" marL="0">
              <a:buNone/>
            </a:pPr>
            <a:r>
              <a:rPr lang="en-US" sz="2000" b="1" dirty="0">
                <a:solidFill>
                  <a:srgbClr val="132B5E"/>
                </a:solidFill>
                <a:latin typeface="Arial" pitchFamily="34" charset="0"/>
                <a:ea typeface="Arial" pitchFamily="34" charset="-122"/>
                <a:cs typeface="Arial" pitchFamily="34" charset="-120"/>
              </a:rPr>
              <a:t>01</a:t>
            </a:r>
            <a:endParaRPr lang="en-US" sz="2000" dirty="0"/>
          </a:p>
        </p:txBody>
      </p:sp>
      <p:sp>
        <p:nvSpPr>
          <p:cNvPr id="8" name="Text 6"/>
          <p:cNvSpPr txBox="1"/>
          <p:nvPr/>
        </p:nvSpPr>
        <p:spPr>
          <a:xfrm>
            <a:off x="7086600" y="960120"/>
            <a:ext cx="4069080" cy="786384"/>
          </a:xfrm>
          <a:prstGeom prst="rect">
            <a:avLst/>
          </a:prstGeom>
          <a:noFill/>
          <a:ln/>
        </p:spPr>
        <p:txBody>
          <a:bodyPr wrap="square" lIns="0" tIns="0" rIns="0" bIns="0" rtlCol="0" anchor="ctr"/>
          <a:lstStyle/>
          <a:p>
            <a:pPr indent="0" marL="0">
              <a:buNone/>
            </a:pPr>
            <a:r>
              <a:rPr lang="en-US" sz="1300" b="1" dirty="0">
                <a:solidFill>
                  <a:srgbClr val="132B5E"/>
                </a:solidFill>
                <a:latin typeface="Arial" pitchFamily="34" charset="0"/>
                <a:ea typeface="Arial" pitchFamily="34" charset="-122"/>
                <a:cs typeface="Arial" pitchFamily="34" charset="-120"/>
              </a:rPr>
              <a:t>TỔNG QUAN VÀ BÀI TOÁN</a:t>
            </a:r>
            <a:endParaRPr lang="en-US" sz="1300" dirty="0"/>
          </a:p>
        </p:txBody>
      </p:sp>
      <p:sp>
        <p:nvSpPr>
          <p:cNvPr id="9" name="Shape 7"/>
          <p:cNvSpPr/>
          <p:nvPr/>
        </p:nvSpPr>
        <p:spPr>
          <a:xfrm>
            <a:off x="5943600" y="1984248"/>
            <a:ext cx="5669280" cy="786384"/>
          </a:xfrm>
          <a:prstGeom prst="parallelogram">
            <a:avLst/>
          </a:prstGeom>
          <a:solidFill>
            <a:srgbClr val="8CC0E4"/>
          </a:solidFill>
          <a:ln w="12700">
            <a:solidFill>
              <a:srgbClr val="8CC0E4"/>
            </a:solidFill>
            <a:prstDash val="solid"/>
          </a:ln>
        </p:spPr>
      </p:sp>
      <p:sp>
        <p:nvSpPr>
          <p:cNvPr id="10" name="Text 8"/>
          <p:cNvSpPr txBox="1"/>
          <p:nvPr/>
        </p:nvSpPr>
        <p:spPr>
          <a:xfrm>
            <a:off x="6254496" y="1984248"/>
            <a:ext cx="822960" cy="786384"/>
          </a:xfrm>
          <a:prstGeom prst="rect">
            <a:avLst/>
          </a:prstGeom>
          <a:noFill/>
          <a:ln/>
        </p:spPr>
        <p:txBody>
          <a:bodyPr wrap="square" lIns="0" tIns="0" rIns="0" bIns="0" rtlCol="0" anchor="ctr"/>
          <a:lstStyle/>
          <a:p>
            <a:pPr indent="0" marL="0">
              <a:buNone/>
            </a:pPr>
            <a:r>
              <a:rPr lang="en-US" sz="2000" b="1" dirty="0">
                <a:solidFill>
                  <a:srgbClr val="132B5E"/>
                </a:solidFill>
                <a:latin typeface="Arial" pitchFamily="34" charset="0"/>
                <a:ea typeface="Arial" pitchFamily="34" charset="-122"/>
                <a:cs typeface="Arial" pitchFamily="34" charset="-120"/>
              </a:rPr>
              <a:t>02</a:t>
            </a:r>
            <a:endParaRPr lang="en-US" sz="2000" dirty="0"/>
          </a:p>
        </p:txBody>
      </p:sp>
      <p:sp>
        <p:nvSpPr>
          <p:cNvPr id="11" name="Text 9"/>
          <p:cNvSpPr txBox="1"/>
          <p:nvPr/>
        </p:nvSpPr>
        <p:spPr>
          <a:xfrm>
            <a:off x="7086600" y="1984248"/>
            <a:ext cx="4069080" cy="786384"/>
          </a:xfrm>
          <a:prstGeom prst="rect">
            <a:avLst/>
          </a:prstGeom>
          <a:noFill/>
          <a:ln/>
        </p:spPr>
        <p:txBody>
          <a:bodyPr wrap="square" lIns="0" tIns="0" rIns="0" bIns="0" rtlCol="0" anchor="ctr"/>
          <a:lstStyle/>
          <a:p>
            <a:pPr indent="0" marL="0">
              <a:buNone/>
            </a:pPr>
            <a:r>
              <a:rPr lang="en-US" sz="1300" b="1" dirty="0">
                <a:solidFill>
                  <a:srgbClr val="132B5E"/>
                </a:solidFill>
                <a:latin typeface="Arial" pitchFamily="34" charset="0"/>
                <a:ea typeface="Arial" pitchFamily="34" charset="-122"/>
                <a:cs typeface="Arial" pitchFamily="34" charset="-120"/>
              </a:rPr>
              <a:t>PHÂN TÍCH VÀ THIẾT KẾ</a:t>
            </a:r>
            <a:endParaRPr lang="en-US" sz="1300" dirty="0"/>
          </a:p>
        </p:txBody>
      </p:sp>
      <p:sp>
        <p:nvSpPr>
          <p:cNvPr id="12" name="Shape 10"/>
          <p:cNvSpPr/>
          <p:nvPr/>
        </p:nvSpPr>
        <p:spPr>
          <a:xfrm>
            <a:off x="5943600" y="3008376"/>
            <a:ext cx="5669280" cy="786384"/>
          </a:xfrm>
          <a:prstGeom prst="parallelogram">
            <a:avLst/>
          </a:prstGeom>
          <a:solidFill>
            <a:srgbClr val="8CC0E4"/>
          </a:solidFill>
          <a:ln w="12700">
            <a:solidFill>
              <a:srgbClr val="8CC0E4"/>
            </a:solidFill>
            <a:prstDash val="solid"/>
          </a:ln>
        </p:spPr>
      </p:sp>
      <p:sp>
        <p:nvSpPr>
          <p:cNvPr id="13" name="Text 11"/>
          <p:cNvSpPr txBox="1"/>
          <p:nvPr/>
        </p:nvSpPr>
        <p:spPr>
          <a:xfrm>
            <a:off x="6254496" y="3008376"/>
            <a:ext cx="822960" cy="786384"/>
          </a:xfrm>
          <a:prstGeom prst="rect">
            <a:avLst/>
          </a:prstGeom>
          <a:noFill/>
          <a:ln/>
        </p:spPr>
        <p:txBody>
          <a:bodyPr wrap="square" lIns="0" tIns="0" rIns="0" bIns="0" rtlCol="0" anchor="ctr"/>
          <a:lstStyle/>
          <a:p>
            <a:pPr indent="0" marL="0">
              <a:buNone/>
            </a:pPr>
            <a:r>
              <a:rPr lang="en-US" sz="2000" b="1" dirty="0">
                <a:solidFill>
                  <a:srgbClr val="132B5E"/>
                </a:solidFill>
                <a:latin typeface="Arial" pitchFamily="34" charset="0"/>
                <a:ea typeface="Arial" pitchFamily="34" charset="-122"/>
                <a:cs typeface="Arial" pitchFamily="34" charset="-120"/>
              </a:rPr>
              <a:t>03</a:t>
            </a:r>
            <a:endParaRPr lang="en-US" sz="2000" dirty="0"/>
          </a:p>
        </p:txBody>
      </p:sp>
      <p:sp>
        <p:nvSpPr>
          <p:cNvPr id="14" name="Text 12"/>
          <p:cNvSpPr txBox="1"/>
          <p:nvPr/>
        </p:nvSpPr>
        <p:spPr>
          <a:xfrm>
            <a:off x="7086600" y="3008376"/>
            <a:ext cx="4069080" cy="786384"/>
          </a:xfrm>
          <a:prstGeom prst="rect">
            <a:avLst/>
          </a:prstGeom>
          <a:noFill/>
          <a:ln/>
        </p:spPr>
        <p:txBody>
          <a:bodyPr wrap="square" lIns="0" tIns="0" rIns="0" bIns="0" rtlCol="0" anchor="ctr"/>
          <a:lstStyle/>
          <a:p>
            <a:pPr indent="0" marL="0">
              <a:buNone/>
            </a:pPr>
            <a:r>
              <a:rPr lang="en-US" sz="1300" b="1" dirty="0">
                <a:solidFill>
                  <a:srgbClr val="132B5E"/>
                </a:solidFill>
                <a:latin typeface="Arial" pitchFamily="34" charset="0"/>
                <a:ea typeface="Arial" pitchFamily="34" charset="-122"/>
                <a:cs typeface="Arial" pitchFamily="34" charset="-120"/>
              </a:rPr>
              <a:t>XÂY DỰNG HỆ THỐNG</a:t>
            </a:r>
            <a:endParaRPr lang="en-US" sz="1300" dirty="0"/>
          </a:p>
        </p:txBody>
      </p:sp>
      <p:sp>
        <p:nvSpPr>
          <p:cNvPr id="15" name="Shape 13"/>
          <p:cNvSpPr/>
          <p:nvPr/>
        </p:nvSpPr>
        <p:spPr>
          <a:xfrm>
            <a:off x="5943600" y="4032504"/>
            <a:ext cx="5669280" cy="786384"/>
          </a:xfrm>
          <a:prstGeom prst="parallelogram">
            <a:avLst/>
          </a:prstGeom>
          <a:solidFill>
            <a:srgbClr val="8CC0E4"/>
          </a:solidFill>
          <a:ln w="12700">
            <a:solidFill>
              <a:srgbClr val="8CC0E4"/>
            </a:solidFill>
            <a:prstDash val="solid"/>
          </a:ln>
        </p:spPr>
      </p:sp>
      <p:sp>
        <p:nvSpPr>
          <p:cNvPr id="16" name="Text 14"/>
          <p:cNvSpPr txBox="1"/>
          <p:nvPr/>
        </p:nvSpPr>
        <p:spPr>
          <a:xfrm>
            <a:off x="6254496" y="4032504"/>
            <a:ext cx="822960" cy="786384"/>
          </a:xfrm>
          <a:prstGeom prst="rect">
            <a:avLst/>
          </a:prstGeom>
          <a:noFill/>
          <a:ln/>
        </p:spPr>
        <p:txBody>
          <a:bodyPr wrap="square" lIns="0" tIns="0" rIns="0" bIns="0" rtlCol="0" anchor="ctr"/>
          <a:lstStyle/>
          <a:p>
            <a:pPr indent="0" marL="0">
              <a:buNone/>
            </a:pPr>
            <a:r>
              <a:rPr lang="en-US" sz="2000" b="1" dirty="0">
                <a:solidFill>
                  <a:srgbClr val="132B5E"/>
                </a:solidFill>
                <a:latin typeface="Arial" pitchFamily="34" charset="0"/>
                <a:ea typeface="Arial" pitchFamily="34" charset="-122"/>
                <a:cs typeface="Arial" pitchFamily="34" charset="-120"/>
              </a:rPr>
              <a:t>04</a:t>
            </a:r>
            <a:endParaRPr lang="en-US" sz="2000" dirty="0"/>
          </a:p>
        </p:txBody>
      </p:sp>
      <p:sp>
        <p:nvSpPr>
          <p:cNvPr id="17" name="Text 15"/>
          <p:cNvSpPr txBox="1"/>
          <p:nvPr/>
        </p:nvSpPr>
        <p:spPr>
          <a:xfrm>
            <a:off x="7086600" y="4032504"/>
            <a:ext cx="4069080" cy="786384"/>
          </a:xfrm>
          <a:prstGeom prst="rect">
            <a:avLst/>
          </a:prstGeom>
          <a:noFill/>
          <a:ln/>
        </p:spPr>
        <p:txBody>
          <a:bodyPr wrap="square" lIns="0" tIns="0" rIns="0" bIns="0" rtlCol="0" anchor="ctr"/>
          <a:lstStyle/>
          <a:p>
            <a:pPr indent="0" marL="0">
              <a:buNone/>
            </a:pPr>
            <a:r>
              <a:rPr lang="en-US" sz="1300" b="1" dirty="0">
                <a:solidFill>
                  <a:srgbClr val="132B5E"/>
                </a:solidFill>
                <a:latin typeface="Arial" pitchFamily="34" charset="0"/>
                <a:ea typeface="Arial" pitchFamily="34" charset="-122"/>
                <a:cs typeface="Arial" pitchFamily="34" charset="-120"/>
              </a:rPr>
              <a:t>THỰC NGHIỆM VÀ ĐÁNH GIÁ</a:t>
            </a:r>
            <a:endParaRPr lang="en-US" sz="1300" dirty="0"/>
          </a:p>
        </p:txBody>
      </p:sp>
      <p:sp>
        <p:nvSpPr>
          <p:cNvPr id="18" name="Shape 16"/>
          <p:cNvSpPr/>
          <p:nvPr/>
        </p:nvSpPr>
        <p:spPr>
          <a:xfrm>
            <a:off x="5943600" y="5056632"/>
            <a:ext cx="5669280" cy="786384"/>
          </a:xfrm>
          <a:prstGeom prst="parallelogram">
            <a:avLst/>
          </a:prstGeom>
          <a:solidFill>
            <a:srgbClr val="8CC0E4"/>
          </a:solidFill>
          <a:ln w="12700">
            <a:solidFill>
              <a:srgbClr val="8CC0E4"/>
            </a:solidFill>
            <a:prstDash val="solid"/>
          </a:ln>
        </p:spPr>
      </p:sp>
      <p:sp>
        <p:nvSpPr>
          <p:cNvPr id="19" name="Text 17"/>
          <p:cNvSpPr txBox="1"/>
          <p:nvPr/>
        </p:nvSpPr>
        <p:spPr>
          <a:xfrm>
            <a:off x="6254496" y="5056632"/>
            <a:ext cx="822960" cy="786384"/>
          </a:xfrm>
          <a:prstGeom prst="rect">
            <a:avLst/>
          </a:prstGeom>
          <a:noFill/>
          <a:ln/>
        </p:spPr>
        <p:txBody>
          <a:bodyPr wrap="square" lIns="0" tIns="0" rIns="0" bIns="0" rtlCol="0" anchor="ctr"/>
          <a:lstStyle/>
          <a:p>
            <a:pPr indent="0" marL="0">
              <a:buNone/>
            </a:pPr>
            <a:r>
              <a:rPr lang="en-US" sz="2000" b="1" dirty="0">
                <a:solidFill>
                  <a:srgbClr val="132B5E"/>
                </a:solidFill>
                <a:latin typeface="Arial" pitchFamily="34" charset="0"/>
                <a:ea typeface="Arial" pitchFamily="34" charset="-122"/>
                <a:cs typeface="Arial" pitchFamily="34" charset="-120"/>
              </a:rPr>
              <a:t>05</a:t>
            </a:r>
            <a:endParaRPr lang="en-US" sz="2000" dirty="0"/>
          </a:p>
        </p:txBody>
      </p:sp>
      <p:sp>
        <p:nvSpPr>
          <p:cNvPr id="20" name="Text 18"/>
          <p:cNvSpPr txBox="1"/>
          <p:nvPr/>
        </p:nvSpPr>
        <p:spPr>
          <a:xfrm>
            <a:off x="7086600" y="5056632"/>
            <a:ext cx="4069080" cy="786384"/>
          </a:xfrm>
          <a:prstGeom prst="rect">
            <a:avLst/>
          </a:prstGeom>
          <a:noFill/>
          <a:ln/>
        </p:spPr>
        <p:txBody>
          <a:bodyPr wrap="square" lIns="0" tIns="0" rIns="0" bIns="0" rtlCol="0" anchor="ctr"/>
          <a:lstStyle/>
          <a:p>
            <a:pPr indent="0" marL="0">
              <a:buNone/>
            </a:pPr>
            <a:r>
              <a:rPr lang="en-US" sz="1300" b="1" dirty="0">
                <a:solidFill>
                  <a:srgbClr val="132B5E"/>
                </a:solidFill>
                <a:latin typeface="Arial" pitchFamily="34" charset="0"/>
                <a:ea typeface="Arial" pitchFamily="34" charset="-122"/>
                <a:cs typeface="Arial" pitchFamily="34" charset="-120"/>
              </a:rPr>
              <a:t>KẾT LUẬN VÀ HƯỚNG PHÁT TRIỂN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FEFEE"/>
        </a:solidFill>
      </p:bgPr>
    </p:bg>
    <p:spTree>
      <p:nvGrpSpPr>
        <p:cNvPr id="1" name=""/>
        <p:cNvGrpSpPr/>
        <p:nvPr/>
      </p:nvGrpSpPr>
      <p:grpSpPr>
        <a:xfrm>
          <a:off x="0" y="0"/>
          <a:ext cx="0" cy="0"/>
          <a:chOff x="0" y="0"/>
          <a:chExt cx="0" cy="0"/>
        </a:xfrm>
      </p:grpSpPr>
      <p:sp>
        <p:nvSpPr>
          <p:cNvPr id="2" name="Text 0"/>
          <p:cNvSpPr txBox="1"/>
          <p:nvPr/>
        </p:nvSpPr>
        <p:spPr>
          <a:xfrm>
            <a:off x="566928" y="6400800"/>
            <a:ext cx="6400800" cy="274320"/>
          </a:xfrm>
          <a:prstGeom prst="rect">
            <a:avLst/>
          </a:prstGeom>
          <a:noFill/>
          <a:ln/>
        </p:spPr>
        <p:txBody>
          <a:bodyPr wrap="square" lIns="0" tIns="0" rIns="0" bIns="0" rtlCol="0" anchor="ctr"/>
          <a:lstStyle/>
          <a:p>
            <a:pPr indent="0" marL="0">
              <a:buNone/>
            </a:pPr>
            <a:r>
              <a:rPr lang="en-US" sz="900" dirty="0">
                <a:solidFill>
                  <a:srgbClr val="8A8F98"/>
                </a:solidFill>
                <a:latin typeface="Arial" pitchFamily="34" charset="0"/>
                <a:ea typeface="Arial" pitchFamily="34" charset="-122"/>
                <a:cs typeface="Arial" pitchFamily="34" charset="-120"/>
              </a:rPr>
              <a:t>HỆ THỐNG HỎI ĐÁP CÓ CĂN CỨ  ·  Báo cáo đồ án</a:t>
            </a:r>
            <a:endParaRPr lang="en-US" sz="900" dirty="0"/>
          </a:p>
        </p:txBody>
      </p:sp>
      <p:sp>
        <p:nvSpPr>
          <p:cNvPr id="3" name="Text 1"/>
          <p:cNvSpPr txBox="1"/>
          <p:nvPr/>
        </p:nvSpPr>
        <p:spPr>
          <a:xfrm>
            <a:off x="10972800" y="6400800"/>
            <a:ext cx="658368" cy="274320"/>
          </a:xfrm>
          <a:prstGeom prst="rect">
            <a:avLst/>
          </a:prstGeom>
          <a:noFill/>
          <a:ln/>
        </p:spPr>
        <p:txBody>
          <a:bodyPr wrap="square" lIns="0" tIns="0" rIns="0" bIns="0" rtlCol="0" anchor="ctr"/>
          <a:lstStyle/>
          <a:p>
            <a:pPr algn="r" indent="0" marL="0">
              <a:buNone/>
            </a:pPr>
            <a:r>
              <a:rPr lang="en-US" sz="900" dirty="0">
                <a:solidFill>
                  <a:srgbClr val="8A8F98"/>
                </a:solidFill>
                <a:latin typeface="Arial" pitchFamily="34" charset="0"/>
                <a:ea typeface="Arial" pitchFamily="34" charset="-122"/>
                <a:cs typeface="Arial" pitchFamily="34" charset="-120"/>
              </a:rPr>
              <a:t>03</a:t>
            </a:r>
            <a:endParaRPr lang="en-US" sz="900" dirty="0"/>
          </a:p>
        </p:txBody>
      </p:sp>
      <p:sp>
        <p:nvSpPr>
          <p:cNvPr id="4" name="Text 2"/>
          <p:cNvSpPr txBox="1"/>
          <p:nvPr/>
        </p:nvSpPr>
        <p:spPr>
          <a:xfrm>
            <a:off x="566928" y="384048"/>
            <a:ext cx="10881360" cy="777240"/>
          </a:xfrm>
          <a:prstGeom prst="rect">
            <a:avLst/>
          </a:prstGeom>
          <a:noFill/>
          <a:ln/>
        </p:spPr>
        <p:txBody>
          <a:bodyPr wrap="square" lIns="0" tIns="0" rIns="0" bIns="0" rtlCol="0" anchor="t"/>
          <a:lstStyle/>
          <a:p>
            <a:pPr indent="0" marL="0">
              <a:lnSpc>
                <a:spcPct val="108000"/>
              </a:lnSpc>
              <a:buNone/>
            </a:pPr>
            <a:r>
              <a:rPr lang="en-US" sz="3200" b="1" dirty="0">
                <a:solidFill>
                  <a:srgbClr val="132B5E"/>
                </a:solidFill>
                <a:latin typeface="Arial" pitchFamily="34" charset="0"/>
                <a:ea typeface="Arial" pitchFamily="34" charset="-122"/>
                <a:cs typeface="Arial" pitchFamily="34" charset="-120"/>
              </a:rPr>
              <a:t>BỐI CẢNH VÀ BÀI TOÁN</a:t>
            </a:r>
            <a:endParaRPr lang="en-US" sz="3200" dirty="0"/>
          </a:p>
        </p:txBody>
      </p:sp>
      <p:sp>
        <p:nvSpPr>
          <p:cNvPr id="5" name="Text 3"/>
          <p:cNvSpPr txBox="1"/>
          <p:nvPr/>
        </p:nvSpPr>
        <p:spPr>
          <a:xfrm>
            <a:off x="566928" y="1371600"/>
            <a:ext cx="10881360" cy="822960"/>
          </a:xfrm>
          <a:prstGeom prst="rect">
            <a:avLst/>
          </a:prstGeom>
          <a:noFill/>
          <a:ln/>
        </p:spPr>
        <p:txBody>
          <a:bodyPr wrap="square" lIns="0" tIns="0" rIns="0" bIns="0" rtlCol="0" anchor="t"/>
          <a:lstStyle/>
          <a:p>
            <a:pPr indent="0" marL="0">
              <a:lnSpc>
                <a:spcPct val="128000"/>
              </a:lnSpc>
              <a:buNone/>
            </a:pPr>
            <a:r>
              <a:rPr lang="en-US" sz="1450" dirty="0">
                <a:solidFill>
                  <a:srgbClr val="1F3A6E"/>
                </a:solidFill>
                <a:latin typeface="Arial" pitchFamily="34" charset="0"/>
                <a:ea typeface="Arial" pitchFamily="34" charset="-122"/>
                <a:cs typeface="Arial" pitchFamily="34" charset="-120"/>
              </a:rPr>
              <a:t>Giảng viên đang tự tra văn bản quy chuẩn và dữ liệu rải rác trên kma-training-support. Trợ lý chỉ dùng được khi đúng và có căn cứ, đúng quyền, dữ liệu ở lại Học viện, và độ tin cậy đo được.</a:t>
            </a:r>
            <a:endParaRPr lang="en-US" sz="1450" dirty="0"/>
          </a:p>
        </p:txBody>
      </p:sp>
      <p:sp>
        <p:nvSpPr>
          <p:cNvPr id="6" name="Shape 4"/>
          <p:cNvSpPr/>
          <p:nvPr/>
        </p:nvSpPr>
        <p:spPr>
          <a:xfrm>
            <a:off x="2140382" y="2468880"/>
            <a:ext cx="8100212" cy="3520440"/>
          </a:xfrm>
          <a:prstGeom prst="rect">
            <a:avLst/>
          </a:prstGeom>
          <a:solidFill>
            <a:srgbClr val="132B5E"/>
          </a:solidFill>
          <a:ln/>
        </p:spPr>
      </p:sp>
      <p:sp>
        <p:nvSpPr>
          <p:cNvPr id="7" name="Shape 5"/>
          <p:cNvSpPr/>
          <p:nvPr/>
        </p:nvSpPr>
        <p:spPr>
          <a:xfrm>
            <a:off x="2048942" y="2377440"/>
            <a:ext cx="8100212" cy="3520440"/>
          </a:xfrm>
          <a:prstGeom prst="rect">
            <a:avLst/>
          </a:prstGeom>
          <a:solidFill>
            <a:srgbClr val="FFFFFF"/>
          </a:solidFill>
          <a:ln w="12700">
            <a:solidFill>
              <a:srgbClr val="FFFFFF"/>
            </a:solidFill>
            <a:prstDash val="solid"/>
          </a:ln>
        </p:spPr>
      </p:sp>
      <p:pic>
        <p:nvPicPr>
          <p:cNvPr id="8" name="Image 0" descr="/private/tmp/claude-501/-Volumes-Data-Documents-rag-reliability/6db8fc1f-3028-4f02-8952-927e30b47723/scratchpad/report/img/d16-problem.png">    </p:cNvPr>
          <p:cNvPicPr>
            <a:picLocks noChangeAspect="1"/>
          </p:cNvPicPr>
          <p:nvPr/>
        </p:nvPicPr>
        <p:blipFill>
          <a:blip r:embed="rId1"/>
          <a:stretch>
            <a:fillRect/>
          </a:stretch>
        </p:blipFill>
        <p:spPr>
          <a:xfrm>
            <a:off x="2112950" y="2441448"/>
            <a:ext cx="7972196" cy="339242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FEFEE"/>
        </a:solidFill>
      </p:bgPr>
    </p:bg>
    <p:spTree>
      <p:nvGrpSpPr>
        <p:cNvPr id="1" name=""/>
        <p:cNvGrpSpPr/>
        <p:nvPr/>
      </p:nvGrpSpPr>
      <p:grpSpPr>
        <a:xfrm>
          <a:off x="0" y="0"/>
          <a:ext cx="0" cy="0"/>
          <a:chOff x="0" y="0"/>
          <a:chExt cx="0" cy="0"/>
        </a:xfrm>
      </p:grpSpPr>
      <p:sp>
        <p:nvSpPr>
          <p:cNvPr id="2" name="Text 0"/>
          <p:cNvSpPr txBox="1"/>
          <p:nvPr/>
        </p:nvSpPr>
        <p:spPr>
          <a:xfrm>
            <a:off x="566928" y="6400800"/>
            <a:ext cx="6400800" cy="274320"/>
          </a:xfrm>
          <a:prstGeom prst="rect">
            <a:avLst/>
          </a:prstGeom>
          <a:noFill/>
          <a:ln/>
        </p:spPr>
        <p:txBody>
          <a:bodyPr wrap="square" lIns="0" tIns="0" rIns="0" bIns="0" rtlCol="0" anchor="ctr"/>
          <a:lstStyle/>
          <a:p>
            <a:pPr indent="0" marL="0">
              <a:buNone/>
            </a:pPr>
            <a:r>
              <a:rPr lang="en-US" sz="900" dirty="0">
                <a:solidFill>
                  <a:srgbClr val="8A8F98"/>
                </a:solidFill>
                <a:latin typeface="Arial" pitchFamily="34" charset="0"/>
                <a:ea typeface="Arial" pitchFamily="34" charset="-122"/>
                <a:cs typeface="Arial" pitchFamily="34" charset="-120"/>
              </a:rPr>
              <a:t>HỆ THỐNG HỎI ĐÁP CÓ CĂN CỨ  ·  Báo cáo đồ án</a:t>
            </a:r>
            <a:endParaRPr lang="en-US" sz="900" dirty="0"/>
          </a:p>
        </p:txBody>
      </p:sp>
      <p:sp>
        <p:nvSpPr>
          <p:cNvPr id="3" name="Text 1"/>
          <p:cNvSpPr txBox="1"/>
          <p:nvPr/>
        </p:nvSpPr>
        <p:spPr>
          <a:xfrm>
            <a:off x="10972800" y="6400800"/>
            <a:ext cx="658368" cy="274320"/>
          </a:xfrm>
          <a:prstGeom prst="rect">
            <a:avLst/>
          </a:prstGeom>
          <a:noFill/>
          <a:ln/>
        </p:spPr>
        <p:txBody>
          <a:bodyPr wrap="square" lIns="0" tIns="0" rIns="0" bIns="0" rtlCol="0" anchor="ctr"/>
          <a:lstStyle/>
          <a:p>
            <a:pPr algn="r" indent="0" marL="0">
              <a:buNone/>
            </a:pPr>
            <a:r>
              <a:rPr lang="en-US" sz="900" dirty="0">
                <a:solidFill>
                  <a:srgbClr val="8A8F98"/>
                </a:solidFill>
                <a:latin typeface="Arial" pitchFamily="34" charset="0"/>
                <a:ea typeface="Arial" pitchFamily="34" charset="-122"/>
                <a:cs typeface="Arial" pitchFamily="34" charset="-120"/>
              </a:rPr>
              <a:t>05</a:t>
            </a:r>
            <a:endParaRPr lang="en-US" sz="900" dirty="0"/>
          </a:p>
        </p:txBody>
      </p:sp>
      <p:sp>
        <p:nvSpPr>
          <p:cNvPr id="4" name="Text 2"/>
          <p:cNvSpPr txBox="1"/>
          <p:nvPr/>
        </p:nvSpPr>
        <p:spPr>
          <a:xfrm>
            <a:off x="566928" y="384048"/>
            <a:ext cx="5303520" cy="1234440"/>
          </a:xfrm>
          <a:prstGeom prst="rect">
            <a:avLst/>
          </a:prstGeom>
          <a:noFill/>
          <a:ln/>
        </p:spPr>
        <p:txBody>
          <a:bodyPr wrap="square" lIns="0" tIns="0" rIns="0" bIns="0" rtlCol="0" anchor="t"/>
          <a:lstStyle/>
          <a:p>
            <a:pPr indent="0" marL="0">
              <a:lnSpc>
                <a:spcPct val="108000"/>
              </a:lnSpc>
              <a:buNone/>
            </a:pPr>
            <a:r>
              <a:rPr lang="en-US" sz="3200" b="1" dirty="0">
                <a:solidFill>
                  <a:srgbClr val="132B5E"/>
                </a:solidFill>
                <a:latin typeface="Arial" pitchFamily="34" charset="0"/>
                <a:ea typeface="Arial" pitchFamily="34" charset="-122"/>
                <a:cs typeface="Arial" pitchFamily="34" charset="-120"/>
              </a:rPr>
              <a:t>MỤC TIÊU</a:t>
            </a:r>
            <a:endParaRPr lang="en-US" sz="3200" dirty="0"/>
          </a:p>
          <a:p>
            <a:pPr indent="0" marL="0">
              <a:lnSpc>
                <a:spcPct val="108000"/>
              </a:lnSpc>
              <a:buNone/>
            </a:pPr>
            <a:r>
              <a:rPr lang="en-US" sz="3200" b="1" dirty="0">
                <a:solidFill>
                  <a:srgbClr val="132B5E"/>
                </a:solidFill>
                <a:latin typeface="Arial" pitchFamily="34" charset="0"/>
                <a:ea typeface="Arial" pitchFamily="34" charset="-122"/>
                <a:cs typeface="Arial" pitchFamily="34" charset="-120"/>
              </a:rPr>
              <a:t>ĐỒ ÁN</a:t>
            </a:r>
            <a:endParaRPr lang="en-US" sz="3200" dirty="0"/>
          </a:p>
        </p:txBody>
      </p:sp>
      <p:sp>
        <p:nvSpPr>
          <p:cNvPr id="5" name="Text 3"/>
          <p:cNvSpPr txBox="1"/>
          <p:nvPr/>
        </p:nvSpPr>
        <p:spPr>
          <a:xfrm>
            <a:off x="566928" y="1965960"/>
            <a:ext cx="4754880" cy="1097280"/>
          </a:xfrm>
          <a:prstGeom prst="rect">
            <a:avLst/>
          </a:prstGeom>
          <a:noFill/>
          <a:ln/>
        </p:spPr>
        <p:txBody>
          <a:bodyPr wrap="square" lIns="0" tIns="0" rIns="0" bIns="0" rtlCol="0" anchor="t"/>
          <a:lstStyle/>
          <a:p>
            <a:pPr indent="0" marL="0">
              <a:lnSpc>
                <a:spcPct val="128000"/>
              </a:lnSpc>
              <a:buNone/>
            </a:pPr>
            <a:r>
              <a:rPr lang="en-US" sz="1450" dirty="0">
                <a:solidFill>
                  <a:srgbClr val="1F3A6E"/>
                </a:solidFill>
                <a:latin typeface="Arial" pitchFamily="34" charset="0"/>
                <a:ea typeface="Arial" pitchFamily="34" charset="-122"/>
                <a:cs typeface="Arial" pitchFamily="34" charset="-120"/>
              </a:rPr>
              <a:t>Bốn mục tiêu cài đặt và đo đạc đã hoàn thành; mục tiêu tích hợp với kma-training-support dừng ở mức thiết kế.</a:t>
            </a:r>
            <a:endParaRPr lang="en-US" sz="1450" dirty="0"/>
          </a:p>
        </p:txBody>
      </p:sp>
      <p:sp>
        <p:nvSpPr>
          <p:cNvPr id="6" name="Shape 4"/>
          <p:cNvSpPr/>
          <p:nvPr/>
        </p:nvSpPr>
        <p:spPr>
          <a:xfrm>
            <a:off x="5943600" y="1005840"/>
            <a:ext cx="5669280" cy="1005840"/>
          </a:xfrm>
          <a:prstGeom prst="parallelogram">
            <a:avLst/>
          </a:prstGeom>
          <a:solidFill>
            <a:srgbClr val="8CC0E4"/>
          </a:solidFill>
          <a:ln w="12700">
            <a:solidFill>
              <a:srgbClr val="8CC0E4"/>
            </a:solidFill>
            <a:prstDash val="solid"/>
          </a:ln>
        </p:spPr>
      </p:sp>
      <p:sp>
        <p:nvSpPr>
          <p:cNvPr id="7" name="Text 5"/>
          <p:cNvSpPr txBox="1"/>
          <p:nvPr/>
        </p:nvSpPr>
        <p:spPr>
          <a:xfrm>
            <a:off x="6400800" y="1005840"/>
            <a:ext cx="4754880" cy="1005840"/>
          </a:xfrm>
          <a:prstGeom prst="rect">
            <a:avLst/>
          </a:prstGeom>
          <a:noFill/>
          <a:ln/>
        </p:spPr>
        <p:txBody>
          <a:bodyPr wrap="square" lIns="0" tIns="0" rIns="0" bIns="0" rtlCol="0" anchor="ctr"/>
          <a:lstStyle/>
          <a:p>
            <a:pPr indent="0" marL="0">
              <a:lnSpc>
                <a:spcPct val="120000"/>
              </a:lnSpc>
              <a:buNone/>
            </a:pPr>
            <a:r>
              <a:rPr lang="en-US" sz="1350" b="1" dirty="0">
                <a:solidFill>
                  <a:srgbClr val="132B5E"/>
                </a:solidFill>
                <a:latin typeface="Arial" pitchFamily="34" charset="0"/>
                <a:ea typeface="Arial" pitchFamily="34" charset="-122"/>
                <a:cs typeface="Arial" pitchFamily="34" charset="-120"/>
              </a:rPr>
              <a:t>TRẢ LỜI CÓ BẰNG CHỨNG</a:t>
            </a:r>
            <a:endParaRPr lang="en-US" sz="1350" dirty="0"/>
          </a:p>
          <a:p>
            <a:pPr indent="0" marL="0">
              <a:lnSpc>
                <a:spcPct val="120000"/>
              </a:lnSpc>
              <a:buNone/>
            </a:pPr>
            <a:r>
              <a:rPr lang="en-US" sz="1350" dirty="0">
                <a:solidFill>
                  <a:srgbClr val="132B5E"/>
                </a:solidFill>
                <a:latin typeface="Arial" pitchFamily="34" charset="0"/>
                <a:ea typeface="Arial" pitchFamily="34" charset="-122"/>
                <a:cs typeface="Arial" pitchFamily="34" charset="-120"/>
              </a:rPr>
              <a:t>trích dẫn tới đoạn gốc, thiếu bằng chứng thì từ chối</a:t>
            </a:r>
            <a:endParaRPr lang="en-US" sz="1350" dirty="0"/>
          </a:p>
        </p:txBody>
      </p:sp>
      <p:sp>
        <p:nvSpPr>
          <p:cNvPr id="8" name="Shape 6"/>
          <p:cNvSpPr/>
          <p:nvPr/>
        </p:nvSpPr>
        <p:spPr>
          <a:xfrm>
            <a:off x="5943600" y="2267712"/>
            <a:ext cx="5669280" cy="1005840"/>
          </a:xfrm>
          <a:prstGeom prst="parallelogram">
            <a:avLst/>
          </a:prstGeom>
          <a:solidFill>
            <a:srgbClr val="8CC0E4"/>
          </a:solidFill>
          <a:ln w="12700">
            <a:solidFill>
              <a:srgbClr val="8CC0E4"/>
            </a:solidFill>
            <a:prstDash val="solid"/>
          </a:ln>
        </p:spPr>
      </p:sp>
      <p:sp>
        <p:nvSpPr>
          <p:cNvPr id="9" name="Text 7"/>
          <p:cNvSpPr txBox="1"/>
          <p:nvPr/>
        </p:nvSpPr>
        <p:spPr>
          <a:xfrm>
            <a:off x="6400800" y="2267712"/>
            <a:ext cx="4754880" cy="1005840"/>
          </a:xfrm>
          <a:prstGeom prst="rect">
            <a:avLst/>
          </a:prstGeom>
          <a:noFill/>
          <a:ln/>
        </p:spPr>
        <p:txBody>
          <a:bodyPr wrap="square" lIns="0" tIns="0" rIns="0" bIns="0" rtlCol="0" anchor="ctr"/>
          <a:lstStyle/>
          <a:p>
            <a:pPr indent="0" marL="0">
              <a:lnSpc>
                <a:spcPct val="120000"/>
              </a:lnSpc>
              <a:buNone/>
            </a:pPr>
            <a:r>
              <a:rPr lang="en-US" sz="1350" b="1" dirty="0">
                <a:solidFill>
                  <a:srgbClr val="132B5E"/>
                </a:solidFill>
                <a:latin typeface="Arial" pitchFamily="34" charset="0"/>
                <a:ea typeface="Arial" pitchFamily="34" charset="-122"/>
                <a:cs typeface="Arial" pitchFamily="34" charset="-120"/>
              </a:rPr>
              <a:t>KIỂM CHỨNG CẤP KHẲNG ĐỊNH</a:t>
            </a:r>
            <a:endParaRPr lang="en-US" sz="1350" dirty="0"/>
          </a:p>
          <a:p>
            <a:pPr indent="0" marL="0">
              <a:lnSpc>
                <a:spcPct val="120000"/>
              </a:lnSpc>
              <a:buNone/>
            </a:pPr>
            <a:r>
              <a:rPr lang="en-US" sz="1350" dirty="0">
                <a:solidFill>
                  <a:srgbClr val="132B5E"/>
                </a:solidFill>
                <a:latin typeface="Arial" pitchFamily="34" charset="0"/>
                <a:ea typeface="Arial" pitchFamily="34" charset="-122"/>
                <a:cs typeface="Arial" pitchFamily="34" charset="-120"/>
              </a:rPr>
              <a:t>tách claim, đối chiếu, phát hiện mâu thuẫn, chấm điểm</a:t>
            </a:r>
            <a:endParaRPr lang="en-US" sz="1350" dirty="0"/>
          </a:p>
        </p:txBody>
      </p:sp>
      <p:sp>
        <p:nvSpPr>
          <p:cNvPr id="10" name="Shape 8"/>
          <p:cNvSpPr/>
          <p:nvPr/>
        </p:nvSpPr>
        <p:spPr>
          <a:xfrm>
            <a:off x="5943600" y="3529584"/>
            <a:ext cx="5669280" cy="1005840"/>
          </a:xfrm>
          <a:prstGeom prst="parallelogram">
            <a:avLst/>
          </a:prstGeom>
          <a:solidFill>
            <a:srgbClr val="8CC0E4"/>
          </a:solidFill>
          <a:ln w="12700">
            <a:solidFill>
              <a:srgbClr val="8CC0E4"/>
            </a:solidFill>
            <a:prstDash val="solid"/>
          </a:ln>
        </p:spPr>
      </p:sp>
      <p:sp>
        <p:nvSpPr>
          <p:cNvPr id="11" name="Text 9"/>
          <p:cNvSpPr txBox="1"/>
          <p:nvPr/>
        </p:nvSpPr>
        <p:spPr>
          <a:xfrm>
            <a:off x="6400800" y="3529584"/>
            <a:ext cx="4754880" cy="1005840"/>
          </a:xfrm>
          <a:prstGeom prst="rect">
            <a:avLst/>
          </a:prstGeom>
          <a:noFill/>
          <a:ln/>
        </p:spPr>
        <p:txBody>
          <a:bodyPr wrap="square" lIns="0" tIns="0" rIns="0" bIns="0" rtlCol="0" anchor="ctr"/>
          <a:lstStyle/>
          <a:p>
            <a:pPr indent="0" marL="0">
              <a:lnSpc>
                <a:spcPct val="120000"/>
              </a:lnSpc>
              <a:buNone/>
            </a:pPr>
            <a:r>
              <a:rPr lang="en-US" sz="1350" b="1" dirty="0">
                <a:solidFill>
                  <a:srgbClr val="132B5E"/>
                </a:solidFill>
                <a:latin typeface="Arial" pitchFamily="34" charset="0"/>
                <a:ea typeface="Arial" pitchFamily="34" charset="-122"/>
                <a:cs typeface="Arial" pitchFamily="34" charset="-120"/>
              </a:rPr>
              <a:t>NỀN TẢNG TÁC TỬ VÀ MCP</a:t>
            </a:r>
            <a:endParaRPr lang="en-US" sz="1350" dirty="0"/>
          </a:p>
          <a:p>
            <a:pPr indent="0" marL="0">
              <a:lnSpc>
                <a:spcPct val="120000"/>
              </a:lnSpc>
              <a:buNone/>
            </a:pPr>
            <a:r>
              <a:rPr lang="en-US" sz="1350" dirty="0">
                <a:solidFill>
                  <a:srgbClr val="132B5E"/>
                </a:solidFill>
                <a:latin typeface="Arial" pitchFamily="34" charset="0"/>
                <a:ea typeface="Arial" pitchFamily="34" charset="-122"/>
                <a:cs typeface="Arial" pitchFamily="34" charset="-120"/>
              </a:rPr>
              <a:t>công cụ nạp qua MCP, lõi không đổi, chặn rủi ro</a:t>
            </a:r>
            <a:endParaRPr lang="en-US" sz="1350" dirty="0"/>
          </a:p>
        </p:txBody>
      </p:sp>
      <p:sp>
        <p:nvSpPr>
          <p:cNvPr id="12" name="Shape 10"/>
          <p:cNvSpPr/>
          <p:nvPr/>
        </p:nvSpPr>
        <p:spPr>
          <a:xfrm>
            <a:off x="5943600" y="4791456"/>
            <a:ext cx="5669280" cy="1005840"/>
          </a:xfrm>
          <a:prstGeom prst="parallelogram">
            <a:avLst/>
          </a:prstGeom>
          <a:solidFill>
            <a:srgbClr val="8CC0E4"/>
          </a:solidFill>
          <a:ln w="12700">
            <a:solidFill>
              <a:srgbClr val="8CC0E4"/>
            </a:solidFill>
            <a:prstDash val="solid"/>
          </a:ln>
        </p:spPr>
      </p:sp>
      <p:sp>
        <p:nvSpPr>
          <p:cNvPr id="13" name="Text 11"/>
          <p:cNvSpPr txBox="1"/>
          <p:nvPr/>
        </p:nvSpPr>
        <p:spPr>
          <a:xfrm>
            <a:off x="6400800" y="4791456"/>
            <a:ext cx="4754880" cy="1005840"/>
          </a:xfrm>
          <a:prstGeom prst="rect">
            <a:avLst/>
          </a:prstGeom>
          <a:noFill/>
          <a:ln/>
        </p:spPr>
        <p:txBody>
          <a:bodyPr wrap="square" lIns="0" tIns="0" rIns="0" bIns="0" rtlCol="0" anchor="ctr"/>
          <a:lstStyle/>
          <a:p>
            <a:pPr indent="0" marL="0">
              <a:lnSpc>
                <a:spcPct val="120000"/>
              </a:lnSpc>
              <a:buNone/>
            </a:pPr>
            <a:r>
              <a:rPr lang="en-US" sz="1350" b="1" dirty="0">
                <a:solidFill>
                  <a:srgbClr val="132B5E"/>
                </a:solidFill>
                <a:latin typeface="Arial" pitchFamily="34" charset="0"/>
                <a:ea typeface="Arial" pitchFamily="34" charset="-122"/>
                <a:cs typeface="Arial" pitchFamily="34" charset="-120"/>
              </a:rPr>
              <a:t>ĐO ĐƯỢC VÀ THIẾT KẾ TÍCH HỢP</a:t>
            </a:r>
            <a:endParaRPr lang="en-US" sz="1350" dirty="0"/>
          </a:p>
          <a:p>
            <a:pPr indent="0" marL="0">
              <a:lnSpc>
                <a:spcPct val="120000"/>
              </a:lnSpc>
              <a:buNone/>
            </a:pPr>
            <a:r>
              <a:rPr lang="en-US" sz="1350" dirty="0">
                <a:solidFill>
                  <a:srgbClr val="132B5E"/>
                </a:solidFill>
                <a:latin typeface="Arial" pitchFamily="34" charset="0"/>
                <a:ea typeface="Arial" pitchFamily="34" charset="-122"/>
                <a:cs typeface="Arial" pitchFamily="34" charset="-120"/>
              </a:rPr>
              <a:t>cổng chặn hồi quy; phương án nối với kma-training-support</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FEFEE"/>
        </a:solidFill>
      </p:bgPr>
    </p:bg>
    <p:spTree>
      <p:nvGrpSpPr>
        <p:cNvPr id="1" name=""/>
        <p:cNvGrpSpPr/>
        <p:nvPr/>
      </p:nvGrpSpPr>
      <p:grpSpPr>
        <a:xfrm>
          <a:off x="0" y="0"/>
          <a:ext cx="0" cy="0"/>
          <a:chOff x="0" y="0"/>
          <a:chExt cx="0" cy="0"/>
        </a:xfrm>
      </p:grpSpPr>
      <p:sp>
        <p:nvSpPr>
          <p:cNvPr id="2" name="Text 0"/>
          <p:cNvSpPr txBox="1"/>
          <p:nvPr/>
        </p:nvSpPr>
        <p:spPr>
          <a:xfrm>
            <a:off x="566928" y="6400800"/>
            <a:ext cx="6400800" cy="274320"/>
          </a:xfrm>
          <a:prstGeom prst="rect">
            <a:avLst/>
          </a:prstGeom>
          <a:noFill/>
          <a:ln/>
        </p:spPr>
        <p:txBody>
          <a:bodyPr wrap="square" lIns="0" tIns="0" rIns="0" bIns="0" rtlCol="0" anchor="ctr"/>
          <a:lstStyle/>
          <a:p>
            <a:pPr indent="0" marL="0">
              <a:buNone/>
            </a:pPr>
            <a:r>
              <a:rPr lang="en-US" sz="900" dirty="0">
                <a:solidFill>
                  <a:srgbClr val="8A8F98"/>
                </a:solidFill>
                <a:latin typeface="Arial" pitchFamily="34" charset="0"/>
                <a:ea typeface="Arial" pitchFamily="34" charset="-122"/>
                <a:cs typeface="Arial" pitchFamily="34" charset="-120"/>
              </a:rPr>
              <a:t>HỆ THỐNG HỎI ĐÁP CÓ CĂN CỨ  ·  Báo cáo đồ án</a:t>
            </a:r>
            <a:endParaRPr lang="en-US" sz="900" dirty="0"/>
          </a:p>
        </p:txBody>
      </p:sp>
      <p:sp>
        <p:nvSpPr>
          <p:cNvPr id="3" name="Text 1"/>
          <p:cNvSpPr txBox="1"/>
          <p:nvPr/>
        </p:nvSpPr>
        <p:spPr>
          <a:xfrm>
            <a:off x="10972800" y="6400800"/>
            <a:ext cx="658368" cy="274320"/>
          </a:xfrm>
          <a:prstGeom prst="rect">
            <a:avLst/>
          </a:prstGeom>
          <a:noFill/>
          <a:ln/>
        </p:spPr>
        <p:txBody>
          <a:bodyPr wrap="square" lIns="0" tIns="0" rIns="0" bIns="0" rtlCol="0" anchor="ctr"/>
          <a:lstStyle/>
          <a:p>
            <a:pPr algn="r" indent="0" marL="0">
              <a:buNone/>
            </a:pPr>
            <a:r>
              <a:rPr lang="en-US" sz="900" dirty="0">
                <a:solidFill>
                  <a:srgbClr val="8A8F98"/>
                </a:solidFill>
                <a:latin typeface="Arial" pitchFamily="34" charset="0"/>
                <a:ea typeface="Arial" pitchFamily="34" charset="-122"/>
                <a:cs typeface="Arial" pitchFamily="34" charset="-120"/>
              </a:rPr>
              <a:t>06</a:t>
            </a:r>
            <a:endParaRPr lang="en-US" sz="900" dirty="0"/>
          </a:p>
        </p:txBody>
      </p:sp>
      <p:sp>
        <p:nvSpPr>
          <p:cNvPr id="4" name="Text 2"/>
          <p:cNvSpPr txBox="1"/>
          <p:nvPr/>
        </p:nvSpPr>
        <p:spPr>
          <a:xfrm>
            <a:off x="566928" y="384048"/>
            <a:ext cx="10881360" cy="777240"/>
          </a:xfrm>
          <a:prstGeom prst="rect">
            <a:avLst/>
          </a:prstGeom>
          <a:noFill/>
          <a:ln/>
        </p:spPr>
        <p:txBody>
          <a:bodyPr wrap="square" lIns="0" tIns="0" rIns="0" bIns="0" rtlCol="0" anchor="t"/>
          <a:lstStyle/>
          <a:p>
            <a:pPr indent="0" marL="0">
              <a:lnSpc>
                <a:spcPct val="108000"/>
              </a:lnSpc>
              <a:buNone/>
            </a:pPr>
            <a:r>
              <a:rPr lang="en-US" sz="3200" b="1" dirty="0">
                <a:solidFill>
                  <a:srgbClr val="132B5E"/>
                </a:solidFill>
                <a:latin typeface="Arial" pitchFamily="34" charset="0"/>
                <a:ea typeface="Arial" pitchFamily="34" charset="-122"/>
                <a:cs typeface="Arial" pitchFamily="34" charset="-120"/>
              </a:rPr>
              <a:t>CÔNG NGHỆ VÀ QUY MÔ HỆ THỐNG</a:t>
            </a:r>
            <a:endParaRPr lang="en-US" sz="3200" dirty="0"/>
          </a:p>
        </p:txBody>
      </p:sp>
      <p:sp>
        <p:nvSpPr>
          <p:cNvPr id="5" name="Shape 3"/>
          <p:cNvSpPr/>
          <p:nvPr/>
        </p:nvSpPr>
        <p:spPr>
          <a:xfrm>
            <a:off x="566928" y="1371600"/>
            <a:ext cx="5486400" cy="841248"/>
          </a:xfrm>
          <a:prstGeom prst="parallelogram">
            <a:avLst/>
          </a:prstGeom>
          <a:solidFill>
            <a:srgbClr val="8CC0E4"/>
          </a:solidFill>
          <a:ln w="12700">
            <a:solidFill>
              <a:srgbClr val="8CC0E4"/>
            </a:solidFill>
            <a:prstDash val="solid"/>
          </a:ln>
        </p:spPr>
      </p:sp>
      <p:sp>
        <p:nvSpPr>
          <p:cNvPr id="6" name="Text 4"/>
          <p:cNvSpPr txBox="1"/>
          <p:nvPr/>
        </p:nvSpPr>
        <p:spPr>
          <a:xfrm>
            <a:off x="1024128" y="1371600"/>
            <a:ext cx="4572000" cy="841248"/>
          </a:xfrm>
          <a:prstGeom prst="rect">
            <a:avLst/>
          </a:prstGeom>
          <a:noFill/>
          <a:ln/>
        </p:spPr>
        <p:txBody>
          <a:bodyPr wrap="square" lIns="0" tIns="0" rIns="0" bIns="0" rtlCol="0" anchor="ctr"/>
          <a:lstStyle/>
          <a:p>
            <a:pPr indent="0" marL="0">
              <a:lnSpc>
                <a:spcPct val="120000"/>
              </a:lnSpc>
              <a:buNone/>
            </a:pPr>
            <a:r>
              <a:rPr lang="en-US" sz="1350" b="1" dirty="0">
                <a:solidFill>
                  <a:srgbClr val="132B5E"/>
                </a:solidFill>
                <a:latin typeface="Arial" pitchFamily="34" charset="0"/>
                <a:ea typeface="Arial" pitchFamily="34" charset="-122"/>
                <a:cs typeface="Arial" pitchFamily="34" charset="-120"/>
              </a:rPr>
              <a:t>NGÔN NGỮ VÀ KHUNG</a:t>
            </a:r>
            <a:endParaRPr lang="en-US" sz="1350" dirty="0"/>
          </a:p>
          <a:p>
            <a:pPr indent="0" marL="0">
              <a:lnSpc>
                <a:spcPct val="120000"/>
              </a:lnSpc>
              <a:buNone/>
            </a:pPr>
            <a:r>
              <a:rPr lang="en-US" sz="1350" dirty="0">
                <a:solidFill>
                  <a:srgbClr val="132B5E"/>
                </a:solidFill>
                <a:latin typeface="Arial" pitchFamily="34" charset="0"/>
                <a:ea typeface="Arial" pitchFamily="34" charset="-122"/>
                <a:cs typeface="Arial" pitchFamily="34" charset="-120"/>
              </a:rPr>
              <a:t>TypeScript 5.7 · NestJS 11 · Node.js 24</a:t>
            </a:r>
            <a:endParaRPr lang="en-US" sz="1350" dirty="0"/>
          </a:p>
        </p:txBody>
      </p:sp>
      <p:sp>
        <p:nvSpPr>
          <p:cNvPr id="7" name="Shape 5"/>
          <p:cNvSpPr/>
          <p:nvPr/>
        </p:nvSpPr>
        <p:spPr>
          <a:xfrm>
            <a:off x="566928" y="2395728"/>
            <a:ext cx="5486400" cy="841248"/>
          </a:xfrm>
          <a:prstGeom prst="parallelogram">
            <a:avLst/>
          </a:prstGeom>
          <a:solidFill>
            <a:srgbClr val="8CC0E4"/>
          </a:solidFill>
          <a:ln w="12700">
            <a:solidFill>
              <a:srgbClr val="8CC0E4"/>
            </a:solidFill>
            <a:prstDash val="solid"/>
          </a:ln>
        </p:spPr>
      </p:sp>
      <p:sp>
        <p:nvSpPr>
          <p:cNvPr id="8" name="Text 6"/>
          <p:cNvSpPr txBox="1"/>
          <p:nvPr/>
        </p:nvSpPr>
        <p:spPr>
          <a:xfrm>
            <a:off x="1024128" y="2395728"/>
            <a:ext cx="4572000" cy="841248"/>
          </a:xfrm>
          <a:prstGeom prst="rect">
            <a:avLst/>
          </a:prstGeom>
          <a:noFill/>
          <a:ln/>
        </p:spPr>
        <p:txBody>
          <a:bodyPr wrap="square" lIns="0" tIns="0" rIns="0" bIns="0" rtlCol="0" anchor="ctr"/>
          <a:lstStyle/>
          <a:p>
            <a:pPr indent="0" marL="0">
              <a:lnSpc>
                <a:spcPct val="120000"/>
              </a:lnSpc>
              <a:buNone/>
            </a:pPr>
            <a:r>
              <a:rPr lang="en-US" sz="1350" b="1" dirty="0">
                <a:solidFill>
                  <a:srgbClr val="132B5E"/>
                </a:solidFill>
                <a:latin typeface="Arial" pitchFamily="34" charset="0"/>
                <a:ea typeface="Arial" pitchFamily="34" charset="-122"/>
                <a:cs typeface="Arial" pitchFamily="34" charset="-120"/>
              </a:rPr>
              <a:t>LƯU TRỮ</a:t>
            </a:r>
            <a:endParaRPr lang="en-US" sz="1350" dirty="0"/>
          </a:p>
          <a:p>
            <a:pPr indent="0" marL="0">
              <a:lnSpc>
                <a:spcPct val="120000"/>
              </a:lnSpc>
              <a:buNone/>
            </a:pPr>
            <a:r>
              <a:rPr lang="en-US" sz="1350" dirty="0">
                <a:solidFill>
                  <a:srgbClr val="132B5E"/>
                </a:solidFill>
                <a:latin typeface="Arial" pitchFamily="34" charset="0"/>
                <a:ea typeface="Arial" pitchFamily="34" charset="-122"/>
                <a:cs typeface="Arial" pitchFamily="34" charset="-120"/>
              </a:rPr>
              <a:t>PostgreSQL 16 + pgvector · Redis · Neo4j 5</a:t>
            </a:r>
            <a:endParaRPr lang="en-US" sz="1350" dirty="0"/>
          </a:p>
        </p:txBody>
      </p:sp>
      <p:sp>
        <p:nvSpPr>
          <p:cNvPr id="9" name="Shape 7"/>
          <p:cNvSpPr/>
          <p:nvPr/>
        </p:nvSpPr>
        <p:spPr>
          <a:xfrm>
            <a:off x="566928" y="3419856"/>
            <a:ext cx="5486400" cy="841248"/>
          </a:xfrm>
          <a:prstGeom prst="parallelogram">
            <a:avLst/>
          </a:prstGeom>
          <a:solidFill>
            <a:srgbClr val="8CC0E4"/>
          </a:solidFill>
          <a:ln w="12700">
            <a:solidFill>
              <a:srgbClr val="8CC0E4"/>
            </a:solidFill>
            <a:prstDash val="solid"/>
          </a:ln>
        </p:spPr>
      </p:sp>
      <p:sp>
        <p:nvSpPr>
          <p:cNvPr id="10" name="Text 8"/>
          <p:cNvSpPr txBox="1"/>
          <p:nvPr/>
        </p:nvSpPr>
        <p:spPr>
          <a:xfrm>
            <a:off x="1024128" y="3419856"/>
            <a:ext cx="4572000" cy="841248"/>
          </a:xfrm>
          <a:prstGeom prst="rect">
            <a:avLst/>
          </a:prstGeom>
          <a:noFill/>
          <a:ln/>
        </p:spPr>
        <p:txBody>
          <a:bodyPr wrap="square" lIns="0" tIns="0" rIns="0" bIns="0" rtlCol="0" anchor="ctr"/>
          <a:lstStyle/>
          <a:p>
            <a:pPr indent="0" marL="0">
              <a:lnSpc>
                <a:spcPct val="120000"/>
              </a:lnSpc>
              <a:buNone/>
            </a:pPr>
            <a:r>
              <a:rPr lang="en-US" sz="1350" b="1" dirty="0">
                <a:solidFill>
                  <a:srgbClr val="132B5E"/>
                </a:solidFill>
                <a:latin typeface="Arial" pitchFamily="34" charset="0"/>
                <a:ea typeface="Arial" pitchFamily="34" charset="-122"/>
                <a:cs typeface="Arial" pitchFamily="34" charset="-120"/>
              </a:rPr>
              <a:t>MÔ HÌNH</a:t>
            </a:r>
            <a:endParaRPr lang="en-US" sz="1350" dirty="0"/>
          </a:p>
          <a:p>
            <a:pPr indent="0" marL="0">
              <a:lnSpc>
                <a:spcPct val="120000"/>
              </a:lnSpc>
              <a:buNone/>
            </a:pPr>
            <a:r>
              <a:rPr lang="en-US" sz="1350" dirty="0">
                <a:solidFill>
                  <a:srgbClr val="132B5E"/>
                </a:solidFill>
                <a:latin typeface="Arial" pitchFamily="34" charset="0"/>
                <a:ea typeface="Arial" pitchFamily="34" charset="-122"/>
                <a:cs typeface="Arial" pitchFamily="34" charset="-120"/>
              </a:rPr>
              <a:t>Qwen3 8B · Qwen2.5 7B · Embedding và Reranker 0.6B</a:t>
            </a:r>
            <a:endParaRPr lang="en-US" sz="1350" dirty="0"/>
          </a:p>
        </p:txBody>
      </p:sp>
      <p:sp>
        <p:nvSpPr>
          <p:cNvPr id="11" name="Shape 9"/>
          <p:cNvSpPr/>
          <p:nvPr/>
        </p:nvSpPr>
        <p:spPr>
          <a:xfrm>
            <a:off x="566928" y="4443984"/>
            <a:ext cx="5486400" cy="841248"/>
          </a:xfrm>
          <a:prstGeom prst="parallelogram">
            <a:avLst/>
          </a:prstGeom>
          <a:solidFill>
            <a:srgbClr val="8CC0E4"/>
          </a:solidFill>
          <a:ln w="12700">
            <a:solidFill>
              <a:srgbClr val="8CC0E4"/>
            </a:solidFill>
            <a:prstDash val="solid"/>
          </a:ln>
        </p:spPr>
      </p:sp>
      <p:sp>
        <p:nvSpPr>
          <p:cNvPr id="12" name="Text 10"/>
          <p:cNvSpPr txBox="1"/>
          <p:nvPr/>
        </p:nvSpPr>
        <p:spPr>
          <a:xfrm>
            <a:off x="1024128" y="4443984"/>
            <a:ext cx="4572000" cy="841248"/>
          </a:xfrm>
          <a:prstGeom prst="rect">
            <a:avLst/>
          </a:prstGeom>
          <a:noFill/>
          <a:ln/>
        </p:spPr>
        <p:txBody>
          <a:bodyPr wrap="square" lIns="0" tIns="0" rIns="0" bIns="0" rtlCol="0" anchor="ctr"/>
          <a:lstStyle/>
          <a:p>
            <a:pPr indent="0" marL="0">
              <a:lnSpc>
                <a:spcPct val="120000"/>
              </a:lnSpc>
              <a:buNone/>
            </a:pPr>
            <a:r>
              <a:rPr lang="en-US" sz="1350" b="1" dirty="0">
                <a:solidFill>
                  <a:srgbClr val="132B5E"/>
                </a:solidFill>
                <a:latin typeface="Arial" pitchFamily="34" charset="0"/>
                <a:ea typeface="Arial" pitchFamily="34" charset="-122"/>
                <a:cs typeface="Arial" pitchFamily="34" charset="-120"/>
              </a:rPr>
              <a:t>ĐIỀU PHỐI TÁC TỬ</a:t>
            </a:r>
            <a:endParaRPr lang="en-US" sz="1350" dirty="0"/>
          </a:p>
          <a:p>
            <a:pPr indent="0" marL="0">
              <a:lnSpc>
                <a:spcPct val="120000"/>
              </a:lnSpc>
              <a:buNone/>
            </a:pPr>
            <a:r>
              <a:rPr lang="en-US" sz="1350" dirty="0">
                <a:solidFill>
                  <a:srgbClr val="132B5E"/>
                </a:solidFill>
                <a:latin typeface="Arial" pitchFamily="34" charset="0"/>
                <a:ea typeface="Arial" pitchFamily="34" charset="-122"/>
                <a:cs typeface="Arial" pitchFamily="34" charset="-120"/>
              </a:rPr>
              <a:t>LangGraph · giao thức MCP · Zod</a:t>
            </a:r>
            <a:endParaRPr lang="en-US" sz="1350" dirty="0"/>
          </a:p>
        </p:txBody>
      </p:sp>
      <p:sp>
        <p:nvSpPr>
          <p:cNvPr id="13" name="Shape 11"/>
          <p:cNvSpPr/>
          <p:nvPr/>
        </p:nvSpPr>
        <p:spPr>
          <a:xfrm>
            <a:off x="6492240" y="1371600"/>
            <a:ext cx="5120640" cy="3913632"/>
          </a:xfrm>
          <a:prstGeom prst="rect">
            <a:avLst/>
          </a:prstGeom>
          <a:solidFill>
            <a:srgbClr val="132B5E"/>
          </a:solidFill>
          <a:ln/>
        </p:spPr>
      </p:sp>
      <p:sp>
        <p:nvSpPr>
          <p:cNvPr id="14" name="Text 12"/>
          <p:cNvSpPr txBox="1"/>
          <p:nvPr/>
        </p:nvSpPr>
        <p:spPr>
          <a:xfrm>
            <a:off x="6858000" y="1920240"/>
            <a:ext cx="2286000" cy="566928"/>
          </a:xfrm>
          <a:prstGeom prst="rect">
            <a:avLst/>
          </a:prstGeom>
          <a:noFill/>
          <a:ln/>
        </p:spPr>
        <p:txBody>
          <a:bodyPr wrap="square" lIns="0" tIns="0" rIns="0" bIns="0" rtlCol="0" anchor="ctr"/>
          <a:lstStyle/>
          <a:p>
            <a:pPr indent="0" marL="0">
              <a:buNone/>
            </a:pPr>
            <a:r>
              <a:rPr lang="en-US" sz="3000" b="1" dirty="0">
                <a:solidFill>
                  <a:srgbClr val="8CC0E4"/>
                </a:solidFill>
                <a:latin typeface="Arial" pitchFamily="34" charset="0"/>
                <a:ea typeface="Arial" pitchFamily="34" charset="-122"/>
                <a:cs typeface="Arial" pitchFamily="34" charset="-120"/>
              </a:rPr>
              <a:t>24 700</a:t>
            </a:r>
            <a:endParaRPr lang="en-US" sz="3000" dirty="0"/>
          </a:p>
        </p:txBody>
      </p:sp>
      <p:sp>
        <p:nvSpPr>
          <p:cNvPr id="15" name="Text 13"/>
          <p:cNvSpPr txBox="1"/>
          <p:nvPr/>
        </p:nvSpPr>
        <p:spPr>
          <a:xfrm>
            <a:off x="6858000" y="2468880"/>
            <a:ext cx="2286000" cy="384048"/>
          </a:xfrm>
          <a:prstGeom prst="rect">
            <a:avLst/>
          </a:prstGeom>
          <a:noFill/>
          <a:ln/>
        </p:spPr>
        <p:txBody>
          <a:bodyPr wrap="square" lIns="0" tIns="0" rIns="0" bIns="0" rtlCol="0" anchor="t"/>
          <a:lstStyle/>
          <a:p>
            <a:pPr indent="0" marL="0">
              <a:lnSpc>
                <a:spcPct val="110000"/>
              </a:lnSpc>
              <a:buNone/>
            </a:pPr>
            <a:r>
              <a:rPr lang="en-US" sz="1150" dirty="0">
                <a:solidFill>
                  <a:srgbClr val="FFFFFF"/>
                </a:solidFill>
                <a:latin typeface="Arial" pitchFamily="34" charset="0"/>
                <a:ea typeface="Arial" pitchFamily="34" charset="-122"/>
                <a:cs typeface="Arial" pitchFamily="34" charset="-120"/>
              </a:rPr>
              <a:t>dòng mã nghiệp vụ</a:t>
            </a:r>
            <a:endParaRPr lang="en-US" sz="1150" dirty="0"/>
          </a:p>
          <a:p>
            <a:pPr indent="0" marL="0">
              <a:lnSpc>
                <a:spcPct val="110000"/>
              </a:lnSpc>
              <a:buNone/>
            </a:pPr>
            <a:r>
              <a:rPr lang="en-US" sz="1150" dirty="0">
                <a:solidFill>
                  <a:srgbClr val="FFFFFF"/>
                </a:solidFill>
                <a:latin typeface="Arial" pitchFamily="34" charset="0"/>
                <a:ea typeface="Arial" pitchFamily="34" charset="-122"/>
                <a:cs typeface="Arial" pitchFamily="34" charset="-120"/>
              </a:rPr>
              <a:t>trên 204 tệp</a:t>
            </a:r>
            <a:endParaRPr lang="en-US" sz="1150" dirty="0"/>
          </a:p>
        </p:txBody>
      </p:sp>
      <p:sp>
        <p:nvSpPr>
          <p:cNvPr id="16" name="Text 14"/>
          <p:cNvSpPr txBox="1"/>
          <p:nvPr/>
        </p:nvSpPr>
        <p:spPr>
          <a:xfrm>
            <a:off x="9326880" y="1920240"/>
            <a:ext cx="2286000" cy="566928"/>
          </a:xfrm>
          <a:prstGeom prst="rect">
            <a:avLst/>
          </a:prstGeom>
          <a:noFill/>
          <a:ln/>
        </p:spPr>
        <p:txBody>
          <a:bodyPr wrap="square" lIns="0" tIns="0" rIns="0" bIns="0" rtlCol="0" anchor="ctr"/>
          <a:lstStyle/>
          <a:p>
            <a:pPr indent="0" marL="0">
              <a:buNone/>
            </a:pPr>
            <a:r>
              <a:rPr lang="en-US" sz="3000" b="1" dirty="0">
                <a:solidFill>
                  <a:srgbClr val="8CC0E4"/>
                </a:solidFill>
                <a:latin typeface="Arial" pitchFamily="34" charset="0"/>
                <a:ea typeface="Arial" pitchFamily="34" charset="-122"/>
                <a:cs typeface="Arial" pitchFamily="34" charset="-120"/>
              </a:rPr>
              <a:t>39</a:t>
            </a:r>
            <a:endParaRPr lang="en-US" sz="3000" dirty="0"/>
          </a:p>
        </p:txBody>
      </p:sp>
      <p:sp>
        <p:nvSpPr>
          <p:cNvPr id="17" name="Text 15"/>
          <p:cNvSpPr txBox="1"/>
          <p:nvPr/>
        </p:nvSpPr>
        <p:spPr>
          <a:xfrm>
            <a:off x="9326880" y="2468880"/>
            <a:ext cx="2286000" cy="384048"/>
          </a:xfrm>
          <a:prstGeom prst="rect">
            <a:avLst/>
          </a:prstGeom>
          <a:noFill/>
          <a:ln/>
        </p:spPr>
        <p:txBody>
          <a:bodyPr wrap="square" lIns="0" tIns="0" rIns="0" bIns="0" rtlCol="0" anchor="t"/>
          <a:lstStyle/>
          <a:p>
            <a:pPr indent="0" marL="0">
              <a:lnSpc>
                <a:spcPct val="110000"/>
              </a:lnSpc>
              <a:buNone/>
            </a:pPr>
            <a:r>
              <a:rPr lang="en-US" sz="1150" dirty="0">
                <a:solidFill>
                  <a:srgbClr val="FFFFFF"/>
                </a:solidFill>
                <a:latin typeface="Arial" pitchFamily="34" charset="0"/>
                <a:ea typeface="Arial" pitchFamily="34" charset="-122"/>
                <a:cs typeface="Arial" pitchFamily="34" charset="-120"/>
              </a:rPr>
              <a:t>điểm cuối</a:t>
            </a:r>
            <a:endParaRPr lang="en-US" sz="1150" dirty="0"/>
          </a:p>
          <a:p>
            <a:pPr indent="0" marL="0">
              <a:lnSpc>
                <a:spcPct val="110000"/>
              </a:lnSpc>
              <a:buNone/>
            </a:pPr>
            <a:r>
              <a:rPr lang="en-US" sz="1150" dirty="0">
                <a:solidFill>
                  <a:srgbClr val="FFFFFF"/>
                </a:solidFill>
                <a:latin typeface="Arial" pitchFamily="34" charset="0"/>
                <a:ea typeface="Arial" pitchFamily="34" charset="-122"/>
                <a:cs typeface="Arial" pitchFamily="34" charset="-120"/>
              </a:rPr>
              <a:t>giao diện lập trình</a:t>
            </a:r>
            <a:endParaRPr lang="en-US" sz="1150" dirty="0"/>
          </a:p>
        </p:txBody>
      </p:sp>
      <p:sp>
        <p:nvSpPr>
          <p:cNvPr id="18" name="Text 16"/>
          <p:cNvSpPr txBox="1"/>
          <p:nvPr/>
        </p:nvSpPr>
        <p:spPr>
          <a:xfrm>
            <a:off x="6858000" y="3611880"/>
            <a:ext cx="2286000" cy="566928"/>
          </a:xfrm>
          <a:prstGeom prst="rect">
            <a:avLst/>
          </a:prstGeom>
          <a:noFill/>
          <a:ln/>
        </p:spPr>
        <p:txBody>
          <a:bodyPr wrap="square" lIns="0" tIns="0" rIns="0" bIns="0" rtlCol="0" anchor="ctr"/>
          <a:lstStyle/>
          <a:p>
            <a:pPr indent="0" marL="0">
              <a:buNone/>
            </a:pPr>
            <a:r>
              <a:rPr lang="en-US" sz="3000" b="1" dirty="0">
                <a:solidFill>
                  <a:srgbClr val="8CC0E4"/>
                </a:solidFill>
                <a:latin typeface="Arial" pitchFamily="34" charset="0"/>
                <a:ea typeface="Arial" pitchFamily="34" charset="-122"/>
                <a:cs typeface="Arial" pitchFamily="34" charset="-120"/>
              </a:rPr>
              <a:t>706</a:t>
            </a:r>
            <a:endParaRPr lang="en-US" sz="3000" dirty="0"/>
          </a:p>
        </p:txBody>
      </p:sp>
      <p:sp>
        <p:nvSpPr>
          <p:cNvPr id="19" name="Text 17"/>
          <p:cNvSpPr txBox="1"/>
          <p:nvPr/>
        </p:nvSpPr>
        <p:spPr>
          <a:xfrm>
            <a:off x="6858000" y="4160520"/>
            <a:ext cx="2286000" cy="384048"/>
          </a:xfrm>
          <a:prstGeom prst="rect">
            <a:avLst/>
          </a:prstGeom>
          <a:noFill/>
          <a:ln/>
        </p:spPr>
        <p:txBody>
          <a:bodyPr wrap="square" lIns="0" tIns="0" rIns="0" bIns="0" rtlCol="0" anchor="t"/>
          <a:lstStyle/>
          <a:p>
            <a:pPr indent="0" marL="0">
              <a:lnSpc>
                <a:spcPct val="110000"/>
              </a:lnSpc>
              <a:buNone/>
            </a:pPr>
            <a:r>
              <a:rPr lang="en-US" sz="1150" dirty="0">
                <a:solidFill>
                  <a:srgbClr val="FFFFFF"/>
                </a:solidFill>
                <a:latin typeface="Arial" pitchFamily="34" charset="0"/>
                <a:ea typeface="Arial" pitchFamily="34" charset="-122"/>
                <a:cs typeface="Arial" pitchFamily="34" charset="-120"/>
              </a:rPr>
              <a:t>kiểm thử đơn vị</a:t>
            </a:r>
            <a:endParaRPr lang="en-US" sz="1150" dirty="0"/>
          </a:p>
          <a:p>
            <a:pPr indent="0" marL="0">
              <a:lnSpc>
                <a:spcPct val="110000"/>
              </a:lnSpc>
              <a:buNone/>
            </a:pPr>
            <a:r>
              <a:rPr lang="en-US" sz="1150" dirty="0">
                <a:solidFill>
                  <a:srgbClr val="FFFFFF"/>
                </a:solidFill>
                <a:latin typeface="Arial" pitchFamily="34" charset="0"/>
                <a:ea typeface="Arial" pitchFamily="34" charset="-122"/>
                <a:cs typeface="Arial" pitchFamily="34" charset="-120"/>
              </a:rPr>
              <a:t>đều đạt</a:t>
            </a:r>
            <a:endParaRPr lang="en-US" sz="1150" dirty="0"/>
          </a:p>
        </p:txBody>
      </p:sp>
      <p:sp>
        <p:nvSpPr>
          <p:cNvPr id="20" name="Text 18"/>
          <p:cNvSpPr txBox="1"/>
          <p:nvPr/>
        </p:nvSpPr>
        <p:spPr>
          <a:xfrm>
            <a:off x="9326880" y="3611880"/>
            <a:ext cx="2286000" cy="566928"/>
          </a:xfrm>
          <a:prstGeom prst="rect">
            <a:avLst/>
          </a:prstGeom>
          <a:noFill/>
          <a:ln/>
        </p:spPr>
        <p:txBody>
          <a:bodyPr wrap="square" lIns="0" tIns="0" rIns="0" bIns="0" rtlCol="0" anchor="ctr"/>
          <a:lstStyle/>
          <a:p>
            <a:pPr indent="0" marL="0">
              <a:buNone/>
            </a:pPr>
            <a:r>
              <a:rPr lang="en-US" sz="3000" b="1" dirty="0">
                <a:solidFill>
                  <a:srgbClr val="8CC0E4"/>
                </a:solidFill>
                <a:latin typeface="Arial" pitchFamily="34" charset="0"/>
                <a:ea typeface="Arial" pitchFamily="34" charset="-122"/>
                <a:cs typeface="Arial" pitchFamily="34" charset="-120"/>
              </a:rPr>
              <a:t>210</a:t>
            </a:r>
            <a:endParaRPr lang="en-US" sz="3000" dirty="0"/>
          </a:p>
        </p:txBody>
      </p:sp>
      <p:sp>
        <p:nvSpPr>
          <p:cNvPr id="21" name="Text 19"/>
          <p:cNvSpPr txBox="1"/>
          <p:nvPr/>
        </p:nvSpPr>
        <p:spPr>
          <a:xfrm>
            <a:off x="9326880" y="4160520"/>
            <a:ext cx="2286000" cy="384048"/>
          </a:xfrm>
          <a:prstGeom prst="rect">
            <a:avLst/>
          </a:prstGeom>
          <a:noFill/>
          <a:ln/>
        </p:spPr>
        <p:txBody>
          <a:bodyPr wrap="square" lIns="0" tIns="0" rIns="0" bIns="0" rtlCol="0" anchor="t"/>
          <a:lstStyle/>
          <a:p>
            <a:pPr indent="0" marL="0">
              <a:lnSpc>
                <a:spcPct val="110000"/>
              </a:lnSpc>
              <a:buNone/>
            </a:pPr>
            <a:r>
              <a:rPr lang="en-US" sz="1150" dirty="0">
                <a:solidFill>
                  <a:srgbClr val="FFFFFF"/>
                </a:solidFill>
                <a:latin typeface="Arial" pitchFamily="34" charset="0"/>
                <a:ea typeface="Arial" pitchFamily="34" charset="-122"/>
                <a:cs typeface="Arial" pitchFamily="34" charset="-120"/>
              </a:rPr>
              <a:t>case đánh giá</a:t>
            </a:r>
            <a:endParaRPr lang="en-US" sz="1150" dirty="0"/>
          </a:p>
          <a:p>
            <a:pPr indent="0" marL="0">
              <a:lnSpc>
                <a:spcPct val="110000"/>
              </a:lnSpc>
              <a:buNone/>
            </a:pPr>
            <a:r>
              <a:rPr lang="en-US" sz="1150" dirty="0">
                <a:solidFill>
                  <a:srgbClr val="FFFFFF"/>
                </a:solidFill>
                <a:latin typeface="Arial" pitchFamily="34" charset="0"/>
                <a:ea typeface="Arial" pitchFamily="34" charset="-122"/>
                <a:cs typeface="Arial" pitchFamily="34" charset="-120"/>
              </a:rPr>
              <a:t>trên 13 nhóm</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FEFEE"/>
        </a:solidFill>
      </p:bgPr>
    </p:bg>
    <p:spTree>
      <p:nvGrpSpPr>
        <p:cNvPr id="1" name=""/>
        <p:cNvGrpSpPr/>
        <p:nvPr/>
      </p:nvGrpSpPr>
      <p:grpSpPr>
        <a:xfrm>
          <a:off x="0" y="0"/>
          <a:ext cx="0" cy="0"/>
          <a:chOff x="0" y="0"/>
          <a:chExt cx="0" cy="0"/>
        </a:xfrm>
      </p:grpSpPr>
      <p:sp>
        <p:nvSpPr>
          <p:cNvPr id="2" name="Text 0"/>
          <p:cNvSpPr txBox="1"/>
          <p:nvPr/>
        </p:nvSpPr>
        <p:spPr>
          <a:xfrm>
            <a:off x="566928" y="6400800"/>
            <a:ext cx="6400800" cy="274320"/>
          </a:xfrm>
          <a:prstGeom prst="rect">
            <a:avLst/>
          </a:prstGeom>
          <a:noFill/>
          <a:ln/>
        </p:spPr>
        <p:txBody>
          <a:bodyPr wrap="square" lIns="0" tIns="0" rIns="0" bIns="0" rtlCol="0" anchor="ctr"/>
          <a:lstStyle/>
          <a:p>
            <a:pPr indent="0" marL="0">
              <a:buNone/>
            </a:pPr>
            <a:r>
              <a:rPr lang="en-US" sz="900" dirty="0">
                <a:solidFill>
                  <a:srgbClr val="8A8F98"/>
                </a:solidFill>
                <a:latin typeface="Arial" pitchFamily="34" charset="0"/>
                <a:ea typeface="Arial" pitchFamily="34" charset="-122"/>
                <a:cs typeface="Arial" pitchFamily="34" charset="-120"/>
              </a:rPr>
              <a:t>HỆ THỐNG HỎI ĐÁP CÓ CĂN CỨ  ·  Báo cáo đồ án</a:t>
            </a:r>
            <a:endParaRPr lang="en-US" sz="900" dirty="0"/>
          </a:p>
        </p:txBody>
      </p:sp>
      <p:sp>
        <p:nvSpPr>
          <p:cNvPr id="3" name="Text 1"/>
          <p:cNvSpPr txBox="1"/>
          <p:nvPr/>
        </p:nvSpPr>
        <p:spPr>
          <a:xfrm>
            <a:off x="10972800" y="6400800"/>
            <a:ext cx="658368" cy="274320"/>
          </a:xfrm>
          <a:prstGeom prst="rect">
            <a:avLst/>
          </a:prstGeom>
          <a:noFill/>
          <a:ln/>
        </p:spPr>
        <p:txBody>
          <a:bodyPr wrap="square" lIns="0" tIns="0" rIns="0" bIns="0" rtlCol="0" anchor="ctr"/>
          <a:lstStyle/>
          <a:p>
            <a:pPr algn="r" indent="0" marL="0">
              <a:buNone/>
            </a:pPr>
            <a:r>
              <a:rPr lang="en-US" sz="900" dirty="0">
                <a:solidFill>
                  <a:srgbClr val="8A8F98"/>
                </a:solidFill>
                <a:latin typeface="Arial" pitchFamily="34" charset="0"/>
                <a:ea typeface="Arial" pitchFamily="34" charset="-122"/>
                <a:cs typeface="Arial" pitchFamily="34" charset="-120"/>
              </a:rPr>
              <a:t>07</a:t>
            </a:r>
            <a:endParaRPr lang="en-US" sz="900" dirty="0"/>
          </a:p>
        </p:txBody>
      </p:sp>
      <p:sp>
        <p:nvSpPr>
          <p:cNvPr id="4" name="Text 2"/>
          <p:cNvSpPr txBox="1"/>
          <p:nvPr/>
        </p:nvSpPr>
        <p:spPr>
          <a:xfrm>
            <a:off x="566928" y="384048"/>
            <a:ext cx="10881360" cy="777240"/>
          </a:xfrm>
          <a:prstGeom prst="rect">
            <a:avLst/>
          </a:prstGeom>
          <a:noFill/>
          <a:ln/>
        </p:spPr>
        <p:txBody>
          <a:bodyPr wrap="square" lIns="0" tIns="0" rIns="0" bIns="0" rtlCol="0" anchor="t"/>
          <a:lstStyle/>
          <a:p>
            <a:pPr indent="0" marL="0">
              <a:lnSpc>
                <a:spcPct val="108000"/>
              </a:lnSpc>
              <a:buNone/>
            </a:pPr>
            <a:r>
              <a:rPr lang="en-US" sz="3200" b="1" dirty="0">
                <a:solidFill>
                  <a:srgbClr val="132B5E"/>
                </a:solidFill>
                <a:latin typeface="Arial" pitchFamily="34" charset="0"/>
                <a:ea typeface="Arial" pitchFamily="34" charset="-122"/>
                <a:cs typeface="Arial" pitchFamily="34" charset="-120"/>
              </a:rPr>
              <a:t>KIẾN TRÚC PHÂN TẦNG</a:t>
            </a:r>
            <a:endParaRPr lang="en-US" sz="3200" dirty="0"/>
          </a:p>
        </p:txBody>
      </p:sp>
      <p:sp>
        <p:nvSpPr>
          <p:cNvPr id="5" name="Text 3"/>
          <p:cNvSpPr txBox="1"/>
          <p:nvPr/>
        </p:nvSpPr>
        <p:spPr>
          <a:xfrm>
            <a:off x="566928" y="1234440"/>
            <a:ext cx="10881360" cy="640080"/>
          </a:xfrm>
          <a:prstGeom prst="rect">
            <a:avLst/>
          </a:prstGeom>
          <a:noFill/>
          <a:ln/>
        </p:spPr>
        <p:txBody>
          <a:bodyPr wrap="square" lIns="0" tIns="0" rIns="0" bIns="0" rtlCol="0" anchor="t"/>
          <a:lstStyle/>
          <a:p>
            <a:pPr indent="0" marL="0">
              <a:lnSpc>
                <a:spcPct val="128000"/>
              </a:lnSpc>
              <a:buNone/>
            </a:pPr>
            <a:r>
              <a:rPr lang="en-US" sz="1450" dirty="0">
                <a:solidFill>
                  <a:srgbClr val="1F3A6E"/>
                </a:solidFill>
                <a:latin typeface="Arial" pitchFamily="34" charset="0"/>
                <a:ea typeface="Arial" pitchFamily="34" charset="-122"/>
                <a:cs typeface="Arial" pitchFamily="34" charset="-120"/>
              </a:rPr>
              <a:t>Năm tầng, chiều phụ thuộc luôn đi từ trên xuống. Tầng nghiệp vụ không bao giờ tham chiếu trực tiếp tới thư viện của một nhà cung cấp cụ thể.</a:t>
            </a:r>
            <a:endParaRPr lang="en-US" sz="1450" dirty="0"/>
          </a:p>
        </p:txBody>
      </p:sp>
      <p:sp>
        <p:nvSpPr>
          <p:cNvPr id="6" name="Shape 4"/>
          <p:cNvSpPr/>
          <p:nvPr/>
        </p:nvSpPr>
        <p:spPr>
          <a:xfrm>
            <a:off x="3084035" y="2057400"/>
            <a:ext cx="6212906" cy="3977640"/>
          </a:xfrm>
          <a:prstGeom prst="rect">
            <a:avLst/>
          </a:prstGeom>
          <a:solidFill>
            <a:srgbClr val="132B5E"/>
          </a:solidFill>
          <a:ln/>
        </p:spPr>
      </p:sp>
      <p:sp>
        <p:nvSpPr>
          <p:cNvPr id="7" name="Shape 5"/>
          <p:cNvSpPr/>
          <p:nvPr/>
        </p:nvSpPr>
        <p:spPr>
          <a:xfrm>
            <a:off x="2992595" y="1965960"/>
            <a:ext cx="6212906" cy="3977640"/>
          </a:xfrm>
          <a:prstGeom prst="rect">
            <a:avLst/>
          </a:prstGeom>
          <a:solidFill>
            <a:srgbClr val="FFFFFF"/>
          </a:solidFill>
          <a:ln w="12700">
            <a:solidFill>
              <a:srgbClr val="FFFFFF"/>
            </a:solidFill>
            <a:prstDash val="solid"/>
          </a:ln>
        </p:spPr>
      </p:sp>
      <p:pic>
        <p:nvPicPr>
          <p:cNvPr id="8" name="Image 0" descr="/private/tmp/claude-501/-Volumes-Data-Documents-rag-reliability/6db8fc1f-3028-4f02-8952-927e30b47723/scratchpad/report/img/d01-architecture.png">    </p:cNvPr>
          <p:cNvPicPr>
            <a:picLocks noChangeAspect="1"/>
          </p:cNvPicPr>
          <p:nvPr/>
        </p:nvPicPr>
        <p:blipFill>
          <a:blip r:embed="rId1"/>
          <a:stretch>
            <a:fillRect/>
          </a:stretch>
        </p:blipFill>
        <p:spPr>
          <a:xfrm>
            <a:off x="3056603" y="2029968"/>
            <a:ext cx="6084890" cy="384962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FEFEE"/>
        </a:solidFill>
      </p:bgPr>
    </p:bg>
    <p:spTree>
      <p:nvGrpSpPr>
        <p:cNvPr id="1" name=""/>
        <p:cNvGrpSpPr/>
        <p:nvPr/>
      </p:nvGrpSpPr>
      <p:grpSpPr>
        <a:xfrm>
          <a:off x="0" y="0"/>
          <a:ext cx="0" cy="0"/>
          <a:chOff x="0" y="0"/>
          <a:chExt cx="0" cy="0"/>
        </a:xfrm>
      </p:grpSpPr>
      <p:sp>
        <p:nvSpPr>
          <p:cNvPr id="2" name="Text 0"/>
          <p:cNvSpPr txBox="1"/>
          <p:nvPr/>
        </p:nvSpPr>
        <p:spPr>
          <a:xfrm>
            <a:off x="566928" y="6400800"/>
            <a:ext cx="6400800" cy="274320"/>
          </a:xfrm>
          <a:prstGeom prst="rect">
            <a:avLst/>
          </a:prstGeom>
          <a:noFill/>
          <a:ln/>
        </p:spPr>
        <p:txBody>
          <a:bodyPr wrap="square" lIns="0" tIns="0" rIns="0" bIns="0" rtlCol="0" anchor="ctr"/>
          <a:lstStyle/>
          <a:p>
            <a:pPr indent="0" marL="0">
              <a:buNone/>
            </a:pPr>
            <a:r>
              <a:rPr lang="en-US" sz="900" dirty="0">
                <a:solidFill>
                  <a:srgbClr val="8A8F98"/>
                </a:solidFill>
                <a:latin typeface="Arial" pitchFamily="34" charset="0"/>
                <a:ea typeface="Arial" pitchFamily="34" charset="-122"/>
                <a:cs typeface="Arial" pitchFamily="34" charset="-120"/>
              </a:rPr>
              <a:t>HỆ THỐNG HỎI ĐÁP CÓ CĂN CỨ  ·  Báo cáo đồ án</a:t>
            </a:r>
            <a:endParaRPr lang="en-US" sz="900" dirty="0"/>
          </a:p>
        </p:txBody>
      </p:sp>
      <p:sp>
        <p:nvSpPr>
          <p:cNvPr id="3" name="Text 1"/>
          <p:cNvSpPr txBox="1"/>
          <p:nvPr/>
        </p:nvSpPr>
        <p:spPr>
          <a:xfrm>
            <a:off x="10972800" y="6400800"/>
            <a:ext cx="658368" cy="274320"/>
          </a:xfrm>
          <a:prstGeom prst="rect">
            <a:avLst/>
          </a:prstGeom>
          <a:noFill/>
          <a:ln/>
        </p:spPr>
        <p:txBody>
          <a:bodyPr wrap="square" lIns="0" tIns="0" rIns="0" bIns="0" rtlCol="0" anchor="ctr"/>
          <a:lstStyle/>
          <a:p>
            <a:pPr algn="r" indent="0" marL="0">
              <a:buNone/>
            </a:pPr>
            <a:r>
              <a:rPr lang="en-US" sz="900" dirty="0">
                <a:solidFill>
                  <a:srgbClr val="8A8F98"/>
                </a:solidFill>
                <a:latin typeface="Arial" pitchFamily="34" charset="0"/>
                <a:ea typeface="Arial" pitchFamily="34" charset="-122"/>
                <a:cs typeface="Arial" pitchFamily="34" charset="-120"/>
              </a:rPr>
              <a:t>08</a:t>
            </a:r>
            <a:endParaRPr lang="en-US" sz="900" dirty="0"/>
          </a:p>
        </p:txBody>
      </p:sp>
      <p:sp>
        <p:nvSpPr>
          <p:cNvPr id="4" name="Text 2"/>
          <p:cNvSpPr txBox="1"/>
          <p:nvPr/>
        </p:nvSpPr>
        <p:spPr>
          <a:xfrm>
            <a:off x="566928" y="384048"/>
            <a:ext cx="5303520" cy="1234440"/>
          </a:xfrm>
          <a:prstGeom prst="rect">
            <a:avLst/>
          </a:prstGeom>
          <a:noFill/>
          <a:ln/>
        </p:spPr>
        <p:txBody>
          <a:bodyPr wrap="square" lIns="0" tIns="0" rIns="0" bIns="0" rtlCol="0" anchor="t"/>
          <a:lstStyle/>
          <a:p>
            <a:pPr indent="0" marL="0">
              <a:lnSpc>
                <a:spcPct val="108000"/>
              </a:lnSpc>
              <a:buNone/>
            </a:pPr>
            <a:r>
              <a:rPr lang="en-US" sz="3200" b="1" dirty="0">
                <a:solidFill>
                  <a:srgbClr val="132B5E"/>
                </a:solidFill>
                <a:latin typeface="Arial" pitchFamily="34" charset="0"/>
                <a:ea typeface="Arial" pitchFamily="34" charset="-122"/>
                <a:cs typeface="Arial" pitchFamily="34" charset="-120"/>
              </a:rPr>
              <a:t>NGUYÊN TẮC</a:t>
            </a:r>
            <a:endParaRPr lang="en-US" sz="3200" dirty="0"/>
          </a:p>
          <a:p>
            <a:pPr indent="0" marL="0">
              <a:lnSpc>
                <a:spcPct val="108000"/>
              </a:lnSpc>
              <a:buNone/>
            </a:pPr>
            <a:r>
              <a:rPr lang="en-US" sz="3200" b="1" dirty="0">
                <a:solidFill>
                  <a:srgbClr val="132B5E"/>
                </a:solidFill>
                <a:latin typeface="Arial" pitchFamily="34" charset="0"/>
                <a:ea typeface="Arial" pitchFamily="34" charset="-122"/>
                <a:cs typeface="Arial" pitchFamily="34" charset="-120"/>
              </a:rPr>
              <a:t>THIẾT KẾ</a:t>
            </a:r>
            <a:endParaRPr lang="en-US" sz="3200" dirty="0"/>
          </a:p>
        </p:txBody>
      </p:sp>
      <p:sp>
        <p:nvSpPr>
          <p:cNvPr id="5" name="Text 3"/>
          <p:cNvSpPr txBox="1"/>
          <p:nvPr/>
        </p:nvSpPr>
        <p:spPr>
          <a:xfrm>
            <a:off x="566928" y="1965960"/>
            <a:ext cx="4754880" cy="1097280"/>
          </a:xfrm>
          <a:prstGeom prst="rect">
            <a:avLst/>
          </a:prstGeom>
          <a:noFill/>
          <a:ln/>
        </p:spPr>
        <p:txBody>
          <a:bodyPr wrap="square" lIns="0" tIns="0" rIns="0" bIns="0" rtlCol="0" anchor="t"/>
          <a:lstStyle/>
          <a:p>
            <a:pPr indent="0" marL="0">
              <a:lnSpc>
                <a:spcPct val="128000"/>
              </a:lnSpc>
              <a:buNone/>
            </a:pPr>
            <a:r>
              <a:rPr lang="en-US" sz="1450" dirty="0">
                <a:solidFill>
                  <a:srgbClr val="1F3A6E"/>
                </a:solidFill>
                <a:latin typeface="Arial" pitchFamily="34" charset="0"/>
                <a:ea typeface="Arial" pitchFamily="34" charset="-122"/>
                <a:cs typeface="Arial" pitchFamily="34" charset="-120"/>
              </a:rPr>
              <a:t>Năm nguyên tắc này giải thích hầu hết quyết định kỹ thuật trong phần còn lại của báo cáo.</a:t>
            </a:r>
            <a:endParaRPr lang="en-US" sz="1450" dirty="0"/>
          </a:p>
        </p:txBody>
      </p:sp>
      <p:sp>
        <p:nvSpPr>
          <p:cNvPr id="6" name="Shape 4"/>
          <p:cNvSpPr/>
          <p:nvPr/>
        </p:nvSpPr>
        <p:spPr>
          <a:xfrm>
            <a:off x="5943600" y="1234440"/>
            <a:ext cx="420624" cy="420624"/>
          </a:xfrm>
          <a:prstGeom prst="rect">
            <a:avLst/>
          </a:prstGeom>
          <a:solidFill>
            <a:srgbClr val="8CC0E4"/>
          </a:solidFill>
          <a:ln/>
        </p:spPr>
      </p:sp>
      <p:sp>
        <p:nvSpPr>
          <p:cNvPr id="7" name="Text 5"/>
          <p:cNvSpPr txBox="1"/>
          <p:nvPr/>
        </p:nvSpPr>
        <p:spPr>
          <a:xfrm>
            <a:off x="5943600" y="1234440"/>
            <a:ext cx="420624" cy="420624"/>
          </a:xfrm>
          <a:prstGeom prst="rect">
            <a:avLst/>
          </a:prstGeom>
          <a:noFill/>
          <a:ln/>
        </p:spPr>
        <p:txBody>
          <a:bodyPr wrap="square" lIns="0" tIns="0" rIns="0" bIns="0" rtlCol="0" anchor="ctr"/>
          <a:lstStyle/>
          <a:p>
            <a:pPr algn="ctr" indent="0" marL="0">
              <a:buNone/>
            </a:pPr>
            <a:r>
              <a:rPr lang="en-US" sz="1500" b="1" dirty="0">
                <a:solidFill>
                  <a:srgbClr val="132B5E"/>
                </a:solidFill>
                <a:latin typeface="Arial" pitchFamily="34" charset="0"/>
                <a:ea typeface="Arial" pitchFamily="34" charset="-122"/>
                <a:cs typeface="Arial" pitchFamily="34" charset="-120"/>
              </a:rPr>
              <a:t>1</a:t>
            </a:r>
            <a:endParaRPr lang="en-US" sz="1500" dirty="0"/>
          </a:p>
        </p:txBody>
      </p:sp>
      <p:sp>
        <p:nvSpPr>
          <p:cNvPr id="8" name="Text 6"/>
          <p:cNvSpPr txBox="1"/>
          <p:nvPr/>
        </p:nvSpPr>
        <p:spPr>
          <a:xfrm>
            <a:off x="6565392" y="1234440"/>
            <a:ext cx="5394960" cy="420624"/>
          </a:xfrm>
          <a:prstGeom prst="rect">
            <a:avLst/>
          </a:prstGeom>
          <a:noFill/>
          <a:ln/>
        </p:spPr>
        <p:txBody>
          <a:bodyPr wrap="square" lIns="0" tIns="0" rIns="0" bIns="0" rtlCol="0" anchor="ctr"/>
          <a:lstStyle/>
          <a:p>
            <a:pPr indent="0" marL="0">
              <a:buNone/>
            </a:pPr>
            <a:r>
              <a:rPr lang="en-US" sz="1350" b="1" dirty="0">
                <a:solidFill>
                  <a:srgbClr val="132B5E"/>
                </a:solidFill>
                <a:latin typeface="Arial" pitchFamily="34" charset="0"/>
                <a:ea typeface="Arial" pitchFamily="34" charset="-122"/>
                <a:cs typeface="Arial" pitchFamily="34" charset="-120"/>
              </a:rPr>
              <a:t>Trừu tượng nhà cung cấp</a:t>
            </a:r>
            <a:pPr indent="0" marL="0">
              <a:buNone/>
            </a:pPr>
            <a:r>
              <a:rPr lang="en-US" sz="1350" dirty="0">
                <a:solidFill>
                  <a:srgbClr val="1F3A6E"/>
                </a:solidFill>
                <a:latin typeface="Arial" pitchFamily="34" charset="0"/>
                <a:ea typeface="Arial" pitchFamily="34" charset="-122"/>
                <a:cs typeface="Arial" pitchFamily="34" charset="-120"/>
              </a:rPr>
              <a:t>   đổi mô hình bằng cấu hình</a:t>
            </a:r>
            <a:endParaRPr lang="en-US" sz="1350" dirty="0"/>
          </a:p>
        </p:txBody>
      </p:sp>
      <p:sp>
        <p:nvSpPr>
          <p:cNvPr id="9" name="Shape 7"/>
          <p:cNvSpPr/>
          <p:nvPr/>
        </p:nvSpPr>
        <p:spPr>
          <a:xfrm>
            <a:off x="5943600" y="2148840"/>
            <a:ext cx="420624" cy="420624"/>
          </a:xfrm>
          <a:prstGeom prst="rect">
            <a:avLst/>
          </a:prstGeom>
          <a:solidFill>
            <a:srgbClr val="8CC0E4"/>
          </a:solidFill>
          <a:ln/>
        </p:spPr>
      </p:sp>
      <p:sp>
        <p:nvSpPr>
          <p:cNvPr id="10" name="Text 8"/>
          <p:cNvSpPr txBox="1"/>
          <p:nvPr/>
        </p:nvSpPr>
        <p:spPr>
          <a:xfrm>
            <a:off x="5943600" y="2148840"/>
            <a:ext cx="420624" cy="420624"/>
          </a:xfrm>
          <a:prstGeom prst="rect">
            <a:avLst/>
          </a:prstGeom>
          <a:noFill/>
          <a:ln/>
        </p:spPr>
        <p:txBody>
          <a:bodyPr wrap="square" lIns="0" tIns="0" rIns="0" bIns="0" rtlCol="0" anchor="ctr"/>
          <a:lstStyle/>
          <a:p>
            <a:pPr algn="ctr" indent="0" marL="0">
              <a:buNone/>
            </a:pPr>
            <a:r>
              <a:rPr lang="en-US" sz="1500" b="1" dirty="0">
                <a:solidFill>
                  <a:srgbClr val="132B5E"/>
                </a:solidFill>
                <a:latin typeface="Arial" pitchFamily="34" charset="0"/>
                <a:ea typeface="Arial" pitchFamily="34" charset="-122"/>
                <a:cs typeface="Arial" pitchFamily="34" charset="-120"/>
              </a:rPr>
              <a:t>2</a:t>
            </a:r>
            <a:endParaRPr lang="en-US" sz="1500" dirty="0"/>
          </a:p>
        </p:txBody>
      </p:sp>
      <p:sp>
        <p:nvSpPr>
          <p:cNvPr id="11" name="Text 9"/>
          <p:cNvSpPr txBox="1"/>
          <p:nvPr/>
        </p:nvSpPr>
        <p:spPr>
          <a:xfrm>
            <a:off x="6565392" y="2148840"/>
            <a:ext cx="5394960" cy="420624"/>
          </a:xfrm>
          <a:prstGeom prst="rect">
            <a:avLst/>
          </a:prstGeom>
          <a:noFill/>
          <a:ln/>
        </p:spPr>
        <p:txBody>
          <a:bodyPr wrap="square" lIns="0" tIns="0" rIns="0" bIns="0" rtlCol="0" anchor="ctr"/>
          <a:lstStyle/>
          <a:p>
            <a:pPr indent="0" marL="0">
              <a:buNone/>
            </a:pPr>
            <a:r>
              <a:rPr lang="en-US" sz="1350" b="1" dirty="0">
                <a:solidFill>
                  <a:srgbClr val="132B5E"/>
                </a:solidFill>
                <a:latin typeface="Arial" pitchFamily="34" charset="0"/>
                <a:ea typeface="Arial" pitchFamily="34" charset="-122"/>
                <a:cs typeface="Arial" pitchFamily="34" charset="-120"/>
              </a:rPr>
              <a:t>Không che giấu lỗi</a:t>
            </a:r>
            <a:pPr indent="0" marL="0">
              <a:buNone/>
            </a:pPr>
            <a:r>
              <a:rPr lang="en-US" sz="1350" dirty="0">
                <a:solidFill>
                  <a:srgbClr val="1F3A6E"/>
                </a:solidFill>
                <a:latin typeface="Arial" pitchFamily="34" charset="0"/>
                <a:ea typeface="Arial" pitchFamily="34" charset="-122"/>
                <a:cs typeface="Arial" pitchFamily="34" charset="-120"/>
              </a:rPr>
              <a:t>   hỏng hạ tầng khác thiếu bằng chứng</a:t>
            </a:r>
            <a:endParaRPr lang="en-US" sz="1350" dirty="0"/>
          </a:p>
        </p:txBody>
      </p:sp>
      <p:sp>
        <p:nvSpPr>
          <p:cNvPr id="12" name="Shape 10"/>
          <p:cNvSpPr/>
          <p:nvPr/>
        </p:nvSpPr>
        <p:spPr>
          <a:xfrm>
            <a:off x="5943600" y="3063240"/>
            <a:ext cx="420624" cy="420624"/>
          </a:xfrm>
          <a:prstGeom prst="rect">
            <a:avLst/>
          </a:prstGeom>
          <a:solidFill>
            <a:srgbClr val="8CC0E4"/>
          </a:solidFill>
          <a:ln/>
        </p:spPr>
      </p:sp>
      <p:sp>
        <p:nvSpPr>
          <p:cNvPr id="13" name="Text 11"/>
          <p:cNvSpPr txBox="1"/>
          <p:nvPr/>
        </p:nvSpPr>
        <p:spPr>
          <a:xfrm>
            <a:off x="5943600" y="3063240"/>
            <a:ext cx="420624" cy="420624"/>
          </a:xfrm>
          <a:prstGeom prst="rect">
            <a:avLst/>
          </a:prstGeom>
          <a:noFill/>
          <a:ln/>
        </p:spPr>
        <p:txBody>
          <a:bodyPr wrap="square" lIns="0" tIns="0" rIns="0" bIns="0" rtlCol="0" anchor="ctr"/>
          <a:lstStyle/>
          <a:p>
            <a:pPr algn="ctr" indent="0" marL="0">
              <a:buNone/>
            </a:pPr>
            <a:r>
              <a:rPr lang="en-US" sz="1500" b="1" dirty="0">
                <a:solidFill>
                  <a:srgbClr val="132B5E"/>
                </a:solidFill>
                <a:latin typeface="Arial" pitchFamily="34" charset="0"/>
                <a:ea typeface="Arial" pitchFamily="34" charset="-122"/>
                <a:cs typeface="Arial" pitchFamily="34" charset="-120"/>
              </a:rPr>
              <a:t>3</a:t>
            </a:r>
            <a:endParaRPr lang="en-US" sz="1500" dirty="0"/>
          </a:p>
        </p:txBody>
      </p:sp>
      <p:sp>
        <p:nvSpPr>
          <p:cNvPr id="14" name="Text 12"/>
          <p:cNvSpPr txBox="1"/>
          <p:nvPr/>
        </p:nvSpPr>
        <p:spPr>
          <a:xfrm>
            <a:off x="6565392" y="3063240"/>
            <a:ext cx="5394960" cy="420624"/>
          </a:xfrm>
          <a:prstGeom prst="rect">
            <a:avLst/>
          </a:prstGeom>
          <a:noFill/>
          <a:ln/>
        </p:spPr>
        <p:txBody>
          <a:bodyPr wrap="square" lIns="0" tIns="0" rIns="0" bIns="0" rtlCol="0" anchor="ctr"/>
          <a:lstStyle/>
          <a:p>
            <a:pPr indent="0" marL="0">
              <a:buNone/>
            </a:pPr>
            <a:r>
              <a:rPr lang="en-US" sz="1350" b="1" dirty="0">
                <a:solidFill>
                  <a:srgbClr val="132B5E"/>
                </a:solidFill>
                <a:latin typeface="Arial" pitchFamily="34" charset="0"/>
                <a:ea typeface="Arial" pitchFamily="34" charset="-122"/>
                <a:cs typeface="Arial" pitchFamily="34" charset="-120"/>
              </a:rPr>
              <a:t>Hàm thuần cho phần kiểm chứng</a:t>
            </a:r>
            <a:pPr indent="0" marL="0">
              <a:buNone/>
            </a:pPr>
            <a:r>
              <a:rPr lang="en-US" sz="1350" dirty="0">
                <a:solidFill>
                  <a:srgbClr val="1F3A6E"/>
                </a:solidFill>
                <a:latin typeface="Arial" pitchFamily="34" charset="0"/>
                <a:ea typeface="Arial" pitchFamily="34" charset="-122"/>
                <a:cs typeface="Arial" pitchFamily="34" charset="-120"/>
              </a:rPr>
              <a:t>   kiểm thử không cần hạ tầng</a:t>
            </a:r>
            <a:endParaRPr lang="en-US" sz="1350" dirty="0"/>
          </a:p>
        </p:txBody>
      </p:sp>
      <p:sp>
        <p:nvSpPr>
          <p:cNvPr id="15" name="Shape 13"/>
          <p:cNvSpPr/>
          <p:nvPr/>
        </p:nvSpPr>
        <p:spPr>
          <a:xfrm>
            <a:off x="5943600" y="3977640"/>
            <a:ext cx="420624" cy="420624"/>
          </a:xfrm>
          <a:prstGeom prst="rect">
            <a:avLst/>
          </a:prstGeom>
          <a:solidFill>
            <a:srgbClr val="8CC0E4"/>
          </a:solidFill>
          <a:ln/>
        </p:spPr>
      </p:sp>
      <p:sp>
        <p:nvSpPr>
          <p:cNvPr id="16" name="Text 14"/>
          <p:cNvSpPr txBox="1"/>
          <p:nvPr/>
        </p:nvSpPr>
        <p:spPr>
          <a:xfrm>
            <a:off x="5943600" y="3977640"/>
            <a:ext cx="420624" cy="420624"/>
          </a:xfrm>
          <a:prstGeom prst="rect">
            <a:avLst/>
          </a:prstGeom>
          <a:noFill/>
          <a:ln/>
        </p:spPr>
        <p:txBody>
          <a:bodyPr wrap="square" lIns="0" tIns="0" rIns="0" bIns="0" rtlCol="0" anchor="ctr"/>
          <a:lstStyle/>
          <a:p>
            <a:pPr algn="ctr" indent="0" marL="0">
              <a:buNone/>
            </a:pPr>
            <a:r>
              <a:rPr lang="en-US" sz="1500" b="1" dirty="0">
                <a:solidFill>
                  <a:srgbClr val="132B5E"/>
                </a:solidFill>
                <a:latin typeface="Arial" pitchFamily="34" charset="0"/>
                <a:ea typeface="Arial" pitchFamily="34" charset="-122"/>
                <a:cs typeface="Arial" pitchFamily="34" charset="-120"/>
              </a:rPr>
              <a:t>4</a:t>
            </a:r>
            <a:endParaRPr lang="en-US" sz="1500" dirty="0"/>
          </a:p>
        </p:txBody>
      </p:sp>
      <p:sp>
        <p:nvSpPr>
          <p:cNvPr id="17" name="Text 15"/>
          <p:cNvSpPr txBox="1"/>
          <p:nvPr/>
        </p:nvSpPr>
        <p:spPr>
          <a:xfrm>
            <a:off x="6565392" y="3977640"/>
            <a:ext cx="5394960" cy="420624"/>
          </a:xfrm>
          <a:prstGeom prst="rect">
            <a:avLst/>
          </a:prstGeom>
          <a:noFill/>
          <a:ln/>
        </p:spPr>
        <p:txBody>
          <a:bodyPr wrap="square" lIns="0" tIns="0" rIns="0" bIns="0" rtlCol="0" anchor="ctr"/>
          <a:lstStyle/>
          <a:p>
            <a:pPr indent="0" marL="0">
              <a:buNone/>
            </a:pPr>
            <a:r>
              <a:rPr lang="en-US" sz="1350" b="1" dirty="0">
                <a:solidFill>
                  <a:srgbClr val="132B5E"/>
                </a:solidFill>
                <a:latin typeface="Arial" pitchFamily="34" charset="0"/>
                <a:ea typeface="Arial" pitchFamily="34" charset="-122"/>
                <a:cs typeface="Arial" pitchFamily="34" charset="-120"/>
              </a:rPr>
              <a:t>Mọi chặng đều ghi vết</a:t>
            </a:r>
            <a:pPr indent="0" marL="0">
              <a:buNone/>
            </a:pPr>
            <a:r>
              <a:rPr lang="en-US" sz="1350" dirty="0">
                <a:solidFill>
                  <a:srgbClr val="1F3A6E"/>
                </a:solidFill>
                <a:latin typeface="Arial" pitchFamily="34" charset="0"/>
                <a:ea typeface="Arial" pitchFamily="34" charset="-122"/>
                <a:cs typeface="Arial" pitchFamily="34" charset="-120"/>
              </a:rPr>
              <a:t>   truy vấn, tài liệu, phiên tác tử</a:t>
            </a:r>
            <a:endParaRPr lang="en-US" sz="1350" dirty="0"/>
          </a:p>
        </p:txBody>
      </p:sp>
      <p:sp>
        <p:nvSpPr>
          <p:cNvPr id="18" name="Shape 16"/>
          <p:cNvSpPr/>
          <p:nvPr/>
        </p:nvSpPr>
        <p:spPr>
          <a:xfrm>
            <a:off x="5943600" y="4892040"/>
            <a:ext cx="420624" cy="420624"/>
          </a:xfrm>
          <a:prstGeom prst="rect">
            <a:avLst/>
          </a:prstGeom>
          <a:solidFill>
            <a:srgbClr val="8CC0E4"/>
          </a:solidFill>
          <a:ln/>
        </p:spPr>
      </p:sp>
      <p:sp>
        <p:nvSpPr>
          <p:cNvPr id="19" name="Text 17"/>
          <p:cNvSpPr txBox="1"/>
          <p:nvPr/>
        </p:nvSpPr>
        <p:spPr>
          <a:xfrm>
            <a:off x="5943600" y="4892040"/>
            <a:ext cx="420624" cy="420624"/>
          </a:xfrm>
          <a:prstGeom prst="rect">
            <a:avLst/>
          </a:prstGeom>
          <a:noFill/>
          <a:ln/>
        </p:spPr>
        <p:txBody>
          <a:bodyPr wrap="square" lIns="0" tIns="0" rIns="0" bIns="0" rtlCol="0" anchor="ctr"/>
          <a:lstStyle/>
          <a:p>
            <a:pPr algn="ctr" indent="0" marL="0">
              <a:buNone/>
            </a:pPr>
            <a:r>
              <a:rPr lang="en-US" sz="1500" b="1" dirty="0">
                <a:solidFill>
                  <a:srgbClr val="132B5E"/>
                </a:solidFill>
                <a:latin typeface="Arial" pitchFamily="34" charset="0"/>
                <a:ea typeface="Arial" pitchFamily="34" charset="-122"/>
                <a:cs typeface="Arial" pitchFamily="34" charset="-120"/>
              </a:rPr>
              <a:t>5</a:t>
            </a:r>
            <a:endParaRPr lang="en-US" sz="1500" dirty="0"/>
          </a:p>
        </p:txBody>
      </p:sp>
      <p:sp>
        <p:nvSpPr>
          <p:cNvPr id="20" name="Text 18"/>
          <p:cNvSpPr txBox="1"/>
          <p:nvPr/>
        </p:nvSpPr>
        <p:spPr>
          <a:xfrm>
            <a:off x="6565392" y="4892040"/>
            <a:ext cx="5394960" cy="420624"/>
          </a:xfrm>
          <a:prstGeom prst="rect">
            <a:avLst/>
          </a:prstGeom>
          <a:noFill/>
          <a:ln/>
        </p:spPr>
        <p:txBody>
          <a:bodyPr wrap="square" lIns="0" tIns="0" rIns="0" bIns="0" rtlCol="0" anchor="ctr"/>
          <a:lstStyle/>
          <a:p>
            <a:pPr indent="0" marL="0">
              <a:buNone/>
            </a:pPr>
            <a:r>
              <a:rPr lang="en-US" sz="1350" b="1" dirty="0">
                <a:solidFill>
                  <a:srgbClr val="132B5E"/>
                </a:solidFill>
                <a:latin typeface="Arial" pitchFamily="34" charset="0"/>
                <a:ea typeface="Arial" pitchFamily="34" charset="-122"/>
                <a:cs typeface="Arial" pitchFamily="34" charset="-120"/>
              </a:rPr>
              <a:t>Lõi tác tử không biết công cụ</a:t>
            </a:r>
            <a:pPr indent="0" marL="0">
              <a:buNone/>
            </a:pPr>
            <a:r>
              <a:rPr lang="en-US" sz="1350" dirty="0">
                <a:solidFill>
                  <a:srgbClr val="1F3A6E"/>
                </a:solidFill>
                <a:latin typeface="Arial" pitchFamily="34" charset="0"/>
                <a:ea typeface="Arial" pitchFamily="34" charset="-122"/>
                <a:cs typeface="Arial" pitchFamily="34" charset="-120"/>
              </a:rPr>
              <a:t>   thêm công cụ, sửa 0 dòng lõi</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FEFEE"/>
        </a:solidFill>
      </p:bgPr>
    </p:bg>
    <p:spTree>
      <p:nvGrpSpPr>
        <p:cNvPr id="1" name=""/>
        <p:cNvGrpSpPr/>
        <p:nvPr/>
      </p:nvGrpSpPr>
      <p:grpSpPr>
        <a:xfrm>
          <a:off x="0" y="0"/>
          <a:ext cx="0" cy="0"/>
          <a:chOff x="0" y="0"/>
          <a:chExt cx="0" cy="0"/>
        </a:xfrm>
      </p:grpSpPr>
      <p:sp>
        <p:nvSpPr>
          <p:cNvPr id="2" name="Text 0"/>
          <p:cNvSpPr txBox="1"/>
          <p:nvPr/>
        </p:nvSpPr>
        <p:spPr>
          <a:xfrm>
            <a:off x="566928" y="6400800"/>
            <a:ext cx="6400800" cy="274320"/>
          </a:xfrm>
          <a:prstGeom prst="rect">
            <a:avLst/>
          </a:prstGeom>
          <a:noFill/>
          <a:ln/>
        </p:spPr>
        <p:txBody>
          <a:bodyPr wrap="square" lIns="0" tIns="0" rIns="0" bIns="0" rtlCol="0" anchor="ctr"/>
          <a:lstStyle/>
          <a:p>
            <a:pPr indent="0" marL="0">
              <a:buNone/>
            </a:pPr>
            <a:r>
              <a:rPr lang="en-US" sz="900" dirty="0">
                <a:solidFill>
                  <a:srgbClr val="8A8F98"/>
                </a:solidFill>
                <a:latin typeface="Arial" pitchFamily="34" charset="0"/>
                <a:ea typeface="Arial" pitchFamily="34" charset="-122"/>
                <a:cs typeface="Arial" pitchFamily="34" charset="-120"/>
              </a:rPr>
              <a:t>HỆ THỐNG HỎI ĐÁP CÓ CĂN CỨ  ·  Báo cáo đồ án</a:t>
            </a:r>
            <a:endParaRPr lang="en-US" sz="900" dirty="0"/>
          </a:p>
        </p:txBody>
      </p:sp>
      <p:sp>
        <p:nvSpPr>
          <p:cNvPr id="3" name="Text 1"/>
          <p:cNvSpPr txBox="1"/>
          <p:nvPr/>
        </p:nvSpPr>
        <p:spPr>
          <a:xfrm>
            <a:off x="10972800" y="6400800"/>
            <a:ext cx="658368" cy="274320"/>
          </a:xfrm>
          <a:prstGeom prst="rect">
            <a:avLst/>
          </a:prstGeom>
          <a:noFill/>
          <a:ln/>
        </p:spPr>
        <p:txBody>
          <a:bodyPr wrap="square" lIns="0" tIns="0" rIns="0" bIns="0" rtlCol="0" anchor="ctr"/>
          <a:lstStyle/>
          <a:p>
            <a:pPr algn="r" indent="0" marL="0">
              <a:buNone/>
            </a:pPr>
            <a:r>
              <a:rPr lang="en-US" sz="900" dirty="0">
                <a:solidFill>
                  <a:srgbClr val="8A8F98"/>
                </a:solidFill>
                <a:latin typeface="Arial" pitchFamily="34" charset="0"/>
                <a:ea typeface="Arial" pitchFamily="34" charset="-122"/>
                <a:cs typeface="Arial" pitchFamily="34" charset="-120"/>
              </a:rPr>
              <a:t>10</a:t>
            </a:r>
            <a:endParaRPr lang="en-US" sz="900" dirty="0"/>
          </a:p>
        </p:txBody>
      </p:sp>
      <p:sp>
        <p:nvSpPr>
          <p:cNvPr id="4" name="Text 2"/>
          <p:cNvSpPr txBox="1"/>
          <p:nvPr/>
        </p:nvSpPr>
        <p:spPr>
          <a:xfrm>
            <a:off x="566928" y="384048"/>
            <a:ext cx="10881360" cy="777240"/>
          </a:xfrm>
          <a:prstGeom prst="rect">
            <a:avLst/>
          </a:prstGeom>
          <a:noFill/>
          <a:ln/>
        </p:spPr>
        <p:txBody>
          <a:bodyPr wrap="square" lIns="0" tIns="0" rIns="0" bIns="0" rtlCol="0" anchor="t"/>
          <a:lstStyle/>
          <a:p>
            <a:pPr indent="0" marL="0">
              <a:lnSpc>
                <a:spcPct val="108000"/>
              </a:lnSpc>
              <a:buNone/>
            </a:pPr>
            <a:r>
              <a:rPr lang="en-US" sz="3200" b="1" dirty="0">
                <a:solidFill>
                  <a:srgbClr val="132B5E"/>
                </a:solidFill>
                <a:latin typeface="Arial" pitchFamily="34" charset="0"/>
                <a:ea typeface="Arial" pitchFamily="34" charset="-122"/>
                <a:cs typeface="Arial" pitchFamily="34" charset="-120"/>
              </a:rPr>
              <a:t>ĐƯỜNG ĐI CỦA MỘT CÂU HỎI</a:t>
            </a:r>
            <a:endParaRPr lang="en-US" sz="3200" dirty="0"/>
          </a:p>
        </p:txBody>
      </p:sp>
      <p:sp>
        <p:nvSpPr>
          <p:cNvPr id="5" name="Text 3"/>
          <p:cNvSpPr txBox="1"/>
          <p:nvPr/>
        </p:nvSpPr>
        <p:spPr>
          <a:xfrm>
            <a:off x="566928" y="1234440"/>
            <a:ext cx="10881360" cy="548640"/>
          </a:xfrm>
          <a:prstGeom prst="rect">
            <a:avLst/>
          </a:prstGeom>
          <a:noFill/>
          <a:ln/>
        </p:spPr>
        <p:txBody>
          <a:bodyPr wrap="square" lIns="0" tIns="0" rIns="0" bIns="0" rtlCol="0" anchor="t"/>
          <a:lstStyle/>
          <a:p>
            <a:pPr indent="0" marL="0">
              <a:lnSpc>
                <a:spcPct val="128000"/>
              </a:lnSpc>
              <a:buNone/>
            </a:pPr>
            <a:r>
              <a:rPr lang="en-US" sz="1450" dirty="0">
                <a:solidFill>
                  <a:srgbClr val="1F3A6E"/>
                </a:solidFill>
                <a:latin typeface="Arial" pitchFamily="34" charset="0"/>
                <a:ea typeface="Arial" pitchFamily="34" charset="-122"/>
                <a:cs typeface="Arial" pitchFamily="34" charset="-120"/>
              </a:rPr>
              <a:t>Truy hồi, hợp nhất, xếp hạng lại, dựng ngữ cảnh, chặn nếu thiếu bằng chứng, sinh câu trả lời, kiểm chứng rồi mới trả về.</a:t>
            </a:r>
            <a:endParaRPr lang="en-US" sz="1450" dirty="0"/>
          </a:p>
        </p:txBody>
      </p:sp>
      <p:sp>
        <p:nvSpPr>
          <p:cNvPr id="6" name="Shape 4"/>
          <p:cNvSpPr/>
          <p:nvPr/>
        </p:nvSpPr>
        <p:spPr>
          <a:xfrm>
            <a:off x="566928" y="2148840"/>
            <a:ext cx="1345474" cy="1051560"/>
          </a:xfrm>
          <a:prstGeom prst="rect">
            <a:avLst/>
          </a:prstGeom>
          <a:solidFill>
            <a:srgbClr val="8CC0E4"/>
          </a:solidFill>
          <a:ln/>
        </p:spPr>
      </p:sp>
      <p:sp>
        <p:nvSpPr>
          <p:cNvPr id="7" name="Text 5"/>
          <p:cNvSpPr txBox="1"/>
          <p:nvPr/>
        </p:nvSpPr>
        <p:spPr>
          <a:xfrm>
            <a:off x="621792" y="2148840"/>
            <a:ext cx="1235746" cy="1051560"/>
          </a:xfrm>
          <a:prstGeom prst="rect">
            <a:avLst/>
          </a:prstGeom>
          <a:noFill/>
          <a:ln/>
        </p:spPr>
        <p:txBody>
          <a:bodyPr wrap="square" lIns="0" tIns="0" rIns="0" bIns="0" rtlCol="0" anchor="ctr"/>
          <a:lstStyle/>
          <a:p>
            <a:pPr algn="ctr" indent="0" marL="0">
              <a:lnSpc>
                <a:spcPct val="110000"/>
              </a:lnSpc>
              <a:buNone/>
            </a:pPr>
            <a:r>
              <a:rPr lang="en-US" sz="1100" b="1" dirty="0">
                <a:solidFill>
                  <a:srgbClr val="132B5E"/>
                </a:solidFill>
                <a:latin typeface="Arial" pitchFamily="34" charset="0"/>
                <a:ea typeface="Arial" pitchFamily="34" charset="-122"/>
                <a:cs typeface="Arial" pitchFamily="34" charset="-120"/>
              </a:rPr>
              <a:t>TRUY HỒI</a:t>
            </a:r>
            <a:endParaRPr lang="en-US" sz="1100" dirty="0"/>
          </a:p>
          <a:p>
            <a:pPr algn="ctr" indent="0" marL="0">
              <a:lnSpc>
                <a:spcPct val="110000"/>
              </a:lnSpc>
              <a:buNone/>
            </a:pPr>
            <a:r>
              <a:rPr lang="en-US" sz="1100" b="1" dirty="0">
                <a:solidFill>
                  <a:srgbClr val="132B5E"/>
                </a:solidFill>
                <a:latin typeface="Arial" pitchFamily="34" charset="0"/>
                <a:ea typeface="Arial" pitchFamily="34" charset="-122"/>
                <a:cs typeface="Arial" pitchFamily="34" charset="-120"/>
              </a:rPr>
              <a:t>3 nguồn</a:t>
            </a:r>
            <a:endParaRPr lang="en-US" sz="1100" dirty="0"/>
          </a:p>
        </p:txBody>
      </p:sp>
      <p:sp>
        <p:nvSpPr>
          <p:cNvPr id="8" name="Shape 6"/>
          <p:cNvSpPr/>
          <p:nvPr/>
        </p:nvSpPr>
        <p:spPr>
          <a:xfrm>
            <a:off x="1953550" y="2537460"/>
            <a:ext cx="192024" cy="274320"/>
          </a:xfrm>
          <a:prstGeom prst="rightArrow">
            <a:avLst/>
          </a:prstGeom>
          <a:solidFill>
            <a:srgbClr val="132B5E"/>
          </a:solidFill>
          <a:ln w="12700">
            <a:solidFill>
              <a:srgbClr val="132B5E"/>
            </a:solidFill>
            <a:prstDash val="solid"/>
          </a:ln>
        </p:spPr>
      </p:sp>
      <p:sp>
        <p:nvSpPr>
          <p:cNvPr id="9" name="Shape 7"/>
          <p:cNvSpPr/>
          <p:nvPr/>
        </p:nvSpPr>
        <p:spPr>
          <a:xfrm>
            <a:off x="2186722" y="2148840"/>
            <a:ext cx="1345474" cy="1051560"/>
          </a:xfrm>
          <a:prstGeom prst="rect">
            <a:avLst/>
          </a:prstGeom>
          <a:solidFill>
            <a:srgbClr val="132B5E"/>
          </a:solidFill>
          <a:ln/>
        </p:spPr>
      </p:sp>
      <p:sp>
        <p:nvSpPr>
          <p:cNvPr id="10" name="Text 8"/>
          <p:cNvSpPr txBox="1"/>
          <p:nvPr/>
        </p:nvSpPr>
        <p:spPr>
          <a:xfrm>
            <a:off x="2241586" y="2148840"/>
            <a:ext cx="1235746" cy="1051560"/>
          </a:xfrm>
          <a:prstGeom prst="rect">
            <a:avLst/>
          </a:prstGeom>
          <a:noFill/>
          <a:ln/>
        </p:spPr>
        <p:txBody>
          <a:bodyPr wrap="square" lIns="0" tIns="0" rIns="0" bIns="0" rtlCol="0" anchor="ctr"/>
          <a:lstStyle/>
          <a:p>
            <a:pPr algn="ctr" indent="0" marL="0">
              <a:lnSpc>
                <a:spcPct val="110000"/>
              </a:lnSpc>
              <a:buNone/>
            </a:pPr>
            <a:r>
              <a:rPr lang="en-US" sz="1100" b="1" dirty="0">
                <a:solidFill>
                  <a:srgbClr val="FFFFFF"/>
                </a:solidFill>
                <a:latin typeface="Arial" pitchFamily="34" charset="0"/>
                <a:ea typeface="Arial" pitchFamily="34" charset="-122"/>
                <a:cs typeface="Arial" pitchFamily="34" charset="-120"/>
              </a:rPr>
              <a:t>HỢP NHẤT</a:t>
            </a:r>
            <a:endParaRPr lang="en-US" sz="1100" dirty="0"/>
          </a:p>
          <a:p>
            <a:pPr algn="ctr" indent="0" marL="0">
              <a:lnSpc>
                <a:spcPct val="110000"/>
              </a:lnSpc>
              <a:buNone/>
            </a:pPr>
            <a:r>
              <a:rPr lang="en-US" sz="1100" b="1" dirty="0">
                <a:solidFill>
                  <a:srgbClr val="FFFFFF"/>
                </a:solidFill>
                <a:latin typeface="Arial" pitchFamily="34" charset="0"/>
                <a:ea typeface="Arial" pitchFamily="34" charset="-122"/>
                <a:cs typeface="Arial" pitchFamily="34" charset="-120"/>
              </a:rPr>
              <a:t>RRF</a:t>
            </a:r>
            <a:endParaRPr lang="en-US" sz="1100" dirty="0"/>
          </a:p>
        </p:txBody>
      </p:sp>
      <p:sp>
        <p:nvSpPr>
          <p:cNvPr id="11" name="Shape 9"/>
          <p:cNvSpPr/>
          <p:nvPr/>
        </p:nvSpPr>
        <p:spPr>
          <a:xfrm>
            <a:off x="3573345" y="2537460"/>
            <a:ext cx="192024" cy="274320"/>
          </a:xfrm>
          <a:prstGeom prst="rightArrow">
            <a:avLst/>
          </a:prstGeom>
          <a:solidFill>
            <a:srgbClr val="132B5E"/>
          </a:solidFill>
          <a:ln w="12700">
            <a:solidFill>
              <a:srgbClr val="132B5E"/>
            </a:solidFill>
            <a:prstDash val="solid"/>
          </a:ln>
        </p:spPr>
      </p:sp>
      <p:sp>
        <p:nvSpPr>
          <p:cNvPr id="12" name="Shape 10"/>
          <p:cNvSpPr/>
          <p:nvPr/>
        </p:nvSpPr>
        <p:spPr>
          <a:xfrm>
            <a:off x="3806517" y="2148840"/>
            <a:ext cx="1345474" cy="1051560"/>
          </a:xfrm>
          <a:prstGeom prst="rect">
            <a:avLst/>
          </a:prstGeom>
          <a:solidFill>
            <a:srgbClr val="8CC0E4"/>
          </a:solidFill>
          <a:ln/>
        </p:spPr>
      </p:sp>
      <p:sp>
        <p:nvSpPr>
          <p:cNvPr id="13" name="Text 11"/>
          <p:cNvSpPr txBox="1"/>
          <p:nvPr/>
        </p:nvSpPr>
        <p:spPr>
          <a:xfrm>
            <a:off x="3861381" y="2148840"/>
            <a:ext cx="1235746" cy="1051560"/>
          </a:xfrm>
          <a:prstGeom prst="rect">
            <a:avLst/>
          </a:prstGeom>
          <a:noFill/>
          <a:ln/>
        </p:spPr>
        <p:txBody>
          <a:bodyPr wrap="square" lIns="0" tIns="0" rIns="0" bIns="0" rtlCol="0" anchor="ctr"/>
          <a:lstStyle/>
          <a:p>
            <a:pPr algn="ctr" indent="0" marL="0">
              <a:lnSpc>
                <a:spcPct val="110000"/>
              </a:lnSpc>
              <a:buNone/>
            </a:pPr>
            <a:r>
              <a:rPr lang="en-US" sz="1100" b="1" dirty="0">
                <a:solidFill>
                  <a:srgbClr val="132B5E"/>
                </a:solidFill>
                <a:latin typeface="Arial" pitchFamily="34" charset="0"/>
                <a:ea typeface="Arial" pitchFamily="34" charset="-122"/>
                <a:cs typeface="Arial" pitchFamily="34" charset="-120"/>
              </a:rPr>
              <a:t>XẾP HẠNG</a:t>
            </a:r>
            <a:endParaRPr lang="en-US" sz="1100" dirty="0"/>
          </a:p>
          <a:p>
            <a:pPr algn="ctr" indent="0" marL="0">
              <a:lnSpc>
                <a:spcPct val="110000"/>
              </a:lnSpc>
              <a:buNone/>
            </a:pPr>
            <a:r>
              <a:rPr lang="en-US" sz="1100" b="1" dirty="0">
                <a:solidFill>
                  <a:srgbClr val="132B5E"/>
                </a:solidFill>
                <a:latin typeface="Arial" pitchFamily="34" charset="0"/>
                <a:ea typeface="Arial" pitchFamily="34" charset="-122"/>
                <a:cs typeface="Arial" pitchFamily="34" charset="-120"/>
              </a:rPr>
              <a:t>LẠI</a:t>
            </a:r>
            <a:endParaRPr lang="en-US" sz="1100" dirty="0"/>
          </a:p>
        </p:txBody>
      </p:sp>
      <p:sp>
        <p:nvSpPr>
          <p:cNvPr id="14" name="Shape 12"/>
          <p:cNvSpPr/>
          <p:nvPr/>
        </p:nvSpPr>
        <p:spPr>
          <a:xfrm>
            <a:off x="5193139" y="2537460"/>
            <a:ext cx="192024" cy="274320"/>
          </a:xfrm>
          <a:prstGeom prst="rightArrow">
            <a:avLst/>
          </a:prstGeom>
          <a:solidFill>
            <a:srgbClr val="132B5E"/>
          </a:solidFill>
          <a:ln w="12700">
            <a:solidFill>
              <a:srgbClr val="132B5E"/>
            </a:solidFill>
            <a:prstDash val="solid"/>
          </a:ln>
        </p:spPr>
      </p:sp>
      <p:sp>
        <p:nvSpPr>
          <p:cNvPr id="15" name="Shape 13"/>
          <p:cNvSpPr/>
          <p:nvPr/>
        </p:nvSpPr>
        <p:spPr>
          <a:xfrm>
            <a:off x="5426311" y="2148840"/>
            <a:ext cx="1345474" cy="1051560"/>
          </a:xfrm>
          <a:prstGeom prst="rect">
            <a:avLst/>
          </a:prstGeom>
          <a:solidFill>
            <a:srgbClr val="132B5E"/>
          </a:solidFill>
          <a:ln/>
        </p:spPr>
      </p:sp>
      <p:sp>
        <p:nvSpPr>
          <p:cNvPr id="16" name="Text 14"/>
          <p:cNvSpPr txBox="1"/>
          <p:nvPr/>
        </p:nvSpPr>
        <p:spPr>
          <a:xfrm>
            <a:off x="5481175" y="2148840"/>
            <a:ext cx="1235746" cy="1051560"/>
          </a:xfrm>
          <a:prstGeom prst="rect">
            <a:avLst/>
          </a:prstGeom>
          <a:noFill/>
          <a:ln/>
        </p:spPr>
        <p:txBody>
          <a:bodyPr wrap="square" lIns="0" tIns="0" rIns="0" bIns="0" rtlCol="0" anchor="ctr"/>
          <a:lstStyle/>
          <a:p>
            <a:pPr algn="ctr" indent="0" marL="0">
              <a:lnSpc>
                <a:spcPct val="110000"/>
              </a:lnSpc>
              <a:buNone/>
            </a:pPr>
            <a:r>
              <a:rPr lang="en-US" sz="1100" b="1" dirty="0">
                <a:solidFill>
                  <a:srgbClr val="FFFFFF"/>
                </a:solidFill>
                <a:latin typeface="Arial" pitchFamily="34" charset="0"/>
                <a:ea typeface="Arial" pitchFamily="34" charset="-122"/>
                <a:cs typeface="Arial" pitchFamily="34" charset="-120"/>
              </a:rPr>
              <a:t>DỰNG</a:t>
            </a:r>
            <a:endParaRPr lang="en-US" sz="1100" dirty="0"/>
          </a:p>
          <a:p>
            <a:pPr algn="ctr" indent="0" marL="0">
              <a:lnSpc>
                <a:spcPct val="110000"/>
              </a:lnSpc>
              <a:buNone/>
            </a:pPr>
            <a:r>
              <a:rPr lang="en-US" sz="1100" b="1" dirty="0">
                <a:solidFill>
                  <a:srgbClr val="FFFFFF"/>
                </a:solidFill>
                <a:latin typeface="Arial" pitchFamily="34" charset="0"/>
                <a:ea typeface="Arial" pitchFamily="34" charset="-122"/>
                <a:cs typeface="Arial" pitchFamily="34" charset="-120"/>
              </a:rPr>
              <a:t>NGỮ CẢNH</a:t>
            </a:r>
            <a:endParaRPr lang="en-US" sz="1100" dirty="0"/>
          </a:p>
        </p:txBody>
      </p:sp>
      <p:sp>
        <p:nvSpPr>
          <p:cNvPr id="17" name="Shape 15"/>
          <p:cNvSpPr/>
          <p:nvPr/>
        </p:nvSpPr>
        <p:spPr>
          <a:xfrm>
            <a:off x="6812933" y="2537460"/>
            <a:ext cx="192024" cy="274320"/>
          </a:xfrm>
          <a:prstGeom prst="rightArrow">
            <a:avLst/>
          </a:prstGeom>
          <a:solidFill>
            <a:srgbClr val="132B5E"/>
          </a:solidFill>
          <a:ln w="12700">
            <a:solidFill>
              <a:srgbClr val="132B5E"/>
            </a:solidFill>
            <a:prstDash val="solid"/>
          </a:ln>
        </p:spPr>
      </p:sp>
      <p:sp>
        <p:nvSpPr>
          <p:cNvPr id="18" name="Shape 16"/>
          <p:cNvSpPr/>
          <p:nvPr/>
        </p:nvSpPr>
        <p:spPr>
          <a:xfrm>
            <a:off x="7046105" y="2148840"/>
            <a:ext cx="1345474" cy="1051560"/>
          </a:xfrm>
          <a:prstGeom prst="rect">
            <a:avLst/>
          </a:prstGeom>
          <a:solidFill>
            <a:srgbClr val="8CC0E4"/>
          </a:solidFill>
          <a:ln/>
        </p:spPr>
      </p:sp>
      <p:sp>
        <p:nvSpPr>
          <p:cNvPr id="19" name="Text 17"/>
          <p:cNvSpPr txBox="1"/>
          <p:nvPr/>
        </p:nvSpPr>
        <p:spPr>
          <a:xfrm>
            <a:off x="7100969" y="2148840"/>
            <a:ext cx="1235746" cy="1051560"/>
          </a:xfrm>
          <a:prstGeom prst="rect">
            <a:avLst/>
          </a:prstGeom>
          <a:noFill/>
          <a:ln/>
        </p:spPr>
        <p:txBody>
          <a:bodyPr wrap="square" lIns="0" tIns="0" rIns="0" bIns="0" rtlCol="0" anchor="ctr"/>
          <a:lstStyle/>
          <a:p>
            <a:pPr algn="ctr" indent="0" marL="0">
              <a:lnSpc>
                <a:spcPct val="110000"/>
              </a:lnSpc>
              <a:buNone/>
            </a:pPr>
            <a:r>
              <a:rPr lang="en-US" sz="1100" b="1" dirty="0">
                <a:solidFill>
                  <a:srgbClr val="132B5E"/>
                </a:solidFill>
                <a:latin typeface="Arial" pitchFamily="34" charset="0"/>
                <a:ea typeface="Arial" pitchFamily="34" charset="-122"/>
                <a:cs typeface="Arial" pitchFamily="34" charset="-120"/>
              </a:rPr>
              <a:t>CỔNG</a:t>
            </a:r>
            <a:endParaRPr lang="en-US" sz="1100" dirty="0"/>
          </a:p>
          <a:p>
            <a:pPr algn="ctr" indent="0" marL="0">
              <a:lnSpc>
                <a:spcPct val="110000"/>
              </a:lnSpc>
              <a:buNone/>
            </a:pPr>
            <a:r>
              <a:rPr lang="en-US" sz="1100" b="1" dirty="0">
                <a:solidFill>
                  <a:srgbClr val="132B5E"/>
                </a:solidFill>
                <a:latin typeface="Arial" pitchFamily="34" charset="0"/>
                <a:ea typeface="Arial" pitchFamily="34" charset="-122"/>
                <a:cs typeface="Arial" pitchFamily="34" charset="-120"/>
              </a:rPr>
              <a:t>BẰNG CHỨNG</a:t>
            </a:r>
            <a:endParaRPr lang="en-US" sz="1100" dirty="0"/>
          </a:p>
        </p:txBody>
      </p:sp>
      <p:sp>
        <p:nvSpPr>
          <p:cNvPr id="20" name="Shape 18"/>
          <p:cNvSpPr/>
          <p:nvPr/>
        </p:nvSpPr>
        <p:spPr>
          <a:xfrm>
            <a:off x="8432727" y="2537460"/>
            <a:ext cx="192024" cy="274320"/>
          </a:xfrm>
          <a:prstGeom prst="rightArrow">
            <a:avLst/>
          </a:prstGeom>
          <a:solidFill>
            <a:srgbClr val="132B5E"/>
          </a:solidFill>
          <a:ln w="12700">
            <a:solidFill>
              <a:srgbClr val="132B5E"/>
            </a:solidFill>
            <a:prstDash val="solid"/>
          </a:ln>
        </p:spPr>
      </p:sp>
      <p:sp>
        <p:nvSpPr>
          <p:cNvPr id="21" name="Shape 19"/>
          <p:cNvSpPr/>
          <p:nvPr/>
        </p:nvSpPr>
        <p:spPr>
          <a:xfrm>
            <a:off x="8665899" y="2148840"/>
            <a:ext cx="1345474" cy="1051560"/>
          </a:xfrm>
          <a:prstGeom prst="rect">
            <a:avLst/>
          </a:prstGeom>
          <a:solidFill>
            <a:srgbClr val="132B5E"/>
          </a:solidFill>
          <a:ln/>
        </p:spPr>
      </p:sp>
      <p:sp>
        <p:nvSpPr>
          <p:cNvPr id="22" name="Text 20"/>
          <p:cNvSpPr txBox="1"/>
          <p:nvPr/>
        </p:nvSpPr>
        <p:spPr>
          <a:xfrm>
            <a:off x="8720763" y="2148840"/>
            <a:ext cx="1235746" cy="1051560"/>
          </a:xfrm>
          <a:prstGeom prst="rect">
            <a:avLst/>
          </a:prstGeom>
          <a:noFill/>
          <a:ln/>
        </p:spPr>
        <p:txBody>
          <a:bodyPr wrap="square" lIns="0" tIns="0" rIns="0" bIns="0" rtlCol="0" anchor="ctr"/>
          <a:lstStyle/>
          <a:p>
            <a:pPr algn="ctr" indent="0" marL="0">
              <a:lnSpc>
                <a:spcPct val="110000"/>
              </a:lnSpc>
              <a:buNone/>
            </a:pPr>
            <a:r>
              <a:rPr lang="en-US" sz="1100" b="1" dirty="0">
                <a:solidFill>
                  <a:srgbClr val="FFFFFF"/>
                </a:solidFill>
                <a:latin typeface="Arial" pitchFamily="34" charset="0"/>
                <a:ea typeface="Arial" pitchFamily="34" charset="-122"/>
                <a:cs typeface="Arial" pitchFamily="34" charset="-120"/>
              </a:rPr>
              <a:t>SINH CÂU</a:t>
            </a:r>
            <a:endParaRPr lang="en-US" sz="1100" dirty="0"/>
          </a:p>
          <a:p>
            <a:pPr algn="ctr" indent="0" marL="0">
              <a:lnSpc>
                <a:spcPct val="110000"/>
              </a:lnSpc>
              <a:buNone/>
            </a:pPr>
            <a:r>
              <a:rPr lang="en-US" sz="1100" b="1" dirty="0">
                <a:solidFill>
                  <a:srgbClr val="FFFFFF"/>
                </a:solidFill>
                <a:latin typeface="Arial" pitchFamily="34" charset="0"/>
                <a:ea typeface="Arial" pitchFamily="34" charset="-122"/>
                <a:cs typeface="Arial" pitchFamily="34" charset="-120"/>
              </a:rPr>
              <a:t>TRẢ LỜI</a:t>
            </a:r>
            <a:endParaRPr lang="en-US" sz="1100" dirty="0"/>
          </a:p>
        </p:txBody>
      </p:sp>
      <p:sp>
        <p:nvSpPr>
          <p:cNvPr id="23" name="Shape 21"/>
          <p:cNvSpPr/>
          <p:nvPr/>
        </p:nvSpPr>
        <p:spPr>
          <a:xfrm>
            <a:off x="10052522" y="2537460"/>
            <a:ext cx="192024" cy="274320"/>
          </a:xfrm>
          <a:prstGeom prst="rightArrow">
            <a:avLst/>
          </a:prstGeom>
          <a:solidFill>
            <a:srgbClr val="132B5E"/>
          </a:solidFill>
          <a:ln w="12700">
            <a:solidFill>
              <a:srgbClr val="132B5E"/>
            </a:solidFill>
            <a:prstDash val="solid"/>
          </a:ln>
        </p:spPr>
      </p:sp>
      <p:sp>
        <p:nvSpPr>
          <p:cNvPr id="24" name="Shape 22"/>
          <p:cNvSpPr/>
          <p:nvPr/>
        </p:nvSpPr>
        <p:spPr>
          <a:xfrm>
            <a:off x="10285694" y="2148840"/>
            <a:ext cx="1345474" cy="1051560"/>
          </a:xfrm>
          <a:prstGeom prst="rect">
            <a:avLst/>
          </a:prstGeom>
          <a:solidFill>
            <a:srgbClr val="8CC0E4"/>
          </a:solidFill>
          <a:ln/>
        </p:spPr>
      </p:sp>
      <p:sp>
        <p:nvSpPr>
          <p:cNvPr id="25" name="Text 23"/>
          <p:cNvSpPr txBox="1"/>
          <p:nvPr/>
        </p:nvSpPr>
        <p:spPr>
          <a:xfrm>
            <a:off x="10340558" y="2148840"/>
            <a:ext cx="1235746" cy="1051560"/>
          </a:xfrm>
          <a:prstGeom prst="rect">
            <a:avLst/>
          </a:prstGeom>
          <a:noFill/>
          <a:ln/>
        </p:spPr>
        <p:txBody>
          <a:bodyPr wrap="square" lIns="0" tIns="0" rIns="0" bIns="0" rtlCol="0" anchor="ctr"/>
          <a:lstStyle/>
          <a:p>
            <a:pPr algn="ctr" indent="0" marL="0">
              <a:lnSpc>
                <a:spcPct val="110000"/>
              </a:lnSpc>
              <a:buNone/>
            </a:pPr>
            <a:r>
              <a:rPr lang="en-US" sz="1100" b="1" dirty="0">
                <a:solidFill>
                  <a:srgbClr val="132B5E"/>
                </a:solidFill>
                <a:latin typeface="Arial" pitchFamily="34" charset="0"/>
                <a:ea typeface="Arial" pitchFamily="34" charset="-122"/>
                <a:cs typeface="Arial" pitchFamily="34" charset="-120"/>
              </a:rPr>
              <a:t>KIỂM CHỨNG</a:t>
            </a:r>
            <a:endParaRPr lang="en-US" sz="1100" dirty="0"/>
          </a:p>
          <a:p>
            <a:pPr algn="ctr" indent="0" marL="0">
              <a:lnSpc>
                <a:spcPct val="110000"/>
              </a:lnSpc>
              <a:buNone/>
            </a:pPr>
            <a:r>
              <a:rPr lang="en-US" sz="1100" b="1" dirty="0">
                <a:solidFill>
                  <a:srgbClr val="132B5E"/>
                </a:solidFill>
                <a:latin typeface="Arial" pitchFamily="34" charset="0"/>
                <a:ea typeface="Arial" pitchFamily="34" charset="-122"/>
                <a:cs typeface="Arial" pitchFamily="34" charset="-120"/>
              </a:rPr>
              <a:t>TRÍCH DẪN</a:t>
            </a:r>
            <a:endParaRPr lang="en-US" sz="1100" dirty="0"/>
          </a:p>
        </p:txBody>
      </p:sp>
      <p:sp>
        <p:nvSpPr>
          <p:cNvPr id="26" name="Text 24"/>
          <p:cNvSpPr txBox="1"/>
          <p:nvPr/>
        </p:nvSpPr>
        <p:spPr>
          <a:xfrm>
            <a:off x="566928" y="3703320"/>
            <a:ext cx="4572000" cy="320040"/>
          </a:xfrm>
          <a:prstGeom prst="rect">
            <a:avLst/>
          </a:prstGeom>
          <a:noFill/>
          <a:ln/>
        </p:spPr>
        <p:txBody>
          <a:bodyPr wrap="square" lIns="0" tIns="0" rIns="0" bIns="0" rtlCol="0" anchor="ctr"/>
          <a:lstStyle/>
          <a:p>
            <a:pPr indent="0" marL="0">
              <a:buNone/>
            </a:pPr>
            <a:r>
              <a:rPr lang="en-US" sz="1300" b="1" dirty="0">
                <a:solidFill>
                  <a:srgbClr val="132B5E"/>
                </a:solidFill>
                <a:latin typeface="Arial" pitchFamily="34" charset="0"/>
                <a:ea typeface="Arial" pitchFamily="34" charset="-122"/>
                <a:cs typeface="Arial" pitchFamily="34" charset="-120"/>
              </a:rPr>
              <a:t>Trạng thái trả về</a:t>
            </a:r>
            <a:endParaRPr lang="en-US" sz="1300" dirty="0"/>
          </a:p>
        </p:txBody>
      </p:sp>
      <p:sp>
        <p:nvSpPr>
          <p:cNvPr id="27" name="Shape 25"/>
          <p:cNvSpPr/>
          <p:nvPr/>
        </p:nvSpPr>
        <p:spPr>
          <a:xfrm>
            <a:off x="566928" y="4114800"/>
            <a:ext cx="2606040" cy="1234440"/>
          </a:xfrm>
          <a:prstGeom prst="rect">
            <a:avLst/>
          </a:prstGeom>
          <a:solidFill>
            <a:srgbClr val="8CC0E4"/>
          </a:solidFill>
          <a:ln/>
        </p:spPr>
      </p:sp>
      <p:sp>
        <p:nvSpPr>
          <p:cNvPr id="28" name="Text 26"/>
          <p:cNvSpPr txBox="1"/>
          <p:nvPr/>
        </p:nvSpPr>
        <p:spPr>
          <a:xfrm>
            <a:off x="768096" y="4114800"/>
            <a:ext cx="2203704" cy="1234440"/>
          </a:xfrm>
          <a:prstGeom prst="rect">
            <a:avLst/>
          </a:prstGeom>
          <a:noFill/>
          <a:ln/>
        </p:spPr>
        <p:txBody>
          <a:bodyPr wrap="square" lIns="0" tIns="0" rIns="0" bIns="0" rtlCol="0" anchor="ctr"/>
          <a:lstStyle/>
          <a:p>
            <a:pPr indent="0" marL="0">
              <a:lnSpc>
                <a:spcPct val="120000"/>
              </a:lnSpc>
              <a:buNone/>
            </a:pPr>
            <a:r>
              <a:rPr lang="en-US" sz="1150" b="1" dirty="0">
                <a:solidFill>
                  <a:srgbClr val="132B5E"/>
                </a:solidFill>
                <a:latin typeface="Arial" pitchFamily="34" charset="0"/>
                <a:ea typeface="Arial" pitchFamily="34" charset="-122"/>
                <a:cs typeface="Arial" pitchFamily="34" charset="-120"/>
              </a:rPr>
              <a:t>GROUNDED</a:t>
            </a:r>
            <a:endParaRPr lang="en-US" sz="1150" dirty="0"/>
          </a:p>
          <a:p>
            <a:pPr indent="0" marL="0">
              <a:lnSpc>
                <a:spcPct val="120000"/>
              </a:lnSpc>
              <a:buNone/>
            </a:pPr>
            <a:r>
              <a:rPr lang="en-US" sz="1150" dirty="0">
                <a:solidFill>
                  <a:srgbClr val="132B5E"/>
                </a:solidFill>
                <a:latin typeface="Arial" pitchFamily="34" charset="0"/>
                <a:ea typeface="Arial" pitchFamily="34" charset="-122"/>
                <a:cs typeface="Arial" pitchFamily="34" charset="-120"/>
              </a:rPr>
              <a:t>mọi khẳng định có bằng chứng</a:t>
            </a:r>
            <a:endParaRPr lang="en-US" sz="1150" dirty="0"/>
          </a:p>
        </p:txBody>
      </p:sp>
      <p:sp>
        <p:nvSpPr>
          <p:cNvPr id="29" name="Shape 27"/>
          <p:cNvSpPr/>
          <p:nvPr/>
        </p:nvSpPr>
        <p:spPr>
          <a:xfrm>
            <a:off x="3355848" y="4114800"/>
            <a:ext cx="2606040" cy="1234440"/>
          </a:xfrm>
          <a:prstGeom prst="rect">
            <a:avLst/>
          </a:prstGeom>
          <a:solidFill>
            <a:srgbClr val="8CC0E4"/>
          </a:solidFill>
          <a:ln/>
        </p:spPr>
      </p:sp>
      <p:sp>
        <p:nvSpPr>
          <p:cNvPr id="30" name="Text 28"/>
          <p:cNvSpPr txBox="1"/>
          <p:nvPr/>
        </p:nvSpPr>
        <p:spPr>
          <a:xfrm>
            <a:off x="3557016" y="4114800"/>
            <a:ext cx="2203704" cy="1234440"/>
          </a:xfrm>
          <a:prstGeom prst="rect">
            <a:avLst/>
          </a:prstGeom>
          <a:noFill/>
          <a:ln/>
        </p:spPr>
        <p:txBody>
          <a:bodyPr wrap="square" lIns="0" tIns="0" rIns="0" bIns="0" rtlCol="0" anchor="ctr"/>
          <a:lstStyle/>
          <a:p>
            <a:pPr indent="0" marL="0">
              <a:lnSpc>
                <a:spcPct val="120000"/>
              </a:lnSpc>
              <a:buNone/>
            </a:pPr>
            <a:r>
              <a:rPr lang="en-US" sz="1150" b="1" dirty="0">
                <a:solidFill>
                  <a:srgbClr val="132B5E"/>
                </a:solidFill>
                <a:latin typeface="Arial" pitchFamily="34" charset="0"/>
                <a:ea typeface="Arial" pitchFamily="34" charset="-122"/>
                <a:cs typeface="Arial" pitchFamily="34" charset="-120"/>
              </a:rPr>
              <a:t>PARTIALLY_GROUNDED</a:t>
            </a:r>
            <a:endParaRPr lang="en-US" sz="1150" dirty="0"/>
          </a:p>
          <a:p>
            <a:pPr indent="0" marL="0">
              <a:lnSpc>
                <a:spcPct val="120000"/>
              </a:lnSpc>
              <a:buNone/>
            </a:pPr>
            <a:r>
              <a:rPr lang="en-US" sz="1150" dirty="0">
                <a:solidFill>
                  <a:srgbClr val="132B5E"/>
                </a:solidFill>
                <a:latin typeface="Arial" pitchFamily="34" charset="0"/>
                <a:ea typeface="Arial" pitchFamily="34" charset="-122"/>
                <a:cs typeface="Arial" pitchFamily="34" charset="-120"/>
              </a:rPr>
              <a:t>một phần chưa đủ căn cứ</a:t>
            </a:r>
            <a:endParaRPr lang="en-US" sz="1150" dirty="0"/>
          </a:p>
        </p:txBody>
      </p:sp>
      <p:sp>
        <p:nvSpPr>
          <p:cNvPr id="31" name="Shape 29"/>
          <p:cNvSpPr/>
          <p:nvPr/>
        </p:nvSpPr>
        <p:spPr>
          <a:xfrm>
            <a:off x="6144768" y="4114800"/>
            <a:ext cx="2606040" cy="1234440"/>
          </a:xfrm>
          <a:prstGeom prst="rect">
            <a:avLst/>
          </a:prstGeom>
          <a:solidFill>
            <a:srgbClr val="132B5E"/>
          </a:solidFill>
          <a:ln/>
        </p:spPr>
      </p:sp>
      <p:sp>
        <p:nvSpPr>
          <p:cNvPr id="32" name="Text 30"/>
          <p:cNvSpPr txBox="1"/>
          <p:nvPr/>
        </p:nvSpPr>
        <p:spPr>
          <a:xfrm>
            <a:off x="6345936" y="4114800"/>
            <a:ext cx="2203704" cy="1234440"/>
          </a:xfrm>
          <a:prstGeom prst="rect">
            <a:avLst/>
          </a:prstGeom>
          <a:noFill/>
          <a:ln/>
        </p:spPr>
        <p:txBody>
          <a:bodyPr wrap="square" lIns="0" tIns="0" rIns="0" bIns="0" rtlCol="0" anchor="ctr"/>
          <a:lstStyle/>
          <a:p>
            <a:pPr indent="0" marL="0">
              <a:lnSpc>
                <a:spcPct val="120000"/>
              </a:lnSpc>
              <a:buNone/>
            </a:pPr>
            <a:r>
              <a:rPr lang="en-US" sz="1150" b="1" dirty="0">
                <a:solidFill>
                  <a:srgbClr val="FFFFFF"/>
                </a:solidFill>
                <a:latin typeface="Arial" pitchFamily="34" charset="0"/>
                <a:ea typeface="Arial" pitchFamily="34" charset="-122"/>
                <a:cs typeface="Arial" pitchFamily="34" charset="-120"/>
              </a:rPr>
              <a:t>INSUFFICIENT_EVIDENCE</a:t>
            </a:r>
            <a:endParaRPr lang="en-US" sz="1150" dirty="0"/>
          </a:p>
          <a:p>
            <a:pPr indent="0" marL="0">
              <a:lnSpc>
                <a:spcPct val="120000"/>
              </a:lnSpc>
              <a:buNone/>
            </a:pPr>
            <a:r>
              <a:rPr lang="en-US" sz="1150" dirty="0">
                <a:solidFill>
                  <a:srgbClr val="FFFFFF"/>
                </a:solidFill>
                <a:latin typeface="Arial" pitchFamily="34" charset="0"/>
                <a:ea typeface="Arial" pitchFamily="34" charset="-122"/>
                <a:cs typeface="Arial" pitchFamily="34" charset="-120"/>
              </a:rPr>
              <a:t>từ chối, không gọi mô hình</a:t>
            </a:r>
            <a:endParaRPr lang="en-US" sz="1150" dirty="0"/>
          </a:p>
        </p:txBody>
      </p:sp>
      <p:sp>
        <p:nvSpPr>
          <p:cNvPr id="33" name="Shape 31"/>
          <p:cNvSpPr/>
          <p:nvPr/>
        </p:nvSpPr>
        <p:spPr>
          <a:xfrm>
            <a:off x="8933688" y="4114800"/>
            <a:ext cx="2606040" cy="1234440"/>
          </a:xfrm>
          <a:prstGeom prst="rect">
            <a:avLst/>
          </a:prstGeom>
          <a:solidFill>
            <a:srgbClr val="8CC0E4"/>
          </a:solidFill>
          <a:ln/>
        </p:spPr>
      </p:sp>
      <p:sp>
        <p:nvSpPr>
          <p:cNvPr id="34" name="Text 32"/>
          <p:cNvSpPr txBox="1"/>
          <p:nvPr/>
        </p:nvSpPr>
        <p:spPr>
          <a:xfrm>
            <a:off x="9134856" y="4114800"/>
            <a:ext cx="2203704" cy="1234440"/>
          </a:xfrm>
          <a:prstGeom prst="rect">
            <a:avLst/>
          </a:prstGeom>
          <a:noFill/>
          <a:ln/>
        </p:spPr>
        <p:txBody>
          <a:bodyPr wrap="square" lIns="0" tIns="0" rIns="0" bIns="0" rtlCol="0" anchor="ctr"/>
          <a:lstStyle/>
          <a:p>
            <a:pPr indent="0" marL="0">
              <a:lnSpc>
                <a:spcPct val="120000"/>
              </a:lnSpc>
              <a:buNone/>
            </a:pPr>
            <a:r>
              <a:rPr lang="en-US" sz="1150" b="1" dirty="0">
                <a:solidFill>
                  <a:srgbClr val="132B5E"/>
                </a:solidFill>
                <a:latin typeface="Arial" pitchFamily="34" charset="0"/>
                <a:ea typeface="Arial" pitchFamily="34" charset="-122"/>
                <a:cs typeface="Arial" pitchFamily="34" charset="-120"/>
              </a:rPr>
              <a:t>CONFLICTING_EVIDENCE</a:t>
            </a:r>
            <a:endParaRPr lang="en-US" sz="1150" dirty="0"/>
          </a:p>
          <a:p>
            <a:pPr indent="0" marL="0">
              <a:lnSpc>
                <a:spcPct val="120000"/>
              </a:lnSpc>
              <a:buNone/>
            </a:pPr>
            <a:r>
              <a:rPr lang="en-US" sz="1150" dirty="0">
                <a:solidFill>
                  <a:srgbClr val="132B5E"/>
                </a:solidFill>
                <a:latin typeface="Arial" pitchFamily="34" charset="0"/>
                <a:ea typeface="Arial" pitchFamily="34" charset="-122"/>
                <a:cs typeface="Arial" pitchFamily="34" charset="-120"/>
              </a:rPr>
              <a:t>tài liệu mâu thuẫn nhau</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FEFEE"/>
        </a:solidFill>
      </p:bgPr>
    </p:bg>
    <p:spTree>
      <p:nvGrpSpPr>
        <p:cNvPr id="1" name=""/>
        <p:cNvGrpSpPr/>
        <p:nvPr/>
      </p:nvGrpSpPr>
      <p:grpSpPr>
        <a:xfrm>
          <a:off x="0" y="0"/>
          <a:ext cx="0" cy="0"/>
          <a:chOff x="0" y="0"/>
          <a:chExt cx="0" cy="0"/>
        </a:xfrm>
      </p:grpSpPr>
      <p:sp>
        <p:nvSpPr>
          <p:cNvPr id="2" name="Text 0"/>
          <p:cNvSpPr txBox="1"/>
          <p:nvPr/>
        </p:nvSpPr>
        <p:spPr>
          <a:xfrm>
            <a:off x="566928" y="6400800"/>
            <a:ext cx="6400800" cy="274320"/>
          </a:xfrm>
          <a:prstGeom prst="rect">
            <a:avLst/>
          </a:prstGeom>
          <a:noFill/>
          <a:ln/>
        </p:spPr>
        <p:txBody>
          <a:bodyPr wrap="square" lIns="0" tIns="0" rIns="0" bIns="0" rtlCol="0" anchor="ctr"/>
          <a:lstStyle/>
          <a:p>
            <a:pPr indent="0" marL="0">
              <a:buNone/>
            </a:pPr>
            <a:r>
              <a:rPr lang="en-US" sz="900" dirty="0">
                <a:solidFill>
                  <a:srgbClr val="8A8F98"/>
                </a:solidFill>
                <a:latin typeface="Arial" pitchFamily="34" charset="0"/>
                <a:ea typeface="Arial" pitchFamily="34" charset="-122"/>
                <a:cs typeface="Arial" pitchFamily="34" charset="-120"/>
              </a:rPr>
              <a:t>HỆ THỐNG HỎI ĐÁP CÓ CĂN CỨ  ·  Báo cáo đồ án</a:t>
            </a:r>
            <a:endParaRPr lang="en-US" sz="900" dirty="0"/>
          </a:p>
        </p:txBody>
      </p:sp>
      <p:sp>
        <p:nvSpPr>
          <p:cNvPr id="3" name="Text 1"/>
          <p:cNvSpPr txBox="1"/>
          <p:nvPr/>
        </p:nvSpPr>
        <p:spPr>
          <a:xfrm>
            <a:off x="10972800" y="6400800"/>
            <a:ext cx="658368" cy="274320"/>
          </a:xfrm>
          <a:prstGeom prst="rect">
            <a:avLst/>
          </a:prstGeom>
          <a:noFill/>
          <a:ln/>
        </p:spPr>
        <p:txBody>
          <a:bodyPr wrap="square" lIns="0" tIns="0" rIns="0" bIns="0" rtlCol="0" anchor="ctr"/>
          <a:lstStyle/>
          <a:p>
            <a:pPr algn="r" indent="0" marL="0">
              <a:buNone/>
            </a:pPr>
            <a:r>
              <a:rPr lang="en-US" sz="900" dirty="0">
                <a:solidFill>
                  <a:srgbClr val="8A8F98"/>
                </a:solidFill>
                <a:latin typeface="Arial" pitchFamily="34" charset="0"/>
                <a:ea typeface="Arial" pitchFamily="34" charset="-122"/>
                <a:cs typeface="Arial" pitchFamily="34" charset="-120"/>
              </a:rPr>
              <a:t>11</a:t>
            </a:r>
            <a:endParaRPr lang="en-US" sz="900" dirty="0"/>
          </a:p>
        </p:txBody>
      </p:sp>
      <p:sp>
        <p:nvSpPr>
          <p:cNvPr id="4" name="Text 2"/>
          <p:cNvSpPr txBox="1"/>
          <p:nvPr/>
        </p:nvSpPr>
        <p:spPr>
          <a:xfrm>
            <a:off x="566928" y="384048"/>
            <a:ext cx="5303520" cy="1234440"/>
          </a:xfrm>
          <a:prstGeom prst="rect">
            <a:avLst/>
          </a:prstGeom>
          <a:noFill/>
          <a:ln/>
        </p:spPr>
        <p:txBody>
          <a:bodyPr wrap="square" lIns="0" tIns="0" rIns="0" bIns="0" rtlCol="0" anchor="t"/>
          <a:lstStyle/>
          <a:p>
            <a:pPr indent="0" marL="0">
              <a:lnSpc>
                <a:spcPct val="108000"/>
              </a:lnSpc>
              <a:buNone/>
            </a:pPr>
            <a:r>
              <a:rPr lang="en-US" sz="3200" b="1" dirty="0">
                <a:solidFill>
                  <a:srgbClr val="132B5E"/>
                </a:solidFill>
                <a:latin typeface="Arial" pitchFamily="34" charset="0"/>
                <a:ea typeface="Arial" pitchFamily="34" charset="-122"/>
                <a:cs typeface="Arial" pitchFamily="34" charset="-120"/>
              </a:rPr>
              <a:t>TRUY HỒI</a:t>
            </a:r>
            <a:endParaRPr lang="en-US" sz="3200" dirty="0"/>
          </a:p>
          <a:p>
            <a:pPr indent="0" marL="0">
              <a:lnSpc>
                <a:spcPct val="108000"/>
              </a:lnSpc>
              <a:buNone/>
            </a:pPr>
            <a:r>
              <a:rPr lang="en-US" sz="3200" b="1" dirty="0">
                <a:solidFill>
                  <a:srgbClr val="132B5E"/>
                </a:solidFill>
                <a:latin typeface="Arial" pitchFamily="34" charset="0"/>
                <a:ea typeface="Arial" pitchFamily="34" charset="-122"/>
                <a:cs typeface="Arial" pitchFamily="34" charset="-120"/>
              </a:rPr>
              <a:t>BA NGUỒN</a:t>
            </a:r>
            <a:endParaRPr lang="en-US" sz="3200" dirty="0"/>
          </a:p>
        </p:txBody>
      </p:sp>
      <p:sp>
        <p:nvSpPr>
          <p:cNvPr id="5" name="Shape 3"/>
          <p:cNvSpPr/>
          <p:nvPr/>
        </p:nvSpPr>
        <p:spPr>
          <a:xfrm>
            <a:off x="566928" y="1920240"/>
            <a:ext cx="5394960" cy="877824"/>
          </a:xfrm>
          <a:prstGeom prst="parallelogram">
            <a:avLst/>
          </a:prstGeom>
          <a:solidFill>
            <a:srgbClr val="8CC0E4"/>
          </a:solidFill>
          <a:ln w="12700">
            <a:solidFill>
              <a:srgbClr val="8CC0E4"/>
            </a:solidFill>
            <a:prstDash val="solid"/>
          </a:ln>
        </p:spPr>
      </p:sp>
      <p:sp>
        <p:nvSpPr>
          <p:cNvPr id="6" name="Text 4"/>
          <p:cNvSpPr txBox="1"/>
          <p:nvPr/>
        </p:nvSpPr>
        <p:spPr>
          <a:xfrm>
            <a:off x="1024128" y="1920240"/>
            <a:ext cx="4480560" cy="877824"/>
          </a:xfrm>
          <a:prstGeom prst="rect">
            <a:avLst/>
          </a:prstGeom>
          <a:noFill/>
          <a:ln/>
        </p:spPr>
        <p:txBody>
          <a:bodyPr wrap="square" lIns="0" tIns="0" rIns="0" bIns="0" rtlCol="0" anchor="ctr"/>
          <a:lstStyle/>
          <a:p>
            <a:pPr indent="0" marL="0">
              <a:lnSpc>
                <a:spcPct val="120000"/>
              </a:lnSpc>
              <a:buNone/>
            </a:pPr>
            <a:r>
              <a:rPr lang="en-US" sz="1350" b="1" dirty="0">
                <a:solidFill>
                  <a:srgbClr val="132B5E"/>
                </a:solidFill>
                <a:latin typeface="Arial" pitchFamily="34" charset="0"/>
                <a:ea typeface="Arial" pitchFamily="34" charset="-122"/>
                <a:cs typeface="Arial" pitchFamily="34" charset="-120"/>
              </a:rPr>
              <a:t>VECTOR</a:t>
            </a:r>
            <a:endParaRPr lang="en-US" sz="1350" dirty="0"/>
          </a:p>
          <a:p>
            <a:pPr indent="0" marL="0">
              <a:lnSpc>
                <a:spcPct val="120000"/>
              </a:lnSpc>
              <a:buNone/>
            </a:pPr>
            <a:r>
              <a:rPr lang="en-US" sz="1350" dirty="0">
                <a:solidFill>
                  <a:srgbClr val="132B5E"/>
                </a:solidFill>
                <a:latin typeface="Arial" pitchFamily="34" charset="0"/>
                <a:ea typeface="Arial" pitchFamily="34" charset="-122"/>
                <a:cs typeface="Arial" pitchFamily="34" charset="-120"/>
              </a:rPr>
              <a:t>hiểu cách diễn đạt khác nhau của cùng một ý</a:t>
            </a:r>
            <a:endParaRPr lang="en-US" sz="1350" dirty="0"/>
          </a:p>
        </p:txBody>
      </p:sp>
      <p:sp>
        <p:nvSpPr>
          <p:cNvPr id="7" name="Shape 5"/>
          <p:cNvSpPr/>
          <p:nvPr/>
        </p:nvSpPr>
        <p:spPr>
          <a:xfrm>
            <a:off x="566928" y="3017520"/>
            <a:ext cx="5394960" cy="877824"/>
          </a:xfrm>
          <a:prstGeom prst="parallelogram">
            <a:avLst/>
          </a:prstGeom>
          <a:solidFill>
            <a:srgbClr val="8CC0E4"/>
          </a:solidFill>
          <a:ln w="12700">
            <a:solidFill>
              <a:srgbClr val="8CC0E4"/>
            </a:solidFill>
            <a:prstDash val="solid"/>
          </a:ln>
        </p:spPr>
      </p:sp>
      <p:sp>
        <p:nvSpPr>
          <p:cNvPr id="8" name="Text 6"/>
          <p:cNvSpPr txBox="1"/>
          <p:nvPr/>
        </p:nvSpPr>
        <p:spPr>
          <a:xfrm>
            <a:off x="1024128" y="3017520"/>
            <a:ext cx="4480560" cy="877824"/>
          </a:xfrm>
          <a:prstGeom prst="rect">
            <a:avLst/>
          </a:prstGeom>
          <a:noFill/>
          <a:ln/>
        </p:spPr>
        <p:txBody>
          <a:bodyPr wrap="square" lIns="0" tIns="0" rIns="0" bIns="0" rtlCol="0" anchor="ctr"/>
          <a:lstStyle/>
          <a:p>
            <a:pPr indent="0" marL="0">
              <a:lnSpc>
                <a:spcPct val="120000"/>
              </a:lnSpc>
              <a:buNone/>
            </a:pPr>
            <a:r>
              <a:rPr lang="en-US" sz="1350" b="1" dirty="0">
                <a:solidFill>
                  <a:srgbClr val="132B5E"/>
                </a:solidFill>
                <a:latin typeface="Arial" pitchFamily="34" charset="0"/>
                <a:ea typeface="Arial" pitchFamily="34" charset="-122"/>
                <a:cs typeface="Arial" pitchFamily="34" charset="-120"/>
              </a:rPr>
              <a:t>TỪ KHOÁ</a:t>
            </a:r>
            <a:endParaRPr lang="en-US" sz="1350" dirty="0"/>
          </a:p>
          <a:p>
            <a:pPr indent="0" marL="0">
              <a:lnSpc>
                <a:spcPct val="120000"/>
              </a:lnSpc>
              <a:buNone/>
            </a:pPr>
            <a:r>
              <a:rPr lang="en-US" sz="1350" dirty="0">
                <a:solidFill>
                  <a:srgbClr val="132B5E"/>
                </a:solidFill>
                <a:latin typeface="Arial" pitchFamily="34" charset="0"/>
                <a:ea typeface="Arial" pitchFamily="34" charset="-122"/>
                <a:cs typeface="Arial" pitchFamily="34" charset="-120"/>
              </a:rPr>
              <a:t>khớp chính xác mã văn bản, số quyết định, tên riêng</a:t>
            </a:r>
            <a:endParaRPr lang="en-US" sz="1350" dirty="0"/>
          </a:p>
        </p:txBody>
      </p:sp>
      <p:sp>
        <p:nvSpPr>
          <p:cNvPr id="9" name="Shape 7"/>
          <p:cNvSpPr/>
          <p:nvPr/>
        </p:nvSpPr>
        <p:spPr>
          <a:xfrm>
            <a:off x="566928" y="4114800"/>
            <a:ext cx="5394960" cy="877824"/>
          </a:xfrm>
          <a:prstGeom prst="parallelogram">
            <a:avLst/>
          </a:prstGeom>
          <a:solidFill>
            <a:srgbClr val="8CC0E4"/>
          </a:solidFill>
          <a:ln w="12700">
            <a:solidFill>
              <a:srgbClr val="8CC0E4"/>
            </a:solidFill>
            <a:prstDash val="solid"/>
          </a:ln>
        </p:spPr>
      </p:sp>
      <p:sp>
        <p:nvSpPr>
          <p:cNvPr id="10" name="Text 8"/>
          <p:cNvSpPr txBox="1"/>
          <p:nvPr/>
        </p:nvSpPr>
        <p:spPr>
          <a:xfrm>
            <a:off x="1024128" y="4114800"/>
            <a:ext cx="4480560" cy="877824"/>
          </a:xfrm>
          <a:prstGeom prst="rect">
            <a:avLst/>
          </a:prstGeom>
          <a:noFill/>
          <a:ln/>
        </p:spPr>
        <p:txBody>
          <a:bodyPr wrap="square" lIns="0" tIns="0" rIns="0" bIns="0" rtlCol="0" anchor="ctr"/>
          <a:lstStyle/>
          <a:p>
            <a:pPr indent="0" marL="0">
              <a:lnSpc>
                <a:spcPct val="120000"/>
              </a:lnSpc>
              <a:buNone/>
            </a:pPr>
            <a:r>
              <a:rPr lang="en-US" sz="1350" b="1" dirty="0">
                <a:solidFill>
                  <a:srgbClr val="132B5E"/>
                </a:solidFill>
                <a:latin typeface="Arial" pitchFamily="34" charset="0"/>
                <a:ea typeface="Arial" pitchFamily="34" charset="-122"/>
                <a:cs typeface="Arial" pitchFamily="34" charset="-120"/>
              </a:rPr>
              <a:t>ĐỒ THỊ</a:t>
            </a:r>
            <a:endParaRPr lang="en-US" sz="1350" dirty="0"/>
          </a:p>
          <a:p>
            <a:pPr indent="0" marL="0">
              <a:lnSpc>
                <a:spcPct val="120000"/>
              </a:lnSpc>
              <a:buNone/>
            </a:pPr>
            <a:r>
              <a:rPr lang="en-US" sz="1350" dirty="0">
                <a:solidFill>
                  <a:srgbClr val="132B5E"/>
                </a:solidFill>
                <a:latin typeface="Arial" pitchFamily="34" charset="0"/>
                <a:ea typeface="Arial" pitchFamily="34" charset="-122"/>
                <a:cs typeface="Arial" pitchFamily="34" charset="-120"/>
              </a:rPr>
              <a:t>nối nhiều thực thể rải trong nhiều tài liệu</a:t>
            </a:r>
            <a:endParaRPr lang="en-US" sz="1350" dirty="0"/>
          </a:p>
        </p:txBody>
      </p:sp>
      <p:sp>
        <p:nvSpPr>
          <p:cNvPr id="11" name="Text 9"/>
          <p:cNvSpPr txBox="1"/>
          <p:nvPr/>
        </p:nvSpPr>
        <p:spPr>
          <a:xfrm>
            <a:off x="566928" y="5349240"/>
            <a:ext cx="5394960" cy="822960"/>
          </a:xfrm>
          <a:prstGeom prst="rect">
            <a:avLst/>
          </a:prstGeom>
          <a:noFill/>
          <a:ln/>
        </p:spPr>
        <p:txBody>
          <a:bodyPr wrap="square" lIns="0" tIns="0" rIns="0" bIns="0" rtlCol="0" anchor="ctr"/>
          <a:lstStyle/>
          <a:p>
            <a:pPr indent="0" marL="0">
              <a:lnSpc>
                <a:spcPct val="125000"/>
              </a:lnSpc>
              <a:buNone/>
            </a:pPr>
            <a:r>
              <a:rPr lang="en-US" sz="1250" dirty="0">
                <a:solidFill>
                  <a:srgbClr val="1F3A6E"/>
                </a:solidFill>
                <a:latin typeface="Arial" pitchFamily="34" charset="0"/>
                <a:ea typeface="Arial" pitchFamily="34" charset="-122"/>
                <a:cs typeface="Arial" pitchFamily="34" charset="-120"/>
              </a:rPr>
              <a:t>Điểm hợp nhất chuẩn hoá theo trần lý thuyết, nên một tập kết quả toàn đoạn yếu không bị đẩy lên điểm tối đa.</a:t>
            </a:r>
            <a:endParaRPr lang="en-US" sz="1250" dirty="0"/>
          </a:p>
        </p:txBody>
      </p:sp>
      <p:sp>
        <p:nvSpPr>
          <p:cNvPr id="12" name="Shape 10"/>
          <p:cNvSpPr/>
          <p:nvPr/>
        </p:nvSpPr>
        <p:spPr>
          <a:xfrm>
            <a:off x="6400800" y="1691640"/>
            <a:ext cx="5394960" cy="2481331"/>
          </a:xfrm>
          <a:prstGeom prst="rect">
            <a:avLst/>
          </a:prstGeom>
          <a:solidFill>
            <a:srgbClr val="132B5E"/>
          </a:solidFill>
          <a:ln/>
        </p:spPr>
      </p:sp>
      <p:sp>
        <p:nvSpPr>
          <p:cNvPr id="13" name="Shape 11"/>
          <p:cNvSpPr/>
          <p:nvPr/>
        </p:nvSpPr>
        <p:spPr>
          <a:xfrm>
            <a:off x="6309360" y="1600200"/>
            <a:ext cx="5394960" cy="2481331"/>
          </a:xfrm>
          <a:prstGeom prst="rect">
            <a:avLst/>
          </a:prstGeom>
          <a:solidFill>
            <a:srgbClr val="FFFFFF"/>
          </a:solidFill>
          <a:ln w="12700">
            <a:solidFill>
              <a:srgbClr val="FFFFFF"/>
            </a:solidFill>
            <a:prstDash val="solid"/>
          </a:ln>
        </p:spPr>
      </p:sp>
      <p:pic>
        <p:nvPicPr>
          <p:cNvPr id="14" name="Image 0" descr="/private/tmp/claude-501/-Volumes-Data-Documents-rag-reliability/6db8fc1f-3028-4f02-8952-927e30b47723/scratchpad/report/img/d08-fusion.png">    </p:cNvPr>
          <p:cNvPicPr>
            <a:picLocks noChangeAspect="1"/>
          </p:cNvPicPr>
          <p:nvPr/>
        </p:nvPicPr>
        <p:blipFill>
          <a:blip r:embed="rId1"/>
          <a:stretch>
            <a:fillRect/>
          </a:stretch>
        </p:blipFill>
        <p:spPr>
          <a:xfrm>
            <a:off x="6373368" y="1664208"/>
            <a:ext cx="5266944" cy="235331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FEFEE"/>
        </a:solidFill>
      </p:bgPr>
    </p:bg>
    <p:spTree>
      <p:nvGrpSpPr>
        <p:cNvPr id="1" name=""/>
        <p:cNvGrpSpPr/>
        <p:nvPr/>
      </p:nvGrpSpPr>
      <p:grpSpPr>
        <a:xfrm>
          <a:off x="0" y="0"/>
          <a:ext cx="0" cy="0"/>
          <a:chOff x="0" y="0"/>
          <a:chExt cx="0" cy="0"/>
        </a:xfrm>
      </p:grpSpPr>
      <p:sp>
        <p:nvSpPr>
          <p:cNvPr id="2" name="Text 0"/>
          <p:cNvSpPr txBox="1"/>
          <p:nvPr/>
        </p:nvSpPr>
        <p:spPr>
          <a:xfrm>
            <a:off x="566928" y="6400800"/>
            <a:ext cx="6400800" cy="274320"/>
          </a:xfrm>
          <a:prstGeom prst="rect">
            <a:avLst/>
          </a:prstGeom>
          <a:noFill/>
          <a:ln/>
        </p:spPr>
        <p:txBody>
          <a:bodyPr wrap="square" lIns="0" tIns="0" rIns="0" bIns="0" rtlCol="0" anchor="ctr"/>
          <a:lstStyle/>
          <a:p>
            <a:pPr indent="0" marL="0">
              <a:buNone/>
            </a:pPr>
            <a:r>
              <a:rPr lang="en-US" sz="900" dirty="0">
                <a:solidFill>
                  <a:srgbClr val="8A8F98"/>
                </a:solidFill>
                <a:latin typeface="Arial" pitchFamily="34" charset="0"/>
                <a:ea typeface="Arial" pitchFamily="34" charset="-122"/>
                <a:cs typeface="Arial" pitchFamily="34" charset="-120"/>
              </a:rPr>
              <a:t>HỆ THỐNG HỎI ĐÁP CÓ CĂN CỨ  ·  Báo cáo đồ án</a:t>
            </a:r>
            <a:endParaRPr lang="en-US" sz="900" dirty="0"/>
          </a:p>
        </p:txBody>
      </p:sp>
      <p:sp>
        <p:nvSpPr>
          <p:cNvPr id="3" name="Text 1"/>
          <p:cNvSpPr txBox="1"/>
          <p:nvPr/>
        </p:nvSpPr>
        <p:spPr>
          <a:xfrm>
            <a:off x="10972800" y="6400800"/>
            <a:ext cx="658368" cy="274320"/>
          </a:xfrm>
          <a:prstGeom prst="rect">
            <a:avLst/>
          </a:prstGeom>
          <a:noFill/>
          <a:ln/>
        </p:spPr>
        <p:txBody>
          <a:bodyPr wrap="square" lIns="0" tIns="0" rIns="0" bIns="0" rtlCol="0" anchor="ctr"/>
          <a:lstStyle/>
          <a:p>
            <a:pPr algn="r" indent="0" marL="0">
              <a:buNone/>
            </a:pPr>
            <a:r>
              <a:rPr lang="en-US" sz="900" dirty="0">
                <a:solidFill>
                  <a:srgbClr val="8A8F98"/>
                </a:solidFill>
                <a:latin typeface="Arial" pitchFamily="34" charset="0"/>
                <a:ea typeface="Arial" pitchFamily="34" charset="-122"/>
                <a:cs typeface="Arial" pitchFamily="34" charset="-120"/>
              </a:rPr>
              <a:t>12</a:t>
            </a:r>
            <a:endParaRPr lang="en-US" sz="900" dirty="0"/>
          </a:p>
        </p:txBody>
      </p:sp>
      <p:sp>
        <p:nvSpPr>
          <p:cNvPr id="4" name="Text 2"/>
          <p:cNvSpPr txBox="1"/>
          <p:nvPr/>
        </p:nvSpPr>
        <p:spPr>
          <a:xfrm>
            <a:off x="566928" y="384048"/>
            <a:ext cx="5303520" cy="1234440"/>
          </a:xfrm>
          <a:prstGeom prst="rect">
            <a:avLst/>
          </a:prstGeom>
          <a:noFill/>
          <a:ln/>
        </p:spPr>
        <p:txBody>
          <a:bodyPr wrap="square" lIns="0" tIns="0" rIns="0" bIns="0" rtlCol="0" anchor="t"/>
          <a:lstStyle/>
          <a:p>
            <a:pPr indent="0" marL="0">
              <a:lnSpc>
                <a:spcPct val="108000"/>
              </a:lnSpc>
              <a:buNone/>
            </a:pPr>
            <a:r>
              <a:rPr lang="en-US" sz="3200" b="1" dirty="0">
                <a:solidFill>
                  <a:srgbClr val="132B5E"/>
                </a:solidFill>
                <a:latin typeface="Arial" pitchFamily="34" charset="0"/>
                <a:ea typeface="Arial" pitchFamily="34" charset="-122"/>
                <a:cs typeface="Arial" pitchFamily="34" charset="-120"/>
              </a:rPr>
              <a:t>KIỂM CHỨNG</a:t>
            </a:r>
            <a:endParaRPr lang="en-US" sz="3200" dirty="0"/>
          </a:p>
          <a:p>
            <a:pPr indent="0" marL="0">
              <a:lnSpc>
                <a:spcPct val="108000"/>
              </a:lnSpc>
              <a:buNone/>
            </a:pPr>
            <a:r>
              <a:rPr lang="en-US" sz="3200" b="1" dirty="0">
                <a:solidFill>
                  <a:srgbClr val="132B5E"/>
                </a:solidFill>
                <a:latin typeface="Arial" pitchFamily="34" charset="0"/>
                <a:ea typeface="Arial" pitchFamily="34" charset="-122"/>
                <a:cs typeface="Arial" pitchFamily="34" charset="-120"/>
              </a:rPr>
              <a:t>CẤP KHẲNG ĐỊNH</a:t>
            </a:r>
            <a:endParaRPr lang="en-US" sz="3200" dirty="0"/>
          </a:p>
        </p:txBody>
      </p:sp>
      <p:sp>
        <p:nvSpPr>
          <p:cNvPr id="5" name="Shape 3"/>
          <p:cNvSpPr/>
          <p:nvPr/>
        </p:nvSpPr>
        <p:spPr>
          <a:xfrm>
            <a:off x="566928" y="1828800"/>
            <a:ext cx="420624" cy="420624"/>
          </a:xfrm>
          <a:prstGeom prst="rect">
            <a:avLst/>
          </a:prstGeom>
          <a:solidFill>
            <a:srgbClr val="8CC0E4"/>
          </a:solidFill>
          <a:ln/>
        </p:spPr>
      </p:sp>
      <p:sp>
        <p:nvSpPr>
          <p:cNvPr id="6" name="Text 4"/>
          <p:cNvSpPr txBox="1"/>
          <p:nvPr/>
        </p:nvSpPr>
        <p:spPr>
          <a:xfrm>
            <a:off x="566928" y="1828800"/>
            <a:ext cx="420624" cy="420624"/>
          </a:xfrm>
          <a:prstGeom prst="rect">
            <a:avLst/>
          </a:prstGeom>
          <a:noFill/>
          <a:ln/>
        </p:spPr>
        <p:txBody>
          <a:bodyPr wrap="square" lIns="0" tIns="0" rIns="0" bIns="0" rtlCol="0" anchor="ctr"/>
          <a:lstStyle/>
          <a:p>
            <a:pPr algn="ctr" indent="0" marL="0">
              <a:buNone/>
            </a:pPr>
            <a:r>
              <a:rPr lang="en-US" sz="1500" b="1" dirty="0">
                <a:solidFill>
                  <a:srgbClr val="132B5E"/>
                </a:solidFill>
                <a:latin typeface="Arial" pitchFamily="34" charset="0"/>
                <a:ea typeface="Arial" pitchFamily="34" charset="-122"/>
                <a:cs typeface="Arial" pitchFamily="34" charset="-120"/>
              </a:rPr>
              <a:t>1</a:t>
            </a:r>
            <a:endParaRPr lang="en-US" sz="1500" dirty="0"/>
          </a:p>
        </p:txBody>
      </p:sp>
      <p:sp>
        <p:nvSpPr>
          <p:cNvPr id="7" name="Text 5"/>
          <p:cNvSpPr txBox="1"/>
          <p:nvPr/>
        </p:nvSpPr>
        <p:spPr>
          <a:xfrm>
            <a:off x="1188720" y="1828800"/>
            <a:ext cx="5120640" cy="420624"/>
          </a:xfrm>
          <a:prstGeom prst="rect">
            <a:avLst/>
          </a:prstGeom>
          <a:noFill/>
          <a:ln/>
        </p:spPr>
        <p:txBody>
          <a:bodyPr wrap="square" lIns="0" tIns="0" rIns="0" bIns="0" rtlCol="0" anchor="ctr"/>
          <a:lstStyle/>
          <a:p>
            <a:pPr indent="0" marL="0">
              <a:buNone/>
            </a:pPr>
            <a:r>
              <a:rPr lang="en-US" sz="1350" b="1" dirty="0">
                <a:solidFill>
                  <a:srgbClr val="132B5E"/>
                </a:solidFill>
                <a:latin typeface="Arial" pitchFamily="34" charset="0"/>
                <a:ea typeface="Arial" pitchFamily="34" charset="-122"/>
                <a:cs typeface="Arial" pitchFamily="34" charset="-120"/>
              </a:rPr>
              <a:t>Tách khẳng định</a:t>
            </a:r>
            <a:pPr indent="0" marL="0">
              <a:buNone/>
            </a:pPr>
            <a:r>
              <a:rPr lang="en-US" sz="1350" dirty="0">
                <a:solidFill>
                  <a:srgbClr val="1F3A6E"/>
                </a:solidFill>
                <a:latin typeface="Arial" pitchFamily="34" charset="0"/>
                <a:ea typeface="Arial" pitchFamily="34" charset="-122"/>
                <a:cs typeface="Arial" pitchFamily="34" charset="-120"/>
              </a:rPr>
              <a:t>   mã định danh do máy chủ cấp</a:t>
            </a:r>
            <a:endParaRPr lang="en-US" sz="1350" dirty="0"/>
          </a:p>
        </p:txBody>
      </p:sp>
      <p:sp>
        <p:nvSpPr>
          <p:cNvPr id="8" name="Shape 6"/>
          <p:cNvSpPr/>
          <p:nvPr/>
        </p:nvSpPr>
        <p:spPr>
          <a:xfrm>
            <a:off x="566928" y="2670048"/>
            <a:ext cx="420624" cy="420624"/>
          </a:xfrm>
          <a:prstGeom prst="rect">
            <a:avLst/>
          </a:prstGeom>
          <a:solidFill>
            <a:srgbClr val="8CC0E4"/>
          </a:solidFill>
          <a:ln/>
        </p:spPr>
      </p:sp>
      <p:sp>
        <p:nvSpPr>
          <p:cNvPr id="9" name="Text 7"/>
          <p:cNvSpPr txBox="1"/>
          <p:nvPr/>
        </p:nvSpPr>
        <p:spPr>
          <a:xfrm>
            <a:off x="566928" y="2670048"/>
            <a:ext cx="420624" cy="420624"/>
          </a:xfrm>
          <a:prstGeom prst="rect">
            <a:avLst/>
          </a:prstGeom>
          <a:noFill/>
          <a:ln/>
        </p:spPr>
        <p:txBody>
          <a:bodyPr wrap="square" lIns="0" tIns="0" rIns="0" bIns="0" rtlCol="0" anchor="ctr"/>
          <a:lstStyle/>
          <a:p>
            <a:pPr algn="ctr" indent="0" marL="0">
              <a:buNone/>
            </a:pPr>
            <a:r>
              <a:rPr lang="en-US" sz="1500" b="1" dirty="0">
                <a:solidFill>
                  <a:srgbClr val="132B5E"/>
                </a:solidFill>
                <a:latin typeface="Arial" pitchFamily="34" charset="0"/>
                <a:ea typeface="Arial" pitchFamily="34" charset="-122"/>
                <a:cs typeface="Arial" pitchFamily="34" charset="-120"/>
              </a:rPr>
              <a:t>2</a:t>
            </a:r>
            <a:endParaRPr lang="en-US" sz="1500" dirty="0"/>
          </a:p>
        </p:txBody>
      </p:sp>
      <p:sp>
        <p:nvSpPr>
          <p:cNvPr id="10" name="Text 8"/>
          <p:cNvSpPr txBox="1"/>
          <p:nvPr/>
        </p:nvSpPr>
        <p:spPr>
          <a:xfrm>
            <a:off x="1188720" y="2670048"/>
            <a:ext cx="5120640" cy="420624"/>
          </a:xfrm>
          <a:prstGeom prst="rect">
            <a:avLst/>
          </a:prstGeom>
          <a:noFill/>
          <a:ln/>
        </p:spPr>
        <p:txBody>
          <a:bodyPr wrap="square" lIns="0" tIns="0" rIns="0" bIns="0" rtlCol="0" anchor="ctr"/>
          <a:lstStyle/>
          <a:p>
            <a:pPr indent="0" marL="0">
              <a:buNone/>
            </a:pPr>
            <a:r>
              <a:rPr lang="en-US" sz="1350" b="1" dirty="0">
                <a:solidFill>
                  <a:srgbClr val="132B5E"/>
                </a:solidFill>
                <a:latin typeface="Arial" pitchFamily="34" charset="0"/>
                <a:ea typeface="Arial" pitchFamily="34" charset="-122"/>
                <a:cs typeface="Arial" pitchFamily="34" charset="-120"/>
              </a:rPr>
              <a:t>Đối chiếu bằng chứng</a:t>
            </a:r>
            <a:pPr indent="0" marL="0">
              <a:buNone/>
            </a:pPr>
            <a:r>
              <a:rPr lang="en-US" sz="1350" dirty="0">
                <a:solidFill>
                  <a:srgbClr val="1F3A6E"/>
                </a:solidFill>
                <a:latin typeface="Arial" pitchFamily="34" charset="0"/>
                <a:ea typeface="Arial" pitchFamily="34" charset="-122"/>
                <a:cs typeface="Arial" pitchFamily="34" charset="-120"/>
              </a:rPr>
              <a:t>   hàm thuần, ngưỡng trùng token</a:t>
            </a:r>
            <a:endParaRPr lang="en-US" sz="1350" dirty="0"/>
          </a:p>
        </p:txBody>
      </p:sp>
      <p:sp>
        <p:nvSpPr>
          <p:cNvPr id="11" name="Shape 9"/>
          <p:cNvSpPr/>
          <p:nvPr/>
        </p:nvSpPr>
        <p:spPr>
          <a:xfrm>
            <a:off x="566928" y="3511296"/>
            <a:ext cx="420624" cy="420624"/>
          </a:xfrm>
          <a:prstGeom prst="rect">
            <a:avLst/>
          </a:prstGeom>
          <a:solidFill>
            <a:srgbClr val="8CC0E4"/>
          </a:solidFill>
          <a:ln/>
        </p:spPr>
      </p:sp>
      <p:sp>
        <p:nvSpPr>
          <p:cNvPr id="12" name="Text 10"/>
          <p:cNvSpPr txBox="1"/>
          <p:nvPr/>
        </p:nvSpPr>
        <p:spPr>
          <a:xfrm>
            <a:off x="566928" y="3511296"/>
            <a:ext cx="420624" cy="420624"/>
          </a:xfrm>
          <a:prstGeom prst="rect">
            <a:avLst/>
          </a:prstGeom>
          <a:noFill/>
          <a:ln/>
        </p:spPr>
        <p:txBody>
          <a:bodyPr wrap="square" lIns="0" tIns="0" rIns="0" bIns="0" rtlCol="0" anchor="ctr"/>
          <a:lstStyle/>
          <a:p>
            <a:pPr algn="ctr" indent="0" marL="0">
              <a:buNone/>
            </a:pPr>
            <a:r>
              <a:rPr lang="en-US" sz="1500" b="1" dirty="0">
                <a:solidFill>
                  <a:srgbClr val="132B5E"/>
                </a:solidFill>
                <a:latin typeface="Arial" pitchFamily="34" charset="0"/>
                <a:ea typeface="Arial" pitchFamily="34" charset="-122"/>
                <a:cs typeface="Arial" pitchFamily="34" charset="-120"/>
              </a:rPr>
              <a:t>3</a:t>
            </a:r>
            <a:endParaRPr lang="en-US" sz="1500" dirty="0"/>
          </a:p>
        </p:txBody>
      </p:sp>
      <p:sp>
        <p:nvSpPr>
          <p:cNvPr id="13" name="Text 11"/>
          <p:cNvSpPr txBox="1"/>
          <p:nvPr/>
        </p:nvSpPr>
        <p:spPr>
          <a:xfrm>
            <a:off x="1188720" y="3511296"/>
            <a:ext cx="5120640" cy="420624"/>
          </a:xfrm>
          <a:prstGeom prst="rect">
            <a:avLst/>
          </a:prstGeom>
          <a:noFill/>
          <a:ln/>
        </p:spPr>
        <p:txBody>
          <a:bodyPr wrap="square" lIns="0" tIns="0" rIns="0" bIns="0" rtlCol="0" anchor="ctr"/>
          <a:lstStyle/>
          <a:p>
            <a:pPr indent="0" marL="0">
              <a:buNone/>
            </a:pPr>
            <a:r>
              <a:rPr lang="en-US" sz="1350" b="1" dirty="0">
                <a:solidFill>
                  <a:srgbClr val="132B5E"/>
                </a:solidFill>
                <a:latin typeface="Arial" pitchFamily="34" charset="0"/>
                <a:ea typeface="Arial" pitchFamily="34" charset="-122"/>
                <a:cs typeface="Arial" pitchFamily="34" charset="-120"/>
              </a:rPr>
              <a:t>Phát hiện mâu thuẫn</a:t>
            </a:r>
            <a:pPr indent="0" marL="0">
              <a:buNone/>
            </a:pPr>
            <a:r>
              <a:rPr lang="en-US" sz="1350" dirty="0">
                <a:solidFill>
                  <a:srgbClr val="1F3A6E"/>
                </a:solidFill>
                <a:latin typeface="Arial" pitchFamily="34" charset="0"/>
                <a:ea typeface="Arial" pitchFamily="34" charset="-122"/>
                <a:cs typeface="Arial" pitchFamily="34" charset="-120"/>
              </a:rPr>
              <a:t>   cụm phủ định và số liệu</a:t>
            </a:r>
            <a:endParaRPr lang="en-US" sz="1350" dirty="0"/>
          </a:p>
        </p:txBody>
      </p:sp>
      <p:sp>
        <p:nvSpPr>
          <p:cNvPr id="14" name="Shape 12"/>
          <p:cNvSpPr/>
          <p:nvPr/>
        </p:nvSpPr>
        <p:spPr>
          <a:xfrm>
            <a:off x="566928" y="4352544"/>
            <a:ext cx="420624" cy="420624"/>
          </a:xfrm>
          <a:prstGeom prst="rect">
            <a:avLst/>
          </a:prstGeom>
          <a:solidFill>
            <a:srgbClr val="8CC0E4"/>
          </a:solidFill>
          <a:ln/>
        </p:spPr>
      </p:sp>
      <p:sp>
        <p:nvSpPr>
          <p:cNvPr id="15" name="Text 13"/>
          <p:cNvSpPr txBox="1"/>
          <p:nvPr/>
        </p:nvSpPr>
        <p:spPr>
          <a:xfrm>
            <a:off x="566928" y="4352544"/>
            <a:ext cx="420624" cy="420624"/>
          </a:xfrm>
          <a:prstGeom prst="rect">
            <a:avLst/>
          </a:prstGeom>
          <a:noFill/>
          <a:ln/>
        </p:spPr>
        <p:txBody>
          <a:bodyPr wrap="square" lIns="0" tIns="0" rIns="0" bIns="0" rtlCol="0" anchor="ctr"/>
          <a:lstStyle/>
          <a:p>
            <a:pPr algn="ctr" indent="0" marL="0">
              <a:buNone/>
            </a:pPr>
            <a:r>
              <a:rPr lang="en-US" sz="1500" b="1" dirty="0">
                <a:solidFill>
                  <a:srgbClr val="132B5E"/>
                </a:solidFill>
                <a:latin typeface="Arial" pitchFamily="34" charset="0"/>
                <a:ea typeface="Arial" pitchFamily="34" charset="-122"/>
                <a:cs typeface="Arial" pitchFamily="34" charset="-120"/>
              </a:rPr>
              <a:t>4</a:t>
            </a:r>
            <a:endParaRPr lang="en-US" sz="1500" dirty="0"/>
          </a:p>
        </p:txBody>
      </p:sp>
      <p:sp>
        <p:nvSpPr>
          <p:cNvPr id="16" name="Text 14"/>
          <p:cNvSpPr txBox="1"/>
          <p:nvPr/>
        </p:nvSpPr>
        <p:spPr>
          <a:xfrm>
            <a:off x="1188720" y="4352544"/>
            <a:ext cx="5120640" cy="420624"/>
          </a:xfrm>
          <a:prstGeom prst="rect">
            <a:avLst/>
          </a:prstGeom>
          <a:noFill/>
          <a:ln/>
        </p:spPr>
        <p:txBody>
          <a:bodyPr wrap="square" lIns="0" tIns="0" rIns="0" bIns="0" rtlCol="0" anchor="ctr"/>
          <a:lstStyle/>
          <a:p>
            <a:pPr indent="0" marL="0">
              <a:buNone/>
            </a:pPr>
            <a:r>
              <a:rPr lang="en-US" sz="1350" b="1" dirty="0">
                <a:solidFill>
                  <a:srgbClr val="132B5E"/>
                </a:solidFill>
                <a:latin typeface="Arial" pitchFamily="34" charset="0"/>
                <a:ea typeface="Arial" pitchFamily="34" charset="-122"/>
                <a:cs typeface="Arial" pitchFamily="34" charset="-120"/>
              </a:rPr>
              <a:t>Chấm điểm trung thực</a:t>
            </a:r>
            <a:pPr indent="0" marL="0">
              <a:buNone/>
            </a:pPr>
            <a:r>
              <a:rPr lang="en-US" sz="1350" dirty="0">
                <a:solidFill>
                  <a:srgbClr val="1F3A6E"/>
                </a:solidFill>
                <a:latin typeface="Arial" pitchFamily="34" charset="0"/>
                <a:ea typeface="Arial" pitchFamily="34" charset="-122"/>
                <a:cs typeface="Arial" pitchFamily="34" charset="-120"/>
              </a:rPr>
              <a:t>   phạt gấp đôi khẳng định sai</a:t>
            </a:r>
            <a:endParaRPr lang="en-US" sz="1350" dirty="0"/>
          </a:p>
        </p:txBody>
      </p:sp>
      <p:sp>
        <p:nvSpPr>
          <p:cNvPr id="17" name="Shape 15"/>
          <p:cNvSpPr/>
          <p:nvPr/>
        </p:nvSpPr>
        <p:spPr>
          <a:xfrm>
            <a:off x="566928" y="5193792"/>
            <a:ext cx="420624" cy="420624"/>
          </a:xfrm>
          <a:prstGeom prst="rect">
            <a:avLst/>
          </a:prstGeom>
          <a:solidFill>
            <a:srgbClr val="8CC0E4"/>
          </a:solidFill>
          <a:ln/>
        </p:spPr>
      </p:sp>
      <p:sp>
        <p:nvSpPr>
          <p:cNvPr id="18" name="Text 16"/>
          <p:cNvSpPr txBox="1"/>
          <p:nvPr/>
        </p:nvSpPr>
        <p:spPr>
          <a:xfrm>
            <a:off x="566928" y="5193792"/>
            <a:ext cx="420624" cy="420624"/>
          </a:xfrm>
          <a:prstGeom prst="rect">
            <a:avLst/>
          </a:prstGeom>
          <a:noFill/>
          <a:ln/>
        </p:spPr>
        <p:txBody>
          <a:bodyPr wrap="square" lIns="0" tIns="0" rIns="0" bIns="0" rtlCol="0" anchor="ctr"/>
          <a:lstStyle/>
          <a:p>
            <a:pPr algn="ctr" indent="0" marL="0">
              <a:buNone/>
            </a:pPr>
            <a:r>
              <a:rPr lang="en-US" sz="1500" b="1" dirty="0">
                <a:solidFill>
                  <a:srgbClr val="132B5E"/>
                </a:solidFill>
                <a:latin typeface="Arial" pitchFamily="34" charset="0"/>
                <a:ea typeface="Arial" pitchFamily="34" charset="-122"/>
                <a:cs typeface="Arial" pitchFamily="34" charset="-120"/>
              </a:rPr>
              <a:t>5</a:t>
            </a:r>
            <a:endParaRPr lang="en-US" sz="1500" dirty="0"/>
          </a:p>
        </p:txBody>
      </p:sp>
      <p:sp>
        <p:nvSpPr>
          <p:cNvPr id="19" name="Text 17"/>
          <p:cNvSpPr txBox="1"/>
          <p:nvPr/>
        </p:nvSpPr>
        <p:spPr>
          <a:xfrm>
            <a:off x="1188720" y="5193792"/>
            <a:ext cx="5120640" cy="420624"/>
          </a:xfrm>
          <a:prstGeom prst="rect">
            <a:avLst/>
          </a:prstGeom>
          <a:noFill/>
          <a:ln/>
        </p:spPr>
        <p:txBody>
          <a:bodyPr wrap="square" lIns="0" tIns="0" rIns="0" bIns="0" rtlCol="0" anchor="ctr"/>
          <a:lstStyle/>
          <a:p>
            <a:pPr indent="0" marL="0">
              <a:buNone/>
            </a:pPr>
            <a:r>
              <a:rPr lang="en-US" sz="1350" b="1" dirty="0">
                <a:solidFill>
                  <a:srgbClr val="132B5E"/>
                </a:solidFill>
                <a:latin typeface="Arial" pitchFamily="34" charset="0"/>
                <a:ea typeface="Arial" pitchFamily="34" charset="-122"/>
                <a:cs typeface="Arial" pitchFamily="34" charset="-120"/>
              </a:rPr>
              <a:t>Dựng trích dẫn</a:t>
            </a:r>
            <a:pPr indent="0" marL="0">
              <a:buNone/>
            </a:pPr>
            <a:r>
              <a:rPr lang="en-US" sz="1350" dirty="0">
                <a:solidFill>
                  <a:srgbClr val="1F3A6E"/>
                </a:solidFill>
                <a:latin typeface="Arial" pitchFamily="34" charset="0"/>
                <a:ea typeface="Arial" pitchFamily="34" charset="-122"/>
                <a:cs typeface="Arial" pitchFamily="34" charset="-120"/>
              </a:rPr>
              <a:t>   claim tới đoạn tới tài liệu</a:t>
            </a:r>
            <a:endParaRPr lang="en-US" sz="1350" dirty="0"/>
          </a:p>
        </p:txBody>
      </p:sp>
      <p:sp>
        <p:nvSpPr>
          <p:cNvPr id="20" name="Shape 18"/>
          <p:cNvSpPr/>
          <p:nvPr/>
        </p:nvSpPr>
        <p:spPr>
          <a:xfrm>
            <a:off x="6309360" y="1417320"/>
            <a:ext cx="5394960" cy="4206240"/>
          </a:xfrm>
          <a:prstGeom prst="rect">
            <a:avLst/>
          </a:prstGeom>
          <a:solidFill>
            <a:srgbClr val="132B5E"/>
          </a:solidFill>
          <a:ln/>
        </p:spPr>
      </p:sp>
      <p:sp>
        <p:nvSpPr>
          <p:cNvPr id="21" name="Text 19"/>
          <p:cNvSpPr txBox="1"/>
          <p:nvPr/>
        </p:nvSpPr>
        <p:spPr>
          <a:xfrm>
            <a:off x="6693408" y="1709928"/>
            <a:ext cx="4626864" cy="365760"/>
          </a:xfrm>
          <a:prstGeom prst="rect">
            <a:avLst/>
          </a:prstGeom>
          <a:noFill/>
          <a:ln/>
        </p:spPr>
        <p:txBody>
          <a:bodyPr wrap="square" lIns="0" tIns="0" rIns="0" bIns="0" rtlCol="0" anchor="ctr"/>
          <a:lstStyle/>
          <a:p>
            <a:pPr indent="0" marL="0">
              <a:buNone/>
            </a:pPr>
            <a:r>
              <a:rPr lang="en-US" sz="1500" b="1" dirty="0">
                <a:solidFill>
                  <a:srgbClr val="8CC0E4"/>
                </a:solidFill>
                <a:latin typeface="Arial" pitchFamily="34" charset="0"/>
                <a:ea typeface="Arial" pitchFamily="34" charset="-122"/>
                <a:cs typeface="Arial" pitchFamily="34" charset="-120"/>
              </a:rPr>
              <a:t>KHÔNG TIN MÔ HÌNH Ở BA CHỖ</a:t>
            </a:r>
            <a:endParaRPr lang="en-US" sz="1500" dirty="0"/>
          </a:p>
        </p:txBody>
      </p:sp>
      <p:sp>
        <p:nvSpPr>
          <p:cNvPr id="22" name="Text 20"/>
          <p:cNvSpPr txBox="1"/>
          <p:nvPr/>
        </p:nvSpPr>
        <p:spPr>
          <a:xfrm>
            <a:off x="6693408" y="2203704"/>
            <a:ext cx="4626864" cy="3108960"/>
          </a:xfrm>
          <a:prstGeom prst="rect">
            <a:avLst/>
          </a:prstGeom>
          <a:noFill/>
          <a:ln/>
        </p:spPr>
        <p:txBody>
          <a:bodyPr wrap="square" lIns="0" tIns="0" rIns="0" bIns="0" rtlCol="0" anchor="t"/>
          <a:lstStyle/>
          <a:p>
            <a:pPr indent="0" marL="0">
              <a:lnSpc>
                <a:spcPct val="120000"/>
              </a:lnSpc>
              <a:spcAft>
                <a:spcPts val="900"/>
              </a:spcAft>
              <a:buNone/>
            </a:pPr>
            <a:r>
              <a:rPr lang="en-US" sz="1350" dirty="0">
                <a:solidFill>
                  <a:srgbClr val="FFFFFF"/>
                </a:solidFill>
                <a:latin typeface="Arial" pitchFamily="34" charset="0"/>
                <a:ea typeface="Arial" pitchFamily="34" charset="-122"/>
                <a:cs typeface="Arial" pitchFamily="34" charset="-120"/>
              </a:rPr>
              <a:t>-  Nhãn khẳng định do mô hình tự đặt, backend cấp lại toàn bộ mã.</a:t>
            </a:r>
            <a:endParaRPr lang="en-US" sz="1350" dirty="0"/>
          </a:p>
          <a:p>
            <a:pPr indent="0" marL="0">
              <a:lnSpc>
                <a:spcPct val="120000"/>
              </a:lnSpc>
              <a:spcAft>
                <a:spcPts val="900"/>
              </a:spcAft>
              <a:buNone/>
            </a:pPr>
            <a:r>
              <a:rPr lang="en-US" sz="1350" dirty="0">
                <a:solidFill>
                  <a:srgbClr val="FFFFFF"/>
                </a:solidFill>
                <a:latin typeface="Arial" pitchFamily="34" charset="0"/>
                <a:ea typeface="Arial" pitchFamily="34" charset="-122"/>
                <a:cs typeface="Arial" pitchFamily="34" charset="-120"/>
              </a:rPr>
              <a:t>-  Định dạng đầu ra, luôn kiểm lại bằng lược đồ phía máy chủ.</a:t>
            </a:r>
            <a:endParaRPr lang="en-US" sz="1350" dirty="0"/>
          </a:p>
          <a:p>
            <a:pPr indent="0" marL="0">
              <a:lnSpc>
                <a:spcPct val="120000"/>
              </a:lnSpc>
              <a:spcAft>
                <a:spcPts val="900"/>
              </a:spcAft>
              <a:buNone/>
            </a:pPr>
            <a:r>
              <a:rPr lang="en-US" sz="1350" dirty="0">
                <a:solidFill>
                  <a:srgbClr val="FFFFFF"/>
                </a:solidFill>
                <a:latin typeface="Arial" pitchFamily="34" charset="0"/>
                <a:ea typeface="Arial" pitchFamily="34" charset="-122"/>
                <a:cs typeface="Arial" pitchFamily="34" charset="-120"/>
              </a:rPr>
              <a:t>-  Trích dẫn, chỉ giữ mã đoạn và mã tài liệu có thật trong kho.</a:t>
            </a:r>
            <a:endParaRPr lang="en-US" sz="1350" dirty="0"/>
          </a:p>
          <a:p>
            <a:pPr indent="0" marL="0">
              <a:lnSpc>
                <a:spcPct val="120000"/>
              </a:lnSpc>
              <a:spcAft>
                <a:spcPts val="900"/>
              </a:spcAft>
              <a:buNone/>
            </a:pPr>
            <a:r>
              <a:rPr lang="en-US" sz="1350" dirty="0">
                <a:solidFill>
                  <a:srgbClr val="FFFFFF"/>
                </a:solidFill>
                <a:latin typeface="Arial" pitchFamily="34" charset="0"/>
                <a:ea typeface="Arial" pitchFamily="34" charset="-122"/>
                <a:cs typeface="Arial" pitchFamily="34" charset="-120"/>
              </a:rPr>
              <a:t>-  Không tìm được nguồn thì đánh dấu không hợp lệ, không bịa.</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FEFEE"/>
        </a:solidFill>
      </p:bgPr>
    </p:bg>
    <p:spTree>
      <p:nvGrpSpPr>
        <p:cNvPr id="1" name=""/>
        <p:cNvGrpSpPr/>
        <p:nvPr/>
      </p:nvGrpSpPr>
      <p:grpSpPr>
        <a:xfrm>
          <a:off x="0" y="0"/>
          <a:ext cx="0" cy="0"/>
          <a:chOff x="0" y="0"/>
          <a:chExt cx="0" cy="0"/>
        </a:xfrm>
      </p:grpSpPr>
      <p:sp>
        <p:nvSpPr>
          <p:cNvPr id="2" name="Text 0"/>
          <p:cNvSpPr txBox="1"/>
          <p:nvPr/>
        </p:nvSpPr>
        <p:spPr>
          <a:xfrm>
            <a:off x="566928" y="6400800"/>
            <a:ext cx="6400800" cy="274320"/>
          </a:xfrm>
          <a:prstGeom prst="rect">
            <a:avLst/>
          </a:prstGeom>
          <a:noFill/>
          <a:ln/>
        </p:spPr>
        <p:txBody>
          <a:bodyPr wrap="square" lIns="0" tIns="0" rIns="0" bIns="0" rtlCol="0" anchor="ctr"/>
          <a:lstStyle/>
          <a:p>
            <a:pPr indent="0" marL="0">
              <a:buNone/>
            </a:pPr>
            <a:r>
              <a:rPr lang="en-US" sz="900" dirty="0">
                <a:solidFill>
                  <a:srgbClr val="8A8F98"/>
                </a:solidFill>
                <a:latin typeface="Arial" pitchFamily="34" charset="0"/>
                <a:ea typeface="Arial" pitchFamily="34" charset="-122"/>
                <a:cs typeface="Arial" pitchFamily="34" charset="-120"/>
              </a:rPr>
              <a:t>HỆ THỐNG HỎI ĐÁP CÓ CĂN CỨ  ·  Báo cáo đồ án</a:t>
            </a:r>
            <a:endParaRPr lang="en-US" sz="900" dirty="0"/>
          </a:p>
        </p:txBody>
      </p:sp>
      <p:sp>
        <p:nvSpPr>
          <p:cNvPr id="3" name="Text 1"/>
          <p:cNvSpPr txBox="1"/>
          <p:nvPr/>
        </p:nvSpPr>
        <p:spPr>
          <a:xfrm>
            <a:off x="10972800" y="6400800"/>
            <a:ext cx="658368" cy="274320"/>
          </a:xfrm>
          <a:prstGeom prst="rect">
            <a:avLst/>
          </a:prstGeom>
          <a:noFill/>
          <a:ln/>
        </p:spPr>
        <p:txBody>
          <a:bodyPr wrap="square" lIns="0" tIns="0" rIns="0" bIns="0" rtlCol="0" anchor="ctr"/>
          <a:lstStyle/>
          <a:p>
            <a:pPr algn="r" indent="0" marL="0">
              <a:buNone/>
            </a:pPr>
            <a:r>
              <a:rPr lang="en-US" sz="900" dirty="0">
                <a:solidFill>
                  <a:srgbClr val="8A8F98"/>
                </a:solidFill>
                <a:latin typeface="Arial" pitchFamily="34" charset="0"/>
                <a:ea typeface="Arial" pitchFamily="34" charset="-122"/>
                <a:cs typeface="Arial" pitchFamily="34" charset="-120"/>
              </a:rPr>
              <a:t>13</a:t>
            </a:r>
            <a:endParaRPr lang="en-US" sz="900" dirty="0"/>
          </a:p>
        </p:txBody>
      </p:sp>
      <p:sp>
        <p:nvSpPr>
          <p:cNvPr id="4" name="Text 2"/>
          <p:cNvSpPr txBox="1"/>
          <p:nvPr/>
        </p:nvSpPr>
        <p:spPr>
          <a:xfrm>
            <a:off x="566928" y="384048"/>
            <a:ext cx="10881360" cy="777240"/>
          </a:xfrm>
          <a:prstGeom prst="rect">
            <a:avLst/>
          </a:prstGeom>
          <a:noFill/>
          <a:ln/>
        </p:spPr>
        <p:txBody>
          <a:bodyPr wrap="square" lIns="0" tIns="0" rIns="0" bIns="0" rtlCol="0" anchor="t"/>
          <a:lstStyle/>
          <a:p>
            <a:pPr indent="0" marL="0">
              <a:lnSpc>
                <a:spcPct val="108000"/>
              </a:lnSpc>
              <a:buNone/>
            </a:pPr>
            <a:r>
              <a:rPr lang="en-US" sz="3200" b="1" dirty="0">
                <a:solidFill>
                  <a:srgbClr val="132B5E"/>
                </a:solidFill>
                <a:latin typeface="Arial" pitchFamily="34" charset="0"/>
                <a:ea typeface="Arial" pitchFamily="34" charset="-122"/>
                <a:cs typeface="Arial" pitchFamily="34" charset="-120"/>
              </a:rPr>
              <a:t>VÒNG LẶP TÁC TỬ VÀ BỘ BẢO VỆ</a:t>
            </a:r>
            <a:endParaRPr lang="en-US" sz="3200" dirty="0"/>
          </a:p>
        </p:txBody>
      </p:sp>
      <p:sp>
        <p:nvSpPr>
          <p:cNvPr id="5" name="Text 3"/>
          <p:cNvSpPr txBox="1"/>
          <p:nvPr/>
        </p:nvSpPr>
        <p:spPr>
          <a:xfrm>
            <a:off x="566928" y="1188720"/>
            <a:ext cx="10881360" cy="502920"/>
          </a:xfrm>
          <a:prstGeom prst="rect">
            <a:avLst/>
          </a:prstGeom>
          <a:noFill/>
          <a:ln/>
        </p:spPr>
        <p:txBody>
          <a:bodyPr wrap="square" lIns="0" tIns="0" rIns="0" bIns="0" rtlCol="0" anchor="t"/>
          <a:lstStyle/>
          <a:p>
            <a:pPr indent="0" marL="0">
              <a:lnSpc>
                <a:spcPct val="128000"/>
              </a:lnSpc>
              <a:buNone/>
            </a:pPr>
            <a:r>
              <a:rPr lang="en-US" sz="1450" dirty="0">
                <a:solidFill>
                  <a:srgbClr val="1F3A6E"/>
                </a:solidFill>
                <a:latin typeface="Arial" pitchFamily="34" charset="0"/>
                <a:ea typeface="Arial" pitchFamily="34" charset="-122"/>
                <a:cs typeface="Arial" pitchFamily="34" charset="-120"/>
              </a:rPr>
              <a:t>Mọi đường đi đều qua nút kết thúc để kiểm chứng; công cụ MCP cắm qua sổ đăng ký, lõi không sửa dòng nào.</a:t>
            </a:r>
            <a:endParaRPr lang="en-US" sz="1450" dirty="0"/>
          </a:p>
        </p:txBody>
      </p:sp>
      <p:sp>
        <p:nvSpPr>
          <p:cNvPr id="6" name="Shape 4"/>
          <p:cNvSpPr/>
          <p:nvPr/>
        </p:nvSpPr>
        <p:spPr>
          <a:xfrm>
            <a:off x="2748425" y="1874520"/>
            <a:ext cx="6884126" cy="4069080"/>
          </a:xfrm>
          <a:prstGeom prst="rect">
            <a:avLst/>
          </a:prstGeom>
          <a:solidFill>
            <a:srgbClr val="132B5E"/>
          </a:solidFill>
          <a:ln/>
        </p:spPr>
      </p:sp>
      <p:sp>
        <p:nvSpPr>
          <p:cNvPr id="7" name="Shape 5"/>
          <p:cNvSpPr/>
          <p:nvPr/>
        </p:nvSpPr>
        <p:spPr>
          <a:xfrm>
            <a:off x="2656985" y="1783080"/>
            <a:ext cx="6884126" cy="4069080"/>
          </a:xfrm>
          <a:prstGeom prst="rect">
            <a:avLst/>
          </a:prstGeom>
          <a:solidFill>
            <a:srgbClr val="FFFFFF"/>
          </a:solidFill>
          <a:ln w="12700">
            <a:solidFill>
              <a:srgbClr val="FFFFFF"/>
            </a:solidFill>
            <a:prstDash val="solid"/>
          </a:ln>
        </p:spPr>
      </p:sp>
      <p:pic>
        <p:nvPicPr>
          <p:cNvPr id="8" name="Image 0" descr="/private/tmp/claude-501/-Volumes-Data-Documents-rag-reliability/6db8fc1f-3028-4f02-8952-927e30b47723/scratchpad/report/img/d09-agent-loop.png">    </p:cNvPr>
          <p:cNvPicPr>
            <a:picLocks noChangeAspect="1"/>
          </p:cNvPicPr>
          <p:nvPr/>
        </p:nvPicPr>
        <p:blipFill>
          <a:blip r:embed="rId1"/>
          <a:stretch>
            <a:fillRect/>
          </a:stretch>
        </p:blipFill>
        <p:spPr>
          <a:xfrm>
            <a:off x="2720993" y="1847088"/>
            <a:ext cx="6756110" cy="394106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FEFEE"/>
        </a:solidFill>
      </p:bgPr>
    </p:bg>
    <p:spTree>
      <p:nvGrpSpPr>
        <p:cNvPr id="1" name=""/>
        <p:cNvGrpSpPr/>
        <p:nvPr/>
      </p:nvGrpSpPr>
      <p:grpSpPr>
        <a:xfrm>
          <a:off x="0" y="0"/>
          <a:ext cx="0" cy="0"/>
          <a:chOff x="0" y="0"/>
          <a:chExt cx="0" cy="0"/>
        </a:xfrm>
      </p:grpSpPr>
      <p:sp>
        <p:nvSpPr>
          <p:cNvPr id="2" name="Text 0"/>
          <p:cNvSpPr txBox="1"/>
          <p:nvPr/>
        </p:nvSpPr>
        <p:spPr>
          <a:xfrm>
            <a:off x="566928" y="6400800"/>
            <a:ext cx="6400800" cy="274320"/>
          </a:xfrm>
          <a:prstGeom prst="rect">
            <a:avLst/>
          </a:prstGeom>
          <a:noFill/>
          <a:ln/>
        </p:spPr>
        <p:txBody>
          <a:bodyPr wrap="square" lIns="0" tIns="0" rIns="0" bIns="0" rtlCol="0" anchor="ctr"/>
          <a:lstStyle/>
          <a:p>
            <a:pPr indent="0" marL="0">
              <a:buNone/>
            </a:pPr>
            <a:r>
              <a:rPr lang="en-US" sz="900" dirty="0">
                <a:solidFill>
                  <a:srgbClr val="8A8F98"/>
                </a:solidFill>
                <a:latin typeface="Arial" pitchFamily="34" charset="0"/>
                <a:ea typeface="Arial" pitchFamily="34" charset="-122"/>
                <a:cs typeface="Arial" pitchFamily="34" charset="-120"/>
              </a:rPr>
              <a:t>HỆ THỐNG HỎI ĐÁP CÓ CĂN CỨ  ·  Báo cáo đồ án</a:t>
            </a:r>
            <a:endParaRPr lang="en-US" sz="900" dirty="0"/>
          </a:p>
        </p:txBody>
      </p:sp>
      <p:sp>
        <p:nvSpPr>
          <p:cNvPr id="3" name="Text 1"/>
          <p:cNvSpPr txBox="1"/>
          <p:nvPr/>
        </p:nvSpPr>
        <p:spPr>
          <a:xfrm>
            <a:off x="10972800" y="6400800"/>
            <a:ext cx="658368" cy="274320"/>
          </a:xfrm>
          <a:prstGeom prst="rect">
            <a:avLst/>
          </a:prstGeom>
          <a:noFill/>
          <a:ln/>
        </p:spPr>
        <p:txBody>
          <a:bodyPr wrap="square" lIns="0" tIns="0" rIns="0" bIns="0" rtlCol="0" anchor="ctr"/>
          <a:lstStyle/>
          <a:p>
            <a:pPr algn="r" indent="0" marL="0">
              <a:buNone/>
            </a:pPr>
            <a:r>
              <a:rPr lang="en-US" sz="900" dirty="0">
                <a:solidFill>
                  <a:srgbClr val="8A8F98"/>
                </a:solidFill>
                <a:latin typeface="Arial" pitchFamily="34" charset="0"/>
                <a:ea typeface="Arial" pitchFamily="34" charset="-122"/>
                <a:cs typeface="Arial" pitchFamily="34" charset="-120"/>
              </a:rPr>
              <a:t>09</a:t>
            </a:r>
            <a:endParaRPr lang="en-US" sz="900" dirty="0"/>
          </a:p>
        </p:txBody>
      </p:sp>
      <p:sp>
        <p:nvSpPr>
          <p:cNvPr id="4" name="Text 2"/>
          <p:cNvSpPr txBox="1"/>
          <p:nvPr/>
        </p:nvSpPr>
        <p:spPr>
          <a:xfrm>
            <a:off x="566928" y="384048"/>
            <a:ext cx="5303520" cy="1234440"/>
          </a:xfrm>
          <a:prstGeom prst="rect">
            <a:avLst/>
          </a:prstGeom>
          <a:noFill/>
          <a:ln/>
        </p:spPr>
        <p:txBody>
          <a:bodyPr wrap="square" lIns="0" tIns="0" rIns="0" bIns="0" rtlCol="0" anchor="t"/>
          <a:lstStyle/>
          <a:p>
            <a:pPr indent="0" marL="0">
              <a:lnSpc>
                <a:spcPct val="108000"/>
              </a:lnSpc>
              <a:buNone/>
            </a:pPr>
            <a:r>
              <a:rPr lang="en-US" sz="3200" b="1" dirty="0">
                <a:solidFill>
                  <a:srgbClr val="132B5E"/>
                </a:solidFill>
                <a:latin typeface="Arial" pitchFamily="34" charset="0"/>
                <a:ea typeface="Arial" pitchFamily="34" charset="-122"/>
                <a:cs typeface="Arial" pitchFamily="34" charset="-120"/>
              </a:rPr>
              <a:t>THIẾT KẾ TÍCH HỢP</a:t>
            </a:r>
            <a:endParaRPr lang="en-US" sz="3200" dirty="0"/>
          </a:p>
          <a:p>
            <a:pPr indent="0" marL="0">
              <a:lnSpc>
                <a:spcPct val="108000"/>
              </a:lnSpc>
              <a:buNone/>
            </a:pPr>
            <a:r>
              <a:rPr lang="en-US" sz="3200" b="1" dirty="0">
                <a:solidFill>
                  <a:srgbClr val="132B5E"/>
                </a:solidFill>
                <a:latin typeface="Arial" pitchFamily="34" charset="0"/>
                <a:ea typeface="Arial" pitchFamily="34" charset="-122"/>
                <a:cs typeface="Arial" pitchFamily="34" charset="-120"/>
              </a:rPr>
              <a:t>KMA-TRAINING-SUPPORT</a:t>
            </a:r>
            <a:endParaRPr lang="en-US" sz="3200" dirty="0"/>
          </a:p>
        </p:txBody>
      </p:sp>
      <p:sp>
        <p:nvSpPr>
          <p:cNvPr id="5" name="Shape 3"/>
          <p:cNvSpPr/>
          <p:nvPr/>
        </p:nvSpPr>
        <p:spPr>
          <a:xfrm>
            <a:off x="6217920" y="1508760"/>
            <a:ext cx="5577840" cy="3451079"/>
          </a:xfrm>
          <a:prstGeom prst="rect">
            <a:avLst/>
          </a:prstGeom>
          <a:solidFill>
            <a:srgbClr val="132B5E"/>
          </a:solidFill>
          <a:ln/>
        </p:spPr>
      </p:sp>
      <p:sp>
        <p:nvSpPr>
          <p:cNvPr id="6" name="Shape 4"/>
          <p:cNvSpPr/>
          <p:nvPr/>
        </p:nvSpPr>
        <p:spPr>
          <a:xfrm>
            <a:off x="6126480" y="1417320"/>
            <a:ext cx="5577840" cy="3451079"/>
          </a:xfrm>
          <a:prstGeom prst="rect">
            <a:avLst/>
          </a:prstGeom>
          <a:solidFill>
            <a:srgbClr val="FFFFFF"/>
          </a:solidFill>
          <a:ln w="12700">
            <a:solidFill>
              <a:srgbClr val="FFFFFF"/>
            </a:solidFill>
            <a:prstDash val="solid"/>
          </a:ln>
        </p:spPr>
      </p:sp>
      <p:pic>
        <p:nvPicPr>
          <p:cNvPr id="7" name="Image 0" descr="Kiến trúc tích hợp dự kiến giữa kma-training-support và dịch vụ của đồ án">    </p:cNvPr>
          <p:cNvPicPr>
            <a:picLocks noChangeAspect="1"/>
          </p:cNvPicPr>
          <p:nvPr/>
        </p:nvPicPr>
        <p:blipFill>
          <a:blip r:embed="rId1"/>
          <a:stretch>
            <a:fillRect/>
          </a:stretch>
        </p:blipFill>
        <p:spPr>
          <a:xfrm>
            <a:off x="6190488" y="1481328"/>
            <a:ext cx="5449824" cy="3323063"/>
          </a:xfrm>
          <a:prstGeom prst="rect">
            <a:avLst/>
          </a:prstGeom>
        </p:spPr>
      </p:pic>
      <p:sp>
        <p:nvSpPr>
          <p:cNvPr id="8" name="Shape 5"/>
          <p:cNvSpPr/>
          <p:nvPr/>
        </p:nvSpPr>
        <p:spPr>
          <a:xfrm>
            <a:off x="566928" y="2011680"/>
            <a:ext cx="5120640" cy="3566160"/>
          </a:xfrm>
          <a:prstGeom prst="rect">
            <a:avLst/>
          </a:prstGeom>
          <a:solidFill>
            <a:srgbClr val="132B5E"/>
          </a:solidFill>
          <a:ln/>
        </p:spPr>
      </p:sp>
      <p:sp>
        <p:nvSpPr>
          <p:cNvPr id="9" name="Text 6"/>
          <p:cNvSpPr txBox="1"/>
          <p:nvPr/>
        </p:nvSpPr>
        <p:spPr>
          <a:xfrm>
            <a:off x="950976" y="2304288"/>
            <a:ext cx="4352544" cy="365760"/>
          </a:xfrm>
          <a:prstGeom prst="rect">
            <a:avLst/>
          </a:prstGeom>
          <a:noFill/>
          <a:ln/>
        </p:spPr>
        <p:txBody>
          <a:bodyPr wrap="square" lIns="0" tIns="0" rIns="0" bIns="0" rtlCol="0" anchor="ctr"/>
          <a:lstStyle/>
          <a:p>
            <a:pPr indent="0" marL="0">
              <a:buNone/>
            </a:pPr>
            <a:r>
              <a:rPr lang="en-US" sz="1500" b="1" dirty="0">
                <a:solidFill>
                  <a:srgbClr val="8CC0E4"/>
                </a:solidFill>
                <a:latin typeface="Arial" pitchFamily="34" charset="0"/>
                <a:ea typeface="Arial" pitchFamily="34" charset="-122"/>
                <a:cs typeface="Arial" pitchFamily="34" charset="-120"/>
              </a:rPr>
              <a:t>BA ĐIỂM NỐI (MỨC THIẾT KẾ)</a:t>
            </a:r>
            <a:endParaRPr lang="en-US" sz="1500" dirty="0"/>
          </a:p>
        </p:txBody>
      </p:sp>
      <p:sp>
        <p:nvSpPr>
          <p:cNvPr id="10" name="Text 7"/>
          <p:cNvSpPr txBox="1"/>
          <p:nvPr/>
        </p:nvSpPr>
        <p:spPr>
          <a:xfrm>
            <a:off x="950976" y="2798064"/>
            <a:ext cx="4352544" cy="2468880"/>
          </a:xfrm>
          <a:prstGeom prst="rect">
            <a:avLst/>
          </a:prstGeom>
          <a:noFill/>
          <a:ln/>
        </p:spPr>
        <p:txBody>
          <a:bodyPr wrap="square" lIns="0" tIns="0" rIns="0" bIns="0" rtlCol="0" anchor="t"/>
          <a:lstStyle/>
          <a:p>
            <a:pPr indent="0" marL="0">
              <a:lnSpc>
                <a:spcPct val="120000"/>
              </a:lnSpc>
              <a:spcAft>
                <a:spcPts val="900"/>
              </a:spcAft>
              <a:buNone/>
            </a:pPr>
            <a:r>
              <a:rPr lang="en-US" sz="1300" dirty="0">
                <a:solidFill>
                  <a:srgbClr val="FFFFFF"/>
                </a:solidFill>
                <a:latin typeface="Arial" pitchFamily="34" charset="0"/>
                <a:ea typeface="Arial" pitchFamily="34" charset="-122"/>
                <a:cs typeface="Arial" pitchFamily="34" charset="-120"/>
              </a:rPr>
              <a:t>-  Mô đun /assistant xác thực bằng cơ chế sẵn có rồi chuyển tiếp tới /agent/run, /rag/query.</a:t>
            </a:r>
            <a:endParaRPr lang="en-US" sz="1300" dirty="0"/>
          </a:p>
          <a:p>
            <a:pPr indent="0" marL="0">
              <a:lnSpc>
                <a:spcPct val="120000"/>
              </a:lnSpc>
              <a:spcAft>
                <a:spcPts val="900"/>
              </a:spcAft>
              <a:buNone/>
            </a:pPr>
            <a:r>
              <a:rPr lang="en-US" sz="1300" dirty="0">
                <a:solidFill>
                  <a:srgbClr val="FFFFFF"/>
                </a:solidFill>
                <a:latin typeface="Arial" pitchFamily="34" charset="0"/>
                <a:ea typeface="Arial" pitchFamily="34" charset="-122"/>
                <a:cs typeface="Arial" pitchFamily="34" charset="-120"/>
              </a:rPr>
              <a:t>-  Máy chủ kma-tools (MCP) gọi API bằng quyền của chính giảng viên đang hỏi.</a:t>
            </a:r>
            <a:endParaRPr lang="en-US" sz="1300" dirty="0"/>
          </a:p>
          <a:p>
            <a:pPr indent="0" marL="0">
              <a:lnSpc>
                <a:spcPct val="120000"/>
              </a:lnSpc>
              <a:spcAft>
                <a:spcPts val="900"/>
              </a:spcAft>
              <a:buNone/>
            </a:pPr>
            <a:r>
              <a:rPr lang="en-US" sz="1300" dirty="0">
                <a:solidFill>
                  <a:srgbClr val="FFFFFF"/>
                </a:solidFill>
                <a:latin typeface="Arial" pitchFamily="34" charset="0"/>
                <a:ea typeface="Arial" pitchFamily="34" charset="-122"/>
                <a:cs typeface="Arial" pitchFamily="34" charset="-120"/>
              </a:rPr>
              <a:t>-  Đồng bộ văn bản qua POST và PUT /documents, giữ mã nên trích dẫn cũ vẫn đúng.</a:t>
            </a:r>
            <a:endParaRPr lang="en-US" sz="1300" dirty="0"/>
          </a:p>
          <a:p>
            <a:pPr indent="0" marL="0">
              <a:lnSpc>
                <a:spcPct val="120000"/>
              </a:lnSpc>
              <a:spcAft>
                <a:spcPts val="900"/>
              </a:spcAft>
              <a:buNone/>
            </a:pPr>
            <a:r>
              <a:rPr lang="en-US" sz="1300" dirty="0">
                <a:solidFill>
                  <a:srgbClr val="FFFFFF"/>
                </a:solidFill>
                <a:latin typeface="Arial" pitchFamily="34" charset="0"/>
                <a:ea typeface="Arial" pitchFamily="34" charset="-122"/>
                <a:cs typeface="Arial" pitchFamily="34" charset="-120"/>
              </a:rPr>
              <a:t>-  Lộ trình: chỉ đọc → xuất tệp → thao tác ghi có phê duyệt.</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FEFEE"/>
        </a:solidFill>
      </p:bgPr>
    </p:bg>
    <p:spTree>
      <p:nvGrpSpPr>
        <p:cNvPr id="1" name=""/>
        <p:cNvGrpSpPr/>
        <p:nvPr/>
      </p:nvGrpSpPr>
      <p:grpSpPr>
        <a:xfrm>
          <a:off x="0" y="0"/>
          <a:ext cx="0" cy="0"/>
          <a:chOff x="0" y="0"/>
          <a:chExt cx="0" cy="0"/>
        </a:xfrm>
      </p:grpSpPr>
      <p:sp>
        <p:nvSpPr>
          <p:cNvPr id="2" name="Text 0"/>
          <p:cNvSpPr txBox="1"/>
          <p:nvPr/>
        </p:nvSpPr>
        <p:spPr>
          <a:xfrm>
            <a:off x="566928" y="6400800"/>
            <a:ext cx="6400800" cy="274320"/>
          </a:xfrm>
          <a:prstGeom prst="rect">
            <a:avLst/>
          </a:prstGeom>
          <a:noFill/>
          <a:ln/>
        </p:spPr>
        <p:txBody>
          <a:bodyPr wrap="square" lIns="0" tIns="0" rIns="0" bIns="0" rtlCol="0" anchor="ctr"/>
          <a:lstStyle/>
          <a:p>
            <a:pPr indent="0" marL="0">
              <a:buNone/>
            </a:pPr>
            <a:r>
              <a:rPr lang="en-US" sz="900" dirty="0">
                <a:solidFill>
                  <a:srgbClr val="8A8F98"/>
                </a:solidFill>
                <a:latin typeface="Arial" pitchFamily="34" charset="0"/>
                <a:ea typeface="Arial" pitchFamily="34" charset="-122"/>
                <a:cs typeface="Arial" pitchFamily="34" charset="-120"/>
              </a:rPr>
              <a:t>HỆ THỐNG HỎI ĐÁP CÓ CĂN CỨ  ·  Báo cáo đồ án</a:t>
            </a:r>
            <a:endParaRPr lang="en-US" sz="900" dirty="0"/>
          </a:p>
        </p:txBody>
      </p:sp>
      <p:sp>
        <p:nvSpPr>
          <p:cNvPr id="3" name="Text 1"/>
          <p:cNvSpPr txBox="1"/>
          <p:nvPr/>
        </p:nvSpPr>
        <p:spPr>
          <a:xfrm>
            <a:off x="10972800" y="6400800"/>
            <a:ext cx="658368" cy="274320"/>
          </a:xfrm>
          <a:prstGeom prst="rect">
            <a:avLst/>
          </a:prstGeom>
          <a:noFill/>
          <a:ln/>
        </p:spPr>
        <p:txBody>
          <a:bodyPr wrap="square" lIns="0" tIns="0" rIns="0" bIns="0" rtlCol="0" anchor="ctr"/>
          <a:lstStyle/>
          <a:p>
            <a:pPr algn="r" indent="0" marL="0">
              <a:buNone/>
            </a:pPr>
            <a:r>
              <a:rPr lang="en-US" sz="900" dirty="0">
                <a:solidFill>
                  <a:srgbClr val="8A8F98"/>
                </a:solidFill>
                <a:latin typeface="Arial" pitchFamily="34" charset="0"/>
                <a:ea typeface="Arial" pitchFamily="34" charset="-122"/>
                <a:cs typeface="Arial" pitchFamily="34" charset="-120"/>
              </a:rPr>
              <a:t>14</a:t>
            </a:r>
            <a:endParaRPr lang="en-US" sz="900" dirty="0"/>
          </a:p>
        </p:txBody>
      </p:sp>
      <p:sp>
        <p:nvSpPr>
          <p:cNvPr id="4" name="Text 2"/>
          <p:cNvSpPr txBox="1"/>
          <p:nvPr/>
        </p:nvSpPr>
        <p:spPr>
          <a:xfrm>
            <a:off x="566928" y="384048"/>
            <a:ext cx="10881360" cy="777240"/>
          </a:xfrm>
          <a:prstGeom prst="rect">
            <a:avLst/>
          </a:prstGeom>
          <a:noFill/>
          <a:ln/>
        </p:spPr>
        <p:txBody>
          <a:bodyPr wrap="square" lIns="0" tIns="0" rIns="0" bIns="0" rtlCol="0" anchor="t"/>
          <a:lstStyle/>
          <a:p>
            <a:pPr indent="0" marL="0">
              <a:lnSpc>
                <a:spcPct val="108000"/>
              </a:lnSpc>
              <a:buNone/>
            </a:pPr>
            <a:r>
              <a:rPr lang="en-US" sz="3200" b="1" dirty="0">
                <a:solidFill>
                  <a:srgbClr val="132B5E"/>
                </a:solidFill>
                <a:latin typeface="Arial" pitchFamily="34" charset="0"/>
                <a:ea typeface="Arial" pitchFamily="34" charset="-122"/>
                <a:cs typeface="Arial" pitchFamily="34" charset="-120"/>
              </a:rPr>
              <a:t>KẾT QUẢ TRÊN ĐƯỜNG ỐNG TRUY VẤN</a:t>
            </a:r>
            <a:endParaRPr lang="en-US" sz="3200" dirty="0"/>
          </a:p>
        </p:txBody>
      </p:sp>
      <p:sp>
        <p:nvSpPr>
          <p:cNvPr id="5" name="Text 3"/>
          <p:cNvSpPr txBox="1"/>
          <p:nvPr/>
        </p:nvSpPr>
        <p:spPr>
          <a:xfrm>
            <a:off x="566928" y="1170432"/>
            <a:ext cx="10881360" cy="457200"/>
          </a:xfrm>
          <a:prstGeom prst="rect">
            <a:avLst/>
          </a:prstGeom>
          <a:noFill/>
          <a:ln/>
        </p:spPr>
        <p:txBody>
          <a:bodyPr wrap="square" lIns="0" tIns="0" rIns="0" bIns="0" rtlCol="0" anchor="t"/>
          <a:lstStyle/>
          <a:p>
            <a:pPr indent="0" marL="0">
              <a:lnSpc>
                <a:spcPct val="128000"/>
              </a:lnSpc>
              <a:buNone/>
            </a:pPr>
            <a:r>
              <a:rPr lang="en-US" sz="1450" dirty="0">
                <a:solidFill>
                  <a:srgbClr val="1F3A6E"/>
                </a:solidFill>
                <a:latin typeface="Arial" pitchFamily="34" charset="0"/>
                <a:ea typeface="Arial" pitchFamily="34" charset="-122"/>
                <a:cs typeface="Arial" pitchFamily="34" charset="-120"/>
              </a:rPr>
              <a:t>Đo trên 111 case của năm bộ dữ liệu, mô hình sinh câu trả lời chạy cục bộ ở quy mô bảy tỉ tham số.</a:t>
            </a:r>
            <a:endParaRPr lang="en-US" sz="1450" dirty="0"/>
          </a:p>
        </p:txBody>
      </p:sp>
      <p:sp>
        <p:nvSpPr>
          <p:cNvPr id="6" name="Shape 4"/>
          <p:cNvSpPr/>
          <p:nvPr/>
        </p:nvSpPr>
        <p:spPr>
          <a:xfrm>
            <a:off x="658368" y="1874520"/>
            <a:ext cx="6766560" cy="3164797"/>
          </a:xfrm>
          <a:prstGeom prst="rect">
            <a:avLst/>
          </a:prstGeom>
          <a:solidFill>
            <a:srgbClr val="132B5E"/>
          </a:solidFill>
          <a:ln/>
        </p:spPr>
      </p:sp>
      <p:sp>
        <p:nvSpPr>
          <p:cNvPr id="7" name="Shape 5"/>
          <p:cNvSpPr/>
          <p:nvPr/>
        </p:nvSpPr>
        <p:spPr>
          <a:xfrm>
            <a:off x="566928" y="1783080"/>
            <a:ext cx="6766560" cy="3164797"/>
          </a:xfrm>
          <a:prstGeom prst="rect">
            <a:avLst/>
          </a:prstGeom>
          <a:solidFill>
            <a:srgbClr val="FFFFFF"/>
          </a:solidFill>
          <a:ln w="12700">
            <a:solidFill>
              <a:srgbClr val="FFFFFF"/>
            </a:solidFill>
            <a:prstDash val="solid"/>
          </a:ln>
        </p:spPr>
      </p:sp>
      <p:pic>
        <p:nvPicPr>
          <p:cNvPr id="8" name="Image 0" descr="/private/tmp/claude-501/-Volumes-Data-Documents-rag-reliability/6db8fc1f-3028-4f02-8952-927e30b47723/scratchpad/report/img/c01-passrate.png">    </p:cNvPr>
          <p:cNvPicPr>
            <a:picLocks noChangeAspect="1"/>
          </p:cNvPicPr>
          <p:nvPr/>
        </p:nvPicPr>
        <p:blipFill>
          <a:blip r:embed="rId1"/>
          <a:stretch>
            <a:fillRect/>
          </a:stretch>
        </p:blipFill>
        <p:spPr>
          <a:xfrm>
            <a:off x="630936" y="1847088"/>
            <a:ext cx="6638544" cy="3036781"/>
          </a:xfrm>
          <a:prstGeom prst="rect">
            <a:avLst/>
          </a:prstGeom>
        </p:spPr>
      </p:pic>
      <p:sp>
        <p:nvSpPr>
          <p:cNvPr id="9" name="Shape 6"/>
          <p:cNvSpPr/>
          <p:nvPr/>
        </p:nvSpPr>
        <p:spPr>
          <a:xfrm>
            <a:off x="7635240" y="1783080"/>
            <a:ext cx="4069080" cy="4114800"/>
          </a:xfrm>
          <a:prstGeom prst="rect">
            <a:avLst/>
          </a:prstGeom>
          <a:solidFill>
            <a:srgbClr val="132B5E"/>
          </a:solidFill>
          <a:ln/>
        </p:spPr>
      </p:sp>
      <p:sp>
        <p:nvSpPr>
          <p:cNvPr id="10" name="Text 7"/>
          <p:cNvSpPr txBox="1"/>
          <p:nvPr/>
        </p:nvSpPr>
        <p:spPr>
          <a:xfrm>
            <a:off x="8001000" y="2011680"/>
            <a:ext cx="3383280" cy="566928"/>
          </a:xfrm>
          <a:prstGeom prst="rect">
            <a:avLst/>
          </a:prstGeom>
          <a:noFill/>
          <a:ln/>
        </p:spPr>
        <p:txBody>
          <a:bodyPr wrap="square" lIns="0" tIns="0" rIns="0" bIns="0" rtlCol="0" anchor="ctr"/>
          <a:lstStyle/>
          <a:p>
            <a:pPr indent="0" marL="0">
              <a:buNone/>
            </a:pPr>
            <a:r>
              <a:rPr lang="en-US" sz="2600" b="1" dirty="0">
                <a:solidFill>
                  <a:srgbClr val="8CC0E4"/>
                </a:solidFill>
                <a:latin typeface="Arial" pitchFamily="34" charset="0"/>
                <a:ea typeface="Arial" pitchFamily="34" charset="-122"/>
                <a:cs typeface="Arial" pitchFamily="34" charset="-120"/>
              </a:rPr>
              <a:t>1,00</a:t>
            </a:r>
            <a:endParaRPr lang="en-US" sz="2600" dirty="0"/>
          </a:p>
        </p:txBody>
      </p:sp>
      <p:sp>
        <p:nvSpPr>
          <p:cNvPr id="11" name="Text 8"/>
          <p:cNvSpPr txBox="1"/>
          <p:nvPr/>
        </p:nvSpPr>
        <p:spPr>
          <a:xfrm>
            <a:off x="8001000" y="2560320"/>
            <a:ext cx="3383280" cy="384048"/>
          </a:xfrm>
          <a:prstGeom prst="rect">
            <a:avLst/>
          </a:prstGeom>
          <a:noFill/>
          <a:ln/>
        </p:spPr>
        <p:txBody>
          <a:bodyPr wrap="square" lIns="0" tIns="0" rIns="0" bIns="0" rtlCol="0" anchor="t"/>
          <a:lstStyle/>
          <a:p>
            <a:pPr indent="0" marL="0">
              <a:lnSpc>
                <a:spcPct val="110000"/>
              </a:lnSpc>
              <a:buNone/>
            </a:pPr>
            <a:r>
              <a:rPr lang="en-US" sz="1150" dirty="0">
                <a:solidFill>
                  <a:srgbClr val="FFFFFF"/>
                </a:solidFill>
                <a:latin typeface="Arial" pitchFamily="34" charset="0"/>
                <a:ea typeface="Arial" pitchFamily="34" charset="-122"/>
                <a:cs typeface="Arial" pitchFamily="34" charset="-120"/>
              </a:rPr>
              <a:t>tỉ lệ từ chối đúng</a:t>
            </a:r>
            <a:endParaRPr lang="en-US" sz="1150" dirty="0"/>
          </a:p>
          <a:p>
            <a:pPr indent="0" marL="0">
              <a:lnSpc>
                <a:spcPct val="110000"/>
              </a:lnSpc>
              <a:buNone/>
            </a:pPr>
            <a:r>
              <a:rPr lang="en-US" sz="1150" dirty="0">
                <a:solidFill>
                  <a:srgbClr val="FFFFFF"/>
                </a:solidFill>
                <a:latin typeface="Arial" pitchFamily="34" charset="0"/>
                <a:ea typeface="Arial" pitchFamily="34" charset="-122"/>
                <a:cs typeface="Arial" pitchFamily="34" charset="-120"/>
              </a:rPr>
              <a:t>trên câu hỏi ngoài phạm vi</a:t>
            </a:r>
            <a:endParaRPr lang="en-US" sz="1150" dirty="0"/>
          </a:p>
        </p:txBody>
      </p:sp>
      <p:sp>
        <p:nvSpPr>
          <p:cNvPr id="12" name="Text 9"/>
          <p:cNvSpPr txBox="1"/>
          <p:nvPr/>
        </p:nvSpPr>
        <p:spPr>
          <a:xfrm>
            <a:off x="8001000" y="3017520"/>
            <a:ext cx="3383280" cy="566928"/>
          </a:xfrm>
          <a:prstGeom prst="rect">
            <a:avLst/>
          </a:prstGeom>
          <a:noFill/>
          <a:ln/>
        </p:spPr>
        <p:txBody>
          <a:bodyPr wrap="square" lIns="0" tIns="0" rIns="0" bIns="0" rtlCol="0" anchor="ctr"/>
          <a:lstStyle/>
          <a:p>
            <a:pPr indent="0" marL="0">
              <a:buNone/>
            </a:pPr>
            <a:r>
              <a:rPr lang="en-US" sz="2600" b="1" dirty="0">
                <a:solidFill>
                  <a:srgbClr val="8CC0E4"/>
                </a:solidFill>
                <a:latin typeface="Arial" pitchFamily="34" charset="0"/>
                <a:ea typeface="Arial" pitchFamily="34" charset="-122"/>
                <a:cs typeface="Arial" pitchFamily="34" charset="-120"/>
              </a:rPr>
              <a:t>0,991</a:t>
            </a:r>
            <a:endParaRPr lang="en-US" sz="2600" dirty="0"/>
          </a:p>
        </p:txBody>
      </p:sp>
      <p:sp>
        <p:nvSpPr>
          <p:cNvPr id="13" name="Text 10"/>
          <p:cNvSpPr txBox="1"/>
          <p:nvPr/>
        </p:nvSpPr>
        <p:spPr>
          <a:xfrm>
            <a:off x="8001000" y="3566160"/>
            <a:ext cx="3383280" cy="384048"/>
          </a:xfrm>
          <a:prstGeom prst="rect">
            <a:avLst/>
          </a:prstGeom>
          <a:noFill/>
          <a:ln/>
        </p:spPr>
        <p:txBody>
          <a:bodyPr wrap="square" lIns="0" tIns="0" rIns="0" bIns="0" rtlCol="0" anchor="t"/>
          <a:lstStyle/>
          <a:p>
            <a:pPr indent="0" marL="0">
              <a:lnSpc>
                <a:spcPct val="110000"/>
              </a:lnSpc>
              <a:buNone/>
            </a:pPr>
            <a:r>
              <a:rPr lang="en-US" sz="1150" dirty="0">
                <a:solidFill>
                  <a:srgbClr val="FFFFFF"/>
                </a:solidFill>
                <a:latin typeface="Arial" pitchFamily="34" charset="0"/>
                <a:ea typeface="Arial" pitchFamily="34" charset="-122"/>
                <a:cs typeface="Arial" pitchFamily="34" charset="-120"/>
              </a:rPr>
              <a:t>độ bao phủ khi truy hồi</a:t>
            </a:r>
            <a:endParaRPr lang="en-US" sz="1150" dirty="0"/>
          </a:p>
          <a:p>
            <a:pPr indent="0" marL="0">
              <a:lnSpc>
                <a:spcPct val="110000"/>
              </a:lnSpc>
              <a:buNone/>
            </a:pPr>
            <a:r>
              <a:rPr lang="en-US" sz="1150" dirty="0">
                <a:solidFill>
                  <a:srgbClr val="FFFFFF"/>
                </a:solidFill>
                <a:latin typeface="Arial" pitchFamily="34" charset="0"/>
                <a:ea typeface="Arial" pitchFamily="34" charset="-122"/>
                <a:cs typeface="Arial" pitchFamily="34" charset="-120"/>
              </a:rPr>
              <a:t>trên nhóm answerable</a:t>
            </a:r>
            <a:endParaRPr lang="en-US" sz="1150" dirty="0"/>
          </a:p>
        </p:txBody>
      </p:sp>
      <p:sp>
        <p:nvSpPr>
          <p:cNvPr id="14" name="Text 11"/>
          <p:cNvSpPr txBox="1"/>
          <p:nvPr/>
        </p:nvSpPr>
        <p:spPr>
          <a:xfrm>
            <a:off x="8001000" y="4023360"/>
            <a:ext cx="3383280" cy="566928"/>
          </a:xfrm>
          <a:prstGeom prst="rect">
            <a:avLst/>
          </a:prstGeom>
          <a:noFill/>
          <a:ln/>
        </p:spPr>
        <p:txBody>
          <a:bodyPr wrap="square" lIns="0" tIns="0" rIns="0" bIns="0" rtlCol="0" anchor="ctr"/>
          <a:lstStyle/>
          <a:p>
            <a:pPr indent="0" marL="0">
              <a:buNone/>
            </a:pPr>
            <a:r>
              <a:rPr lang="en-US" sz="2600" b="1" dirty="0">
                <a:solidFill>
                  <a:srgbClr val="8CC0E4"/>
                </a:solidFill>
                <a:latin typeface="Arial" pitchFamily="34" charset="0"/>
                <a:ea typeface="Arial" pitchFamily="34" charset="-122"/>
                <a:cs typeface="Arial" pitchFamily="34" charset="-120"/>
              </a:rPr>
              <a:t>0,983</a:t>
            </a:r>
            <a:endParaRPr lang="en-US" sz="2600" dirty="0"/>
          </a:p>
        </p:txBody>
      </p:sp>
      <p:sp>
        <p:nvSpPr>
          <p:cNvPr id="15" name="Text 12"/>
          <p:cNvSpPr txBox="1"/>
          <p:nvPr/>
        </p:nvSpPr>
        <p:spPr>
          <a:xfrm>
            <a:off x="8001000" y="4572000"/>
            <a:ext cx="3383280" cy="384048"/>
          </a:xfrm>
          <a:prstGeom prst="rect">
            <a:avLst/>
          </a:prstGeom>
          <a:noFill/>
          <a:ln/>
        </p:spPr>
        <p:txBody>
          <a:bodyPr wrap="square" lIns="0" tIns="0" rIns="0" bIns="0" rtlCol="0" anchor="t"/>
          <a:lstStyle/>
          <a:p>
            <a:pPr indent="0" marL="0">
              <a:lnSpc>
                <a:spcPct val="110000"/>
              </a:lnSpc>
              <a:buNone/>
            </a:pPr>
            <a:r>
              <a:rPr lang="en-US" sz="1150" dirty="0">
                <a:solidFill>
                  <a:srgbClr val="FFFFFF"/>
                </a:solidFill>
                <a:latin typeface="Arial" pitchFamily="34" charset="0"/>
                <a:ea typeface="Arial" pitchFamily="34" charset="-122"/>
                <a:cs typeface="Arial" pitchFamily="34" charset="-120"/>
              </a:rPr>
              <a:t>độ trung thực</a:t>
            </a:r>
            <a:endParaRPr lang="en-US" sz="1150" dirty="0"/>
          </a:p>
          <a:p>
            <a:pPr indent="0" marL="0">
              <a:lnSpc>
                <a:spcPct val="110000"/>
              </a:lnSpc>
              <a:buNone/>
            </a:pPr>
            <a:r>
              <a:rPr lang="en-US" sz="1150" dirty="0">
                <a:solidFill>
                  <a:srgbClr val="FFFFFF"/>
                </a:solidFill>
                <a:latin typeface="Arial" pitchFamily="34" charset="0"/>
                <a:ea typeface="Arial" pitchFamily="34" charset="-122"/>
                <a:cs typeface="Arial" pitchFamily="34" charset="-120"/>
              </a:rPr>
              <a:t>trên nhóm answerable</a:t>
            </a:r>
            <a:endParaRPr lang="en-US" sz="1150" dirty="0"/>
          </a:p>
        </p:txBody>
      </p:sp>
      <p:sp>
        <p:nvSpPr>
          <p:cNvPr id="16" name="Text 13"/>
          <p:cNvSpPr txBox="1"/>
          <p:nvPr/>
        </p:nvSpPr>
        <p:spPr>
          <a:xfrm>
            <a:off x="8001000" y="5029200"/>
            <a:ext cx="3383280" cy="566928"/>
          </a:xfrm>
          <a:prstGeom prst="rect">
            <a:avLst/>
          </a:prstGeom>
          <a:noFill/>
          <a:ln/>
        </p:spPr>
        <p:txBody>
          <a:bodyPr wrap="square" lIns="0" tIns="0" rIns="0" bIns="0" rtlCol="0" anchor="ctr"/>
          <a:lstStyle/>
          <a:p>
            <a:pPr indent="0" marL="0">
              <a:buNone/>
            </a:pPr>
            <a:r>
              <a:rPr lang="en-US" sz="2600" b="1" dirty="0">
                <a:solidFill>
                  <a:srgbClr val="8CC0E4"/>
                </a:solidFill>
                <a:latin typeface="Arial" pitchFamily="34" charset="0"/>
                <a:ea typeface="Arial" pitchFamily="34" charset="-122"/>
                <a:cs typeface="Arial" pitchFamily="34" charset="-120"/>
              </a:rPr>
              <a:t>0,018</a:t>
            </a:r>
            <a:endParaRPr lang="en-US" sz="2600" dirty="0"/>
          </a:p>
        </p:txBody>
      </p:sp>
      <p:sp>
        <p:nvSpPr>
          <p:cNvPr id="17" name="Text 14"/>
          <p:cNvSpPr txBox="1"/>
          <p:nvPr/>
        </p:nvSpPr>
        <p:spPr>
          <a:xfrm>
            <a:off x="8001000" y="5577840"/>
            <a:ext cx="3383280" cy="384048"/>
          </a:xfrm>
          <a:prstGeom prst="rect">
            <a:avLst/>
          </a:prstGeom>
          <a:noFill/>
          <a:ln/>
        </p:spPr>
        <p:txBody>
          <a:bodyPr wrap="square" lIns="0" tIns="0" rIns="0" bIns="0" rtlCol="0" anchor="t"/>
          <a:lstStyle/>
          <a:p>
            <a:pPr indent="0" marL="0">
              <a:lnSpc>
                <a:spcPct val="110000"/>
              </a:lnSpc>
              <a:buNone/>
            </a:pPr>
            <a:r>
              <a:rPr lang="en-US" sz="1150" dirty="0">
                <a:solidFill>
                  <a:srgbClr val="FFFFFF"/>
                </a:solidFill>
                <a:latin typeface="Arial" pitchFamily="34" charset="0"/>
                <a:ea typeface="Arial" pitchFamily="34" charset="-122"/>
                <a:cs typeface="Arial" pitchFamily="34" charset="-120"/>
              </a:rPr>
              <a:t>tỉ lệ bịa ở cấp khẳng định</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EFEFEE"/>
        </a:solidFill>
      </p:bgPr>
    </p:bg>
    <p:spTree>
      <p:nvGrpSpPr>
        <p:cNvPr id="1" name=""/>
        <p:cNvGrpSpPr/>
        <p:nvPr/>
      </p:nvGrpSpPr>
      <p:grpSpPr>
        <a:xfrm>
          <a:off x="0" y="0"/>
          <a:ext cx="0" cy="0"/>
          <a:chOff x="0" y="0"/>
          <a:chExt cx="0" cy="0"/>
        </a:xfrm>
      </p:grpSpPr>
      <p:sp>
        <p:nvSpPr>
          <p:cNvPr id="2" name="Text 0"/>
          <p:cNvSpPr txBox="1"/>
          <p:nvPr/>
        </p:nvSpPr>
        <p:spPr>
          <a:xfrm>
            <a:off x="566928" y="6400800"/>
            <a:ext cx="6400800" cy="274320"/>
          </a:xfrm>
          <a:prstGeom prst="rect">
            <a:avLst/>
          </a:prstGeom>
          <a:noFill/>
          <a:ln/>
        </p:spPr>
        <p:txBody>
          <a:bodyPr wrap="square" lIns="0" tIns="0" rIns="0" bIns="0" rtlCol="0" anchor="ctr"/>
          <a:lstStyle/>
          <a:p>
            <a:pPr indent="0" marL="0">
              <a:buNone/>
            </a:pPr>
            <a:r>
              <a:rPr lang="en-US" sz="900" dirty="0">
                <a:solidFill>
                  <a:srgbClr val="8A8F98"/>
                </a:solidFill>
                <a:latin typeface="Arial" pitchFamily="34" charset="0"/>
                <a:ea typeface="Arial" pitchFamily="34" charset="-122"/>
                <a:cs typeface="Arial" pitchFamily="34" charset="-120"/>
              </a:rPr>
              <a:t>HỆ THỐNG HỎI ĐÁP CÓ CĂN CỨ  ·  Báo cáo đồ án</a:t>
            </a:r>
            <a:endParaRPr lang="en-US" sz="900" dirty="0"/>
          </a:p>
        </p:txBody>
      </p:sp>
      <p:sp>
        <p:nvSpPr>
          <p:cNvPr id="3" name="Text 1"/>
          <p:cNvSpPr txBox="1"/>
          <p:nvPr/>
        </p:nvSpPr>
        <p:spPr>
          <a:xfrm>
            <a:off x="10972800" y="6400800"/>
            <a:ext cx="658368" cy="274320"/>
          </a:xfrm>
          <a:prstGeom prst="rect">
            <a:avLst/>
          </a:prstGeom>
          <a:noFill/>
          <a:ln/>
        </p:spPr>
        <p:txBody>
          <a:bodyPr wrap="square" lIns="0" tIns="0" rIns="0" bIns="0" rtlCol="0" anchor="ctr"/>
          <a:lstStyle/>
          <a:p>
            <a:pPr algn="r" indent="0" marL="0">
              <a:buNone/>
            </a:pPr>
            <a:r>
              <a:rPr lang="en-US" sz="900" dirty="0">
                <a:solidFill>
                  <a:srgbClr val="8A8F98"/>
                </a:solidFill>
                <a:latin typeface="Arial" pitchFamily="34" charset="0"/>
                <a:ea typeface="Arial" pitchFamily="34" charset="-122"/>
                <a:cs typeface="Arial" pitchFamily="34" charset="-120"/>
              </a:rPr>
              <a:t>15</a:t>
            </a:r>
            <a:endParaRPr lang="en-US" sz="900" dirty="0"/>
          </a:p>
        </p:txBody>
      </p:sp>
      <p:sp>
        <p:nvSpPr>
          <p:cNvPr id="4" name="Text 2"/>
          <p:cNvSpPr txBox="1"/>
          <p:nvPr/>
        </p:nvSpPr>
        <p:spPr>
          <a:xfrm>
            <a:off x="566928" y="384048"/>
            <a:ext cx="10881360" cy="777240"/>
          </a:xfrm>
          <a:prstGeom prst="rect">
            <a:avLst/>
          </a:prstGeom>
          <a:noFill/>
          <a:ln/>
        </p:spPr>
        <p:txBody>
          <a:bodyPr wrap="square" lIns="0" tIns="0" rIns="0" bIns="0" rtlCol="0" anchor="t"/>
          <a:lstStyle/>
          <a:p>
            <a:pPr indent="0" marL="0">
              <a:lnSpc>
                <a:spcPct val="108000"/>
              </a:lnSpc>
              <a:buNone/>
            </a:pPr>
            <a:r>
              <a:rPr lang="en-US" sz="3200" b="1" dirty="0">
                <a:solidFill>
                  <a:srgbClr val="132B5E"/>
                </a:solidFill>
                <a:latin typeface="Arial" pitchFamily="34" charset="0"/>
                <a:ea typeface="Arial" pitchFamily="34" charset="-122"/>
                <a:cs typeface="Arial" pitchFamily="34" charset="-120"/>
              </a:rPr>
              <a:t>ĐIỂM YẾU VÀ Ý NGHĨA THỰC TIỄN</a:t>
            </a:r>
            <a:endParaRPr lang="en-US" sz="3200" dirty="0"/>
          </a:p>
        </p:txBody>
      </p:sp>
      <p:sp>
        <p:nvSpPr>
          <p:cNvPr id="5" name="Text 3"/>
          <p:cNvSpPr txBox="1"/>
          <p:nvPr/>
        </p:nvSpPr>
        <p:spPr>
          <a:xfrm>
            <a:off x="566928" y="1188720"/>
            <a:ext cx="10881360" cy="548640"/>
          </a:xfrm>
          <a:prstGeom prst="rect">
            <a:avLst/>
          </a:prstGeom>
          <a:noFill/>
          <a:ln/>
        </p:spPr>
        <p:txBody>
          <a:bodyPr wrap="square" lIns="0" tIns="0" rIns="0" bIns="0" rtlCol="0" anchor="t"/>
          <a:lstStyle/>
          <a:p>
            <a:pPr indent="0" marL="0">
              <a:lnSpc>
                <a:spcPct val="128000"/>
              </a:lnSpc>
              <a:buNone/>
            </a:pPr>
            <a:r>
              <a:rPr lang="en-US" sz="1450" dirty="0">
                <a:solidFill>
                  <a:srgbClr val="1F3A6E"/>
                </a:solidFill>
                <a:latin typeface="Arial" pitchFamily="34" charset="0"/>
                <a:ea typeface="Arial" pitchFamily="34" charset="-122"/>
                <a:cs typeface="Arial" pitchFamily="34" charset="-120"/>
              </a:rPr>
              <a:t>Nhóm câu hỏi nhiều chặng chỉ đạt tỉ lệ 0,44 trong khi độ bao phủ khi truy hồi vẫn là 0,926. Chênh lệch đó cho biết lỗi không nằm ở tầng truy hồi.</a:t>
            </a:r>
            <a:endParaRPr lang="en-US" sz="1450" dirty="0"/>
          </a:p>
        </p:txBody>
      </p:sp>
      <p:sp>
        <p:nvSpPr>
          <p:cNvPr id="6" name="Shape 4"/>
          <p:cNvSpPr/>
          <p:nvPr/>
        </p:nvSpPr>
        <p:spPr>
          <a:xfrm>
            <a:off x="658368" y="1965960"/>
            <a:ext cx="6035040" cy="3153565"/>
          </a:xfrm>
          <a:prstGeom prst="rect">
            <a:avLst/>
          </a:prstGeom>
          <a:solidFill>
            <a:srgbClr val="132B5E"/>
          </a:solidFill>
          <a:ln/>
        </p:spPr>
      </p:sp>
      <p:sp>
        <p:nvSpPr>
          <p:cNvPr id="7" name="Shape 5"/>
          <p:cNvSpPr/>
          <p:nvPr/>
        </p:nvSpPr>
        <p:spPr>
          <a:xfrm>
            <a:off x="566928" y="1874520"/>
            <a:ext cx="6035040" cy="3153565"/>
          </a:xfrm>
          <a:prstGeom prst="rect">
            <a:avLst/>
          </a:prstGeom>
          <a:solidFill>
            <a:srgbClr val="FFFFFF"/>
          </a:solidFill>
          <a:ln w="12700">
            <a:solidFill>
              <a:srgbClr val="FFFFFF"/>
            </a:solidFill>
            <a:prstDash val="solid"/>
          </a:ln>
        </p:spPr>
      </p:sp>
      <p:pic>
        <p:nvPicPr>
          <p:cNvPr id="8" name="Image 0" descr="/private/tmp/claude-501/-Volumes-Data-Documents-rag-reliability/6db8fc1f-3028-4f02-8952-927e30b47723/scratchpad/report/img/c02-retrieval.png">    </p:cNvPr>
          <p:cNvPicPr>
            <a:picLocks noChangeAspect="1"/>
          </p:cNvPicPr>
          <p:nvPr/>
        </p:nvPicPr>
        <p:blipFill>
          <a:blip r:embed="rId1"/>
          <a:stretch>
            <a:fillRect/>
          </a:stretch>
        </p:blipFill>
        <p:spPr>
          <a:xfrm>
            <a:off x="630936" y="1938528"/>
            <a:ext cx="5907024" cy="3025549"/>
          </a:xfrm>
          <a:prstGeom prst="rect">
            <a:avLst/>
          </a:prstGeom>
        </p:spPr>
      </p:pic>
      <p:sp>
        <p:nvSpPr>
          <p:cNvPr id="9" name="Shape 6"/>
          <p:cNvSpPr/>
          <p:nvPr/>
        </p:nvSpPr>
        <p:spPr>
          <a:xfrm>
            <a:off x="6903720" y="1874520"/>
            <a:ext cx="4800600" cy="3657600"/>
          </a:xfrm>
          <a:prstGeom prst="rect">
            <a:avLst/>
          </a:prstGeom>
          <a:solidFill>
            <a:srgbClr val="132B5E"/>
          </a:solidFill>
          <a:ln/>
        </p:spPr>
      </p:sp>
      <p:sp>
        <p:nvSpPr>
          <p:cNvPr id="10" name="Text 7"/>
          <p:cNvSpPr txBox="1"/>
          <p:nvPr/>
        </p:nvSpPr>
        <p:spPr>
          <a:xfrm>
            <a:off x="7287768" y="2167128"/>
            <a:ext cx="4032504" cy="365760"/>
          </a:xfrm>
          <a:prstGeom prst="rect">
            <a:avLst/>
          </a:prstGeom>
          <a:noFill/>
          <a:ln/>
        </p:spPr>
        <p:txBody>
          <a:bodyPr wrap="square" lIns="0" tIns="0" rIns="0" bIns="0" rtlCol="0" anchor="ctr"/>
          <a:lstStyle/>
          <a:p>
            <a:pPr indent="0" marL="0">
              <a:buNone/>
            </a:pPr>
            <a:r>
              <a:rPr lang="en-US" sz="1500" b="1" dirty="0">
                <a:solidFill>
                  <a:srgbClr val="8CC0E4"/>
                </a:solidFill>
                <a:latin typeface="Arial" pitchFamily="34" charset="0"/>
                <a:ea typeface="Arial" pitchFamily="34" charset="-122"/>
                <a:cs typeface="Arial" pitchFamily="34" charset="-120"/>
              </a:rPr>
              <a:t>ĐỌC ĐÚNG CON SỐ</a:t>
            </a:r>
            <a:endParaRPr lang="en-US" sz="1500" dirty="0"/>
          </a:p>
        </p:txBody>
      </p:sp>
      <p:sp>
        <p:nvSpPr>
          <p:cNvPr id="11" name="Text 8"/>
          <p:cNvSpPr txBox="1"/>
          <p:nvPr/>
        </p:nvSpPr>
        <p:spPr>
          <a:xfrm>
            <a:off x="7287768" y="2660904"/>
            <a:ext cx="4032504" cy="2560320"/>
          </a:xfrm>
          <a:prstGeom prst="rect">
            <a:avLst/>
          </a:prstGeom>
          <a:noFill/>
          <a:ln/>
        </p:spPr>
        <p:txBody>
          <a:bodyPr wrap="square" lIns="0" tIns="0" rIns="0" bIns="0" rtlCol="0" anchor="t"/>
          <a:lstStyle/>
          <a:p>
            <a:pPr indent="0" marL="0">
              <a:lnSpc>
                <a:spcPct val="120000"/>
              </a:lnSpc>
              <a:spcAft>
                <a:spcPts val="900"/>
              </a:spcAft>
              <a:buNone/>
            </a:pPr>
            <a:r>
              <a:rPr lang="en-US" sz="1250" dirty="0">
                <a:solidFill>
                  <a:srgbClr val="FFFFFF"/>
                </a:solidFill>
                <a:latin typeface="Arial" pitchFamily="34" charset="0"/>
                <a:ea typeface="Arial" pitchFamily="34" charset="-122"/>
                <a:cs typeface="Arial" pitchFamily="34" charset="-120"/>
              </a:rPr>
              <a:t>-  Bằng chứng đã đúng, mô hình 7B không nối được nhiều mắt xích: giới hạn mô hình, không phải lỗi cài đặt.</a:t>
            </a:r>
            <a:endParaRPr lang="en-US" sz="1250" dirty="0"/>
          </a:p>
          <a:p>
            <a:pPr indent="0" marL="0">
              <a:lnSpc>
                <a:spcPct val="120000"/>
              </a:lnSpc>
              <a:spcAft>
                <a:spcPts val="900"/>
              </a:spcAft>
              <a:buNone/>
            </a:pPr>
            <a:r>
              <a:rPr lang="en-US" sz="1250" dirty="0">
                <a:solidFill>
                  <a:srgbClr val="FFFFFF"/>
                </a:solidFill>
                <a:latin typeface="Arial" pitchFamily="34" charset="0"/>
                <a:ea typeface="Arial" pitchFamily="34" charset="-122"/>
                <a:cs typeface="Arial" pitchFamily="34" charset="-120"/>
              </a:rPr>
              <a:t>-  Trích dẫn 0,67 chủ yếu do trích tài liệu khác có nội dung tương đương.</a:t>
            </a:r>
            <a:endParaRPr lang="en-US" sz="1250" dirty="0"/>
          </a:p>
          <a:p>
            <a:pPr indent="0" marL="0">
              <a:lnSpc>
                <a:spcPct val="120000"/>
              </a:lnSpc>
              <a:spcAft>
                <a:spcPts val="900"/>
              </a:spcAft>
              <a:buNone/>
            </a:pPr>
            <a:r>
              <a:rPr lang="en-US" sz="1250" dirty="0">
                <a:solidFill>
                  <a:srgbClr val="FFFFFF"/>
                </a:solidFill>
                <a:latin typeface="Arial" pitchFamily="34" charset="0"/>
                <a:ea typeface="Arial" pitchFamily="34" charset="-122"/>
                <a:cs typeface="Arial" pitchFamily="34" charset="-120"/>
              </a:rPr>
              <a:t>-  Tra cứu quy chuẩn đã đủ để thử nghiệm; câu hỏi nhiều điều khoản nên trả điều khoản kèm trích dẫn.</a:t>
            </a:r>
            <a:endParaRPr lang="en-US" sz="1250" dirty="0"/>
          </a:p>
          <a:p>
            <a:pPr indent="0" marL="0">
              <a:lnSpc>
                <a:spcPct val="120000"/>
              </a:lnSpc>
              <a:spcAft>
                <a:spcPts val="900"/>
              </a:spcAft>
              <a:buNone/>
            </a:pPr>
            <a:r>
              <a:rPr lang="en-US" sz="1250" dirty="0">
                <a:solidFill>
                  <a:srgbClr val="FFFFFF"/>
                </a:solidFill>
                <a:latin typeface="Arial" pitchFamily="34" charset="0"/>
                <a:ea typeface="Arial" pitchFamily="34" charset="-122"/>
                <a:cs typeface="Arial" pitchFamily="34" charset="-120"/>
              </a:rPr>
              <a:t>-  Độ trễ khoảng 18 giây là rào cản chính khi triển khai.</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EFEFEE"/>
        </a:solidFill>
      </p:bgPr>
    </p:bg>
    <p:spTree>
      <p:nvGrpSpPr>
        <p:cNvPr id="1" name=""/>
        <p:cNvGrpSpPr/>
        <p:nvPr/>
      </p:nvGrpSpPr>
      <p:grpSpPr>
        <a:xfrm>
          <a:off x="0" y="0"/>
          <a:ext cx="0" cy="0"/>
          <a:chOff x="0" y="0"/>
          <a:chExt cx="0" cy="0"/>
        </a:xfrm>
      </p:grpSpPr>
      <p:sp>
        <p:nvSpPr>
          <p:cNvPr id="2" name="Text 0"/>
          <p:cNvSpPr txBox="1"/>
          <p:nvPr/>
        </p:nvSpPr>
        <p:spPr>
          <a:xfrm>
            <a:off x="566928" y="6400800"/>
            <a:ext cx="6400800" cy="274320"/>
          </a:xfrm>
          <a:prstGeom prst="rect">
            <a:avLst/>
          </a:prstGeom>
          <a:noFill/>
          <a:ln/>
        </p:spPr>
        <p:txBody>
          <a:bodyPr wrap="square" lIns="0" tIns="0" rIns="0" bIns="0" rtlCol="0" anchor="ctr"/>
          <a:lstStyle/>
          <a:p>
            <a:pPr indent="0" marL="0">
              <a:buNone/>
            </a:pPr>
            <a:r>
              <a:rPr lang="en-US" sz="900" dirty="0">
                <a:solidFill>
                  <a:srgbClr val="8A8F98"/>
                </a:solidFill>
                <a:latin typeface="Arial" pitchFamily="34" charset="0"/>
                <a:ea typeface="Arial" pitchFamily="34" charset="-122"/>
                <a:cs typeface="Arial" pitchFamily="34" charset="-120"/>
              </a:rPr>
              <a:t>HỆ THỐNG HỎI ĐÁP CÓ CĂN CỨ  ·  Báo cáo đồ án</a:t>
            </a:r>
            <a:endParaRPr lang="en-US" sz="900" dirty="0"/>
          </a:p>
        </p:txBody>
      </p:sp>
      <p:sp>
        <p:nvSpPr>
          <p:cNvPr id="3" name="Text 1"/>
          <p:cNvSpPr txBox="1"/>
          <p:nvPr/>
        </p:nvSpPr>
        <p:spPr>
          <a:xfrm>
            <a:off x="10972800" y="6400800"/>
            <a:ext cx="658368" cy="274320"/>
          </a:xfrm>
          <a:prstGeom prst="rect">
            <a:avLst/>
          </a:prstGeom>
          <a:noFill/>
          <a:ln/>
        </p:spPr>
        <p:txBody>
          <a:bodyPr wrap="square" lIns="0" tIns="0" rIns="0" bIns="0" rtlCol="0" anchor="ctr"/>
          <a:lstStyle/>
          <a:p>
            <a:pPr algn="r" indent="0" marL="0">
              <a:buNone/>
            </a:pPr>
            <a:r>
              <a:rPr lang="en-US" sz="900" dirty="0">
                <a:solidFill>
                  <a:srgbClr val="8A8F98"/>
                </a:solidFill>
                <a:latin typeface="Arial" pitchFamily="34" charset="0"/>
                <a:ea typeface="Arial" pitchFamily="34" charset="-122"/>
                <a:cs typeface="Arial" pitchFamily="34" charset="-120"/>
              </a:rPr>
              <a:t>16</a:t>
            </a:r>
            <a:endParaRPr lang="en-US" sz="900" dirty="0"/>
          </a:p>
        </p:txBody>
      </p:sp>
      <p:sp>
        <p:nvSpPr>
          <p:cNvPr id="4" name="Text 2"/>
          <p:cNvSpPr txBox="1"/>
          <p:nvPr/>
        </p:nvSpPr>
        <p:spPr>
          <a:xfrm>
            <a:off x="566928" y="384048"/>
            <a:ext cx="10881360" cy="777240"/>
          </a:xfrm>
          <a:prstGeom prst="rect">
            <a:avLst/>
          </a:prstGeom>
          <a:noFill/>
          <a:ln/>
        </p:spPr>
        <p:txBody>
          <a:bodyPr wrap="square" lIns="0" tIns="0" rIns="0" bIns="0" rtlCol="0" anchor="t"/>
          <a:lstStyle/>
          <a:p>
            <a:pPr indent="0" marL="0">
              <a:lnSpc>
                <a:spcPct val="108000"/>
              </a:lnSpc>
              <a:buNone/>
            </a:pPr>
            <a:r>
              <a:rPr lang="en-US" sz="3200" b="1" dirty="0">
                <a:solidFill>
                  <a:srgbClr val="132B5E"/>
                </a:solidFill>
                <a:latin typeface="Arial" pitchFamily="34" charset="0"/>
                <a:ea typeface="Arial" pitchFamily="34" charset="-122"/>
                <a:cs typeface="Arial" pitchFamily="34" charset="-120"/>
              </a:rPr>
              <a:t>KIỂM TOÁN ĐỘC LẬP VÀ KẾT QUẢ KHẮC PHỤC</a:t>
            </a:r>
            <a:endParaRPr lang="en-US" sz="3200" dirty="0"/>
          </a:p>
        </p:txBody>
      </p:sp>
      <p:sp>
        <p:nvSpPr>
          <p:cNvPr id="5" name="Text 3"/>
          <p:cNvSpPr txBox="1"/>
          <p:nvPr/>
        </p:nvSpPr>
        <p:spPr>
          <a:xfrm>
            <a:off x="566928" y="1170432"/>
            <a:ext cx="10881360" cy="502920"/>
          </a:xfrm>
          <a:prstGeom prst="rect">
            <a:avLst/>
          </a:prstGeom>
          <a:noFill/>
          <a:ln/>
        </p:spPr>
        <p:txBody>
          <a:bodyPr wrap="square" lIns="0" tIns="0" rIns="0" bIns="0" rtlCol="0" anchor="t"/>
          <a:lstStyle/>
          <a:p>
            <a:pPr indent="0" marL="0">
              <a:lnSpc>
                <a:spcPct val="128000"/>
              </a:lnSpc>
              <a:buNone/>
            </a:pPr>
            <a:r>
              <a:rPr lang="en-US" sz="1450" dirty="0">
                <a:solidFill>
                  <a:srgbClr val="1F3A6E"/>
                </a:solidFill>
                <a:latin typeface="Arial" pitchFamily="34" charset="0"/>
                <a:ea typeface="Arial" pitchFamily="34" charset="-122"/>
                <a:cs typeface="Arial" pitchFamily="34" charset="-120"/>
              </a:rPr>
              <a:t>Một vòng rà soát độc lập theo mười khía cạnh chỉ ra ba lỗi chặn. Sau khi sửa, các chỉ số được đo lại trên cùng bộ dữ liệu.</a:t>
            </a:r>
            <a:endParaRPr lang="en-US" sz="1450" dirty="0"/>
          </a:p>
        </p:txBody>
      </p:sp>
      <p:sp>
        <p:nvSpPr>
          <p:cNvPr id="6" name="Shape 4"/>
          <p:cNvSpPr/>
          <p:nvPr/>
        </p:nvSpPr>
        <p:spPr>
          <a:xfrm>
            <a:off x="2718320" y="1874520"/>
            <a:ext cx="6944336" cy="3246120"/>
          </a:xfrm>
          <a:prstGeom prst="rect">
            <a:avLst/>
          </a:prstGeom>
          <a:solidFill>
            <a:srgbClr val="132B5E"/>
          </a:solidFill>
          <a:ln/>
        </p:spPr>
      </p:sp>
      <p:sp>
        <p:nvSpPr>
          <p:cNvPr id="7" name="Shape 5"/>
          <p:cNvSpPr/>
          <p:nvPr/>
        </p:nvSpPr>
        <p:spPr>
          <a:xfrm>
            <a:off x="2626880" y="1783080"/>
            <a:ext cx="6944336" cy="3246120"/>
          </a:xfrm>
          <a:prstGeom prst="rect">
            <a:avLst/>
          </a:prstGeom>
          <a:solidFill>
            <a:srgbClr val="FFFFFF"/>
          </a:solidFill>
          <a:ln w="12700">
            <a:solidFill>
              <a:srgbClr val="FFFFFF"/>
            </a:solidFill>
            <a:prstDash val="solid"/>
          </a:ln>
        </p:spPr>
      </p:sp>
      <p:pic>
        <p:nvPicPr>
          <p:cNvPr id="8" name="Image 0" descr="/private/tmp/claude-501/-Volumes-Data-Documents-rag-reliability/6db8fc1f-3028-4f02-8952-927e30b47723/scratchpad/report/img/c03-remediation.png">    </p:cNvPr>
          <p:cNvPicPr>
            <a:picLocks noChangeAspect="1"/>
          </p:cNvPicPr>
          <p:nvPr/>
        </p:nvPicPr>
        <p:blipFill>
          <a:blip r:embed="rId1"/>
          <a:stretch>
            <a:fillRect/>
          </a:stretch>
        </p:blipFill>
        <p:spPr>
          <a:xfrm>
            <a:off x="2690888" y="1847088"/>
            <a:ext cx="6816320" cy="3118104"/>
          </a:xfrm>
          <a:prstGeom prst="rect">
            <a:avLst/>
          </a:prstGeom>
        </p:spPr>
      </p:pic>
      <p:sp>
        <p:nvSpPr>
          <p:cNvPr id="9" name="Text 6"/>
          <p:cNvSpPr txBox="1"/>
          <p:nvPr/>
        </p:nvSpPr>
        <p:spPr>
          <a:xfrm>
            <a:off x="566928" y="5212080"/>
            <a:ext cx="10881360" cy="1097280"/>
          </a:xfrm>
          <a:prstGeom prst="rect">
            <a:avLst/>
          </a:prstGeom>
          <a:noFill/>
          <a:ln/>
        </p:spPr>
        <p:txBody>
          <a:bodyPr wrap="square" lIns="0" tIns="0" rIns="0" bIns="0" rtlCol="0" anchor="t"/>
          <a:lstStyle/>
          <a:p>
            <a:pPr indent="0" marL="0">
              <a:lnSpc>
                <a:spcPct val="120000"/>
              </a:lnSpc>
              <a:spcAft>
                <a:spcPts val="400"/>
              </a:spcAft>
              <a:buNone/>
            </a:pPr>
            <a:r>
              <a:rPr lang="en-US" sz="1250" dirty="0">
                <a:solidFill>
                  <a:srgbClr val="1F3A6E"/>
                </a:solidFill>
                <a:latin typeface="Arial" pitchFamily="34" charset="0"/>
                <a:ea typeface="Arial" pitchFamily="34" charset="-122"/>
                <a:cs typeface="Arial" pitchFamily="34" charset="-120"/>
              </a:rPr>
              <a:t>-  Bộ phát hiện mâu thuẫn báo nhầm, kéo độ trung thực đo được xuống 0,0.</a:t>
            </a:r>
            <a:endParaRPr lang="en-US" sz="1250" dirty="0"/>
          </a:p>
          <a:p>
            <a:pPr indent="0" marL="0">
              <a:lnSpc>
                <a:spcPct val="120000"/>
              </a:lnSpc>
              <a:spcAft>
                <a:spcPts val="400"/>
              </a:spcAft>
              <a:buNone/>
            </a:pPr>
            <a:r>
              <a:rPr lang="en-US" sz="1250" dirty="0">
                <a:solidFill>
                  <a:srgbClr val="1F3A6E"/>
                </a:solidFill>
                <a:latin typeface="Arial" pitchFamily="34" charset="0"/>
                <a:ea typeface="Arial" pitchFamily="34" charset="-122"/>
                <a:cs typeface="Arial" pitchFamily="34" charset="-120"/>
              </a:rPr>
              <a:t>-  Bế tắc khử trùng lặp khoá vĩnh viễn việc nạp lại một tài liệu.</a:t>
            </a:r>
            <a:endParaRPr lang="en-US" sz="1250" dirty="0"/>
          </a:p>
          <a:p>
            <a:pPr indent="0" marL="0">
              <a:lnSpc>
                <a:spcPct val="120000"/>
              </a:lnSpc>
              <a:spcAft>
                <a:spcPts val="400"/>
              </a:spcAft>
              <a:buNone/>
            </a:pPr>
            <a:r>
              <a:rPr lang="en-US" sz="1250" dirty="0">
                <a:solidFill>
                  <a:srgbClr val="1F3A6E"/>
                </a:solidFill>
                <a:latin typeface="Arial" pitchFamily="34" charset="0"/>
                <a:ea typeface="Arial" pitchFamily="34" charset="-122"/>
                <a:cs typeface="Arial" pitchFamily="34" charset="-120"/>
              </a:rPr>
              <a:t>-  Biểu thức tìm kiếm toàn văn ép phép và, câu hỏi tự nhiên trả về rỗng.</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EFEFEE"/>
        </a:solidFill>
      </p:bgPr>
    </p:bg>
    <p:spTree>
      <p:nvGrpSpPr>
        <p:cNvPr id="1" name=""/>
        <p:cNvGrpSpPr/>
        <p:nvPr/>
      </p:nvGrpSpPr>
      <p:grpSpPr>
        <a:xfrm>
          <a:off x="0" y="0"/>
          <a:ext cx="0" cy="0"/>
          <a:chOff x="0" y="0"/>
          <a:chExt cx="0" cy="0"/>
        </a:xfrm>
      </p:grpSpPr>
      <p:sp>
        <p:nvSpPr>
          <p:cNvPr id="2" name="Text 0"/>
          <p:cNvSpPr txBox="1"/>
          <p:nvPr/>
        </p:nvSpPr>
        <p:spPr>
          <a:xfrm>
            <a:off x="566928" y="6400800"/>
            <a:ext cx="6400800" cy="274320"/>
          </a:xfrm>
          <a:prstGeom prst="rect">
            <a:avLst/>
          </a:prstGeom>
          <a:noFill/>
          <a:ln/>
        </p:spPr>
        <p:txBody>
          <a:bodyPr wrap="square" lIns="0" tIns="0" rIns="0" bIns="0" rtlCol="0" anchor="ctr"/>
          <a:lstStyle/>
          <a:p>
            <a:pPr indent="0" marL="0">
              <a:buNone/>
            </a:pPr>
            <a:r>
              <a:rPr lang="en-US" sz="900" dirty="0">
                <a:solidFill>
                  <a:srgbClr val="8A8F98"/>
                </a:solidFill>
                <a:latin typeface="Arial" pitchFamily="34" charset="0"/>
                <a:ea typeface="Arial" pitchFamily="34" charset="-122"/>
                <a:cs typeface="Arial" pitchFamily="34" charset="-120"/>
              </a:rPr>
              <a:t>HỆ THỐNG HỎI ĐÁP CÓ CĂN CỨ  ·  Báo cáo đồ án</a:t>
            </a:r>
            <a:endParaRPr lang="en-US" sz="900" dirty="0"/>
          </a:p>
        </p:txBody>
      </p:sp>
      <p:sp>
        <p:nvSpPr>
          <p:cNvPr id="3" name="Text 1"/>
          <p:cNvSpPr txBox="1"/>
          <p:nvPr/>
        </p:nvSpPr>
        <p:spPr>
          <a:xfrm>
            <a:off x="10972800" y="6400800"/>
            <a:ext cx="658368" cy="274320"/>
          </a:xfrm>
          <a:prstGeom prst="rect">
            <a:avLst/>
          </a:prstGeom>
          <a:noFill/>
          <a:ln/>
        </p:spPr>
        <p:txBody>
          <a:bodyPr wrap="square" lIns="0" tIns="0" rIns="0" bIns="0" rtlCol="0" anchor="ctr"/>
          <a:lstStyle/>
          <a:p>
            <a:pPr algn="r" indent="0" marL="0">
              <a:buNone/>
            </a:pPr>
            <a:r>
              <a:rPr lang="en-US" sz="900" dirty="0">
                <a:solidFill>
                  <a:srgbClr val="8A8F98"/>
                </a:solidFill>
                <a:latin typeface="Arial" pitchFamily="34" charset="0"/>
                <a:ea typeface="Arial" pitchFamily="34" charset="-122"/>
                <a:cs typeface="Arial" pitchFamily="34" charset="-120"/>
              </a:rPr>
              <a:t>17</a:t>
            </a:r>
            <a:endParaRPr lang="en-US" sz="900" dirty="0"/>
          </a:p>
        </p:txBody>
      </p:sp>
      <p:sp>
        <p:nvSpPr>
          <p:cNvPr id="4" name="Text 2"/>
          <p:cNvSpPr txBox="1"/>
          <p:nvPr/>
        </p:nvSpPr>
        <p:spPr>
          <a:xfrm>
            <a:off x="566928" y="384048"/>
            <a:ext cx="10881360" cy="777240"/>
          </a:xfrm>
          <a:prstGeom prst="rect">
            <a:avLst/>
          </a:prstGeom>
          <a:noFill/>
          <a:ln/>
        </p:spPr>
        <p:txBody>
          <a:bodyPr wrap="square" lIns="0" tIns="0" rIns="0" bIns="0" rtlCol="0" anchor="t"/>
          <a:lstStyle/>
          <a:p>
            <a:pPr indent="0" marL="0">
              <a:lnSpc>
                <a:spcPct val="108000"/>
              </a:lnSpc>
              <a:buNone/>
            </a:pPr>
            <a:r>
              <a:rPr lang="en-US" sz="3200" b="1" dirty="0">
                <a:solidFill>
                  <a:srgbClr val="132B5E"/>
                </a:solidFill>
                <a:latin typeface="Arial" pitchFamily="34" charset="0"/>
                <a:ea typeface="Arial" pitchFamily="34" charset="-122"/>
                <a:cs typeface="Arial" pitchFamily="34" charset="-120"/>
              </a:rPr>
              <a:t>KẾT QUẢ CỦA NỀN TẢNG TÁC TỬ</a:t>
            </a:r>
            <a:endParaRPr lang="en-US" sz="3200" dirty="0"/>
          </a:p>
        </p:txBody>
      </p:sp>
      <p:sp>
        <p:nvSpPr>
          <p:cNvPr id="5" name="Text 3"/>
          <p:cNvSpPr txBox="1"/>
          <p:nvPr/>
        </p:nvSpPr>
        <p:spPr>
          <a:xfrm>
            <a:off x="566928" y="1170432"/>
            <a:ext cx="10881360" cy="457200"/>
          </a:xfrm>
          <a:prstGeom prst="rect">
            <a:avLst/>
          </a:prstGeom>
          <a:noFill/>
          <a:ln/>
        </p:spPr>
        <p:txBody>
          <a:bodyPr wrap="square" lIns="0" tIns="0" rIns="0" bIns="0" rtlCol="0" anchor="t"/>
          <a:lstStyle/>
          <a:p>
            <a:pPr indent="0" marL="0">
              <a:lnSpc>
                <a:spcPct val="128000"/>
              </a:lnSpc>
              <a:buNone/>
            </a:pPr>
            <a:r>
              <a:rPr lang="en-US" sz="1450" dirty="0">
                <a:solidFill>
                  <a:srgbClr val="1F3A6E"/>
                </a:solidFill>
                <a:latin typeface="Arial" pitchFamily="34" charset="0"/>
                <a:ea typeface="Arial" pitchFamily="34" charset="-122"/>
                <a:cs typeface="Arial" pitchFamily="34" charset="-120"/>
              </a:rPr>
              <a:t>Đo trên 24 case chia 14 nhóm, môi trường công cụ giả lập hoàn toàn nên kết quả tất định và lặp lại được.</a:t>
            </a:r>
            <a:endParaRPr lang="en-US" sz="1450" dirty="0"/>
          </a:p>
        </p:txBody>
      </p:sp>
      <p:sp>
        <p:nvSpPr>
          <p:cNvPr id="6" name="Shape 4"/>
          <p:cNvSpPr/>
          <p:nvPr/>
        </p:nvSpPr>
        <p:spPr>
          <a:xfrm>
            <a:off x="658368" y="1874520"/>
            <a:ext cx="6858000" cy="3187100"/>
          </a:xfrm>
          <a:prstGeom prst="rect">
            <a:avLst/>
          </a:prstGeom>
          <a:solidFill>
            <a:srgbClr val="132B5E"/>
          </a:solidFill>
          <a:ln/>
        </p:spPr>
      </p:sp>
      <p:sp>
        <p:nvSpPr>
          <p:cNvPr id="7" name="Shape 5"/>
          <p:cNvSpPr/>
          <p:nvPr/>
        </p:nvSpPr>
        <p:spPr>
          <a:xfrm>
            <a:off x="566928" y="1783080"/>
            <a:ext cx="6858000" cy="3187100"/>
          </a:xfrm>
          <a:prstGeom prst="rect">
            <a:avLst/>
          </a:prstGeom>
          <a:solidFill>
            <a:srgbClr val="FFFFFF"/>
          </a:solidFill>
          <a:ln w="12700">
            <a:solidFill>
              <a:srgbClr val="FFFFFF"/>
            </a:solidFill>
            <a:prstDash val="solid"/>
          </a:ln>
        </p:spPr>
      </p:sp>
      <p:pic>
        <p:nvPicPr>
          <p:cNvPr id="8" name="Image 0" descr="/private/tmp/claude-501/-Volumes-Data-Documents-rag-reliability/6db8fc1f-3028-4f02-8952-927e30b47723/scratchpad/report/img/c06-agent-metrics.png">    </p:cNvPr>
          <p:cNvPicPr>
            <a:picLocks noChangeAspect="1"/>
          </p:cNvPicPr>
          <p:nvPr/>
        </p:nvPicPr>
        <p:blipFill>
          <a:blip r:embed="rId1"/>
          <a:stretch>
            <a:fillRect/>
          </a:stretch>
        </p:blipFill>
        <p:spPr>
          <a:xfrm>
            <a:off x="630936" y="1847088"/>
            <a:ext cx="6729984" cy="3059084"/>
          </a:xfrm>
          <a:prstGeom prst="rect">
            <a:avLst/>
          </a:prstGeom>
        </p:spPr>
      </p:pic>
      <p:sp>
        <p:nvSpPr>
          <p:cNvPr id="9" name="Shape 6"/>
          <p:cNvSpPr/>
          <p:nvPr/>
        </p:nvSpPr>
        <p:spPr>
          <a:xfrm>
            <a:off x="7726680" y="1783080"/>
            <a:ext cx="3977640" cy="3931920"/>
          </a:xfrm>
          <a:prstGeom prst="rect">
            <a:avLst/>
          </a:prstGeom>
          <a:solidFill>
            <a:srgbClr val="132B5E"/>
          </a:solidFill>
          <a:ln/>
        </p:spPr>
      </p:sp>
      <p:sp>
        <p:nvSpPr>
          <p:cNvPr id="10" name="Text 7"/>
          <p:cNvSpPr txBox="1"/>
          <p:nvPr/>
        </p:nvSpPr>
        <p:spPr>
          <a:xfrm>
            <a:off x="8110728" y="2075688"/>
            <a:ext cx="3209544" cy="365760"/>
          </a:xfrm>
          <a:prstGeom prst="rect">
            <a:avLst/>
          </a:prstGeom>
          <a:noFill/>
          <a:ln/>
        </p:spPr>
        <p:txBody>
          <a:bodyPr wrap="square" lIns="0" tIns="0" rIns="0" bIns="0" rtlCol="0" anchor="ctr"/>
          <a:lstStyle/>
          <a:p>
            <a:pPr indent="0" marL="0">
              <a:buNone/>
            </a:pPr>
            <a:r>
              <a:rPr lang="en-US" sz="1500" b="1" dirty="0">
                <a:solidFill>
                  <a:srgbClr val="8CC0E4"/>
                </a:solidFill>
                <a:latin typeface="Arial" pitchFamily="34" charset="0"/>
                <a:ea typeface="Arial" pitchFamily="34" charset="-122"/>
                <a:cs typeface="Arial" pitchFamily="34" charset="-120"/>
              </a:rPr>
              <a:t>ĐỌC KẾT QUẢ</a:t>
            </a:r>
            <a:endParaRPr lang="en-US" sz="1500" dirty="0"/>
          </a:p>
        </p:txBody>
      </p:sp>
      <p:sp>
        <p:nvSpPr>
          <p:cNvPr id="11" name="Text 8"/>
          <p:cNvSpPr txBox="1"/>
          <p:nvPr/>
        </p:nvSpPr>
        <p:spPr>
          <a:xfrm>
            <a:off x="8110728" y="2569464"/>
            <a:ext cx="3209544" cy="2834640"/>
          </a:xfrm>
          <a:prstGeom prst="rect">
            <a:avLst/>
          </a:prstGeom>
          <a:noFill/>
          <a:ln/>
        </p:spPr>
        <p:txBody>
          <a:bodyPr wrap="square" lIns="0" tIns="0" rIns="0" bIns="0" rtlCol="0" anchor="t"/>
          <a:lstStyle/>
          <a:p>
            <a:pPr indent="0" marL="0">
              <a:lnSpc>
                <a:spcPct val="120000"/>
              </a:lnSpc>
              <a:spcAft>
                <a:spcPts val="900"/>
              </a:spcAft>
              <a:buNone/>
            </a:pPr>
            <a:r>
              <a:rPr lang="en-US" sz="1250" dirty="0">
                <a:solidFill>
                  <a:srgbClr val="FFFFFF"/>
                </a:solidFill>
                <a:latin typeface="Arial" pitchFamily="34" charset="0"/>
                <a:ea typeface="Arial" pitchFamily="34" charset="-122"/>
                <a:cs typeface="Arial" pitchFamily="34" charset="-120"/>
              </a:rPr>
              <a:t>-  Chọn công cụ và sinh tham số đạt tuyệt đối.</a:t>
            </a:r>
            <a:endParaRPr lang="en-US" sz="1250" dirty="0"/>
          </a:p>
          <a:p>
            <a:pPr indent="0" marL="0">
              <a:lnSpc>
                <a:spcPct val="120000"/>
              </a:lnSpc>
              <a:spcAft>
                <a:spcPts val="900"/>
              </a:spcAft>
              <a:buNone/>
            </a:pPr>
            <a:r>
              <a:rPr lang="en-US" sz="1250" dirty="0">
                <a:solidFill>
                  <a:srgbClr val="FFFFFF"/>
                </a:solidFill>
                <a:latin typeface="Arial" pitchFamily="34" charset="0"/>
                <a:ea typeface="Arial" pitchFamily="34" charset="-122"/>
                <a:cs typeface="Arial" pitchFamily="34" charset="-120"/>
              </a:rPr>
              <a:t>-  Phục hồi sau lỗi và an toàn đạt tuyệt đối.</a:t>
            </a:r>
            <a:endParaRPr lang="en-US" sz="1250" dirty="0"/>
          </a:p>
          <a:p>
            <a:pPr indent="0" marL="0">
              <a:lnSpc>
                <a:spcPct val="120000"/>
              </a:lnSpc>
              <a:spcAft>
                <a:spcPts val="900"/>
              </a:spcAft>
              <a:buNone/>
            </a:pPr>
            <a:r>
              <a:rPr lang="en-US" sz="1250" dirty="0">
                <a:solidFill>
                  <a:srgbClr val="FFFFFF"/>
                </a:solidFill>
                <a:latin typeface="Arial" pitchFamily="34" charset="0"/>
                <a:ea typeface="Arial" pitchFamily="34" charset="-122"/>
                <a:cs typeface="Arial" pitchFamily="34" charset="-120"/>
              </a:rPr>
              <a:t>-  Bốn case không đạt đều rớt ở bám bằng chứng và trích dẫn.</a:t>
            </a:r>
            <a:endParaRPr lang="en-US" sz="1250" dirty="0"/>
          </a:p>
          <a:p>
            <a:pPr indent="0" marL="0">
              <a:lnSpc>
                <a:spcPct val="120000"/>
              </a:lnSpc>
              <a:spcAft>
                <a:spcPts val="900"/>
              </a:spcAft>
              <a:buNone/>
            </a:pPr>
            <a:r>
              <a:rPr lang="en-US" sz="1250" dirty="0">
                <a:solidFill>
                  <a:srgbClr val="FFFFFF"/>
                </a:solidFill>
                <a:latin typeface="Arial" pitchFamily="34" charset="0"/>
                <a:ea typeface="Arial" pitchFamily="34" charset="-122"/>
                <a:cs typeface="Arial" pitchFamily="34" charset="-120"/>
              </a:rPr>
              <a:t>-  Nguyên nhân là mô hình yếu ở khâu tách khẳng định.</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EFEFEE"/>
        </a:solidFill>
      </p:bgPr>
    </p:bg>
    <p:spTree>
      <p:nvGrpSpPr>
        <p:cNvPr id="1" name=""/>
        <p:cNvGrpSpPr/>
        <p:nvPr/>
      </p:nvGrpSpPr>
      <p:grpSpPr>
        <a:xfrm>
          <a:off x="0" y="0"/>
          <a:ext cx="0" cy="0"/>
          <a:chOff x="0" y="0"/>
          <a:chExt cx="0" cy="0"/>
        </a:xfrm>
      </p:grpSpPr>
      <p:sp>
        <p:nvSpPr>
          <p:cNvPr id="2" name="Text 0"/>
          <p:cNvSpPr txBox="1"/>
          <p:nvPr/>
        </p:nvSpPr>
        <p:spPr>
          <a:xfrm>
            <a:off x="566928" y="6400800"/>
            <a:ext cx="6400800" cy="274320"/>
          </a:xfrm>
          <a:prstGeom prst="rect">
            <a:avLst/>
          </a:prstGeom>
          <a:noFill/>
          <a:ln/>
        </p:spPr>
        <p:txBody>
          <a:bodyPr wrap="square" lIns="0" tIns="0" rIns="0" bIns="0" rtlCol="0" anchor="ctr"/>
          <a:lstStyle/>
          <a:p>
            <a:pPr indent="0" marL="0">
              <a:buNone/>
            </a:pPr>
            <a:r>
              <a:rPr lang="en-US" sz="900" dirty="0">
                <a:solidFill>
                  <a:srgbClr val="8A8F98"/>
                </a:solidFill>
                <a:latin typeface="Arial" pitchFamily="34" charset="0"/>
                <a:ea typeface="Arial" pitchFamily="34" charset="-122"/>
                <a:cs typeface="Arial" pitchFamily="34" charset="-120"/>
              </a:rPr>
              <a:t>HỆ THỐNG HỎI ĐÁP CÓ CĂN CỨ  ·  Báo cáo đồ án</a:t>
            </a:r>
            <a:endParaRPr lang="en-US" sz="900" dirty="0"/>
          </a:p>
        </p:txBody>
      </p:sp>
      <p:sp>
        <p:nvSpPr>
          <p:cNvPr id="3" name="Text 1"/>
          <p:cNvSpPr txBox="1"/>
          <p:nvPr/>
        </p:nvSpPr>
        <p:spPr>
          <a:xfrm>
            <a:off x="10972800" y="6400800"/>
            <a:ext cx="658368" cy="274320"/>
          </a:xfrm>
          <a:prstGeom prst="rect">
            <a:avLst/>
          </a:prstGeom>
          <a:noFill/>
          <a:ln/>
        </p:spPr>
        <p:txBody>
          <a:bodyPr wrap="square" lIns="0" tIns="0" rIns="0" bIns="0" rtlCol="0" anchor="ctr"/>
          <a:lstStyle/>
          <a:p>
            <a:pPr algn="r" indent="0" marL="0">
              <a:buNone/>
            </a:pPr>
            <a:r>
              <a:rPr lang="en-US" sz="900" dirty="0">
                <a:solidFill>
                  <a:srgbClr val="8A8F98"/>
                </a:solidFill>
                <a:latin typeface="Arial" pitchFamily="34" charset="0"/>
                <a:ea typeface="Arial" pitchFamily="34" charset="-122"/>
                <a:cs typeface="Arial" pitchFamily="34" charset="-120"/>
              </a:rPr>
              <a:t>18</a:t>
            </a:r>
            <a:endParaRPr lang="en-US" sz="900" dirty="0"/>
          </a:p>
        </p:txBody>
      </p:sp>
      <p:sp>
        <p:nvSpPr>
          <p:cNvPr id="4" name="Text 2"/>
          <p:cNvSpPr txBox="1"/>
          <p:nvPr/>
        </p:nvSpPr>
        <p:spPr>
          <a:xfrm>
            <a:off x="566928" y="384048"/>
            <a:ext cx="10881360" cy="777240"/>
          </a:xfrm>
          <a:prstGeom prst="rect">
            <a:avLst/>
          </a:prstGeom>
          <a:noFill/>
          <a:ln/>
        </p:spPr>
        <p:txBody>
          <a:bodyPr wrap="square" lIns="0" tIns="0" rIns="0" bIns="0" rtlCol="0" anchor="t"/>
          <a:lstStyle/>
          <a:p>
            <a:pPr indent="0" marL="0">
              <a:lnSpc>
                <a:spcPct val="108000"/>
              </a:lnSpc>
              <a:buNone/>
            </a:pPr>
            <a:r>
              <a:rPr lang="en-US" sz="3200" b="1" dirty="0">
                <a:solidFill>
                  <a:srgbClr val="132B5E"/>
                </a:solidFill>
                <a:latin typeface="Arial" pitchFamily="34" charset="0"/>
                <a:ea typeface="Arial" pitchFamily="34" charset="-122"/>
                <a:cs typeface="Arial" pitchFamily="34" charset="-120"/>
              </a:rPr>
              <a:t>TỔNG KẾT VÀ HƯỚNG PHÁT TRIỂN</a:t>
            </a:r>
            <a:endParaRPr lang="en-US" sz="3200" dirty="0"/>
          </a:p>
        </p:txBody>
      </p:sp>
      <p:sp>
        <p:nvSpPr>
          <p:cNvPr id="5" name="Text 3"/>
          <p:cNvSpPr txBox="1"/>
          <p:nvPr/>
        </p:nvSpPr>
        <p:spPr>
          <a:xfrm>
            <a:off x="566928" y="1463040"/>
            <a:ext cx="5120640" cy="365760"/>
          </a:xfrm>
          <a:prstGeom prst="rect">
            <a:avLst/>
          </a:prstGeom>
          <a:noFill/>
          <a:ln/>
        </p:spPr>
        <p:txBody>
          <a:bodyPr wrap="square" lIns="0" tIns="0" rIns="0" bIns="0" rtlCol="0" anchor="ctr"/>
          <a:lstStyle/>
          <a:p>
            <a:pPr indent="0" marL="0">
              <a:buNone/>
            </a:pPr>
            <a:r>
              <a:rPr lang="en-US" sz="1500" b="1" dirty="0">
                <a:solidFill>
                  <a:srgbClr val="132B5E"/>
                </a:solidFill>
                <a:latin typeface="Arial" pitchFamily="34" charset="0"/>
                <a:ea typeface="Arial" pitchFamily="34" charset="-122"/>
                <a:cs typeface="Arial" pitchFamily="34" charset="-120"/>
              </a:rPr>
              <a:t>ĐÃ HOÀN THÀNH</a:t>
            </a:r>
            <a:endParaRPr lang="en-US" sz="1500" dirty="0"/>
          </a:p>
        </p:txBody>
      </p:sp>
      <p:sp>
        <p:nvSpPr>
          <p:cNvPr id="6" name="Text 4"/>
          <p:cNvSpPr txBox="1"/>
          <p:nvPr/>
        </p:nvSpPr>
        <p:spPr>
          <a:xfrm>
            <a:off x="566928" y="1965960"/>
            <a:ext cx="5212080" cy="3657600"/>
          </a:xfrm>
          <a:prstGeom prst="rect">
            <a:avLst/>
          </a:prstGeom>
          <a:noFill/>
          <a:ln/>
        </p:spPr>
        <p:txBody>
          <a:bodyPr wrap="square" lIns="0" tIns="0" rIns="0" bIns="0" rtlCol="0" anchor="t"/>
          <a:lstStyle/>
          <a:p>
            <a:pPr indent="0" marL="0">
              <a:lnSpc>
                <a:spcPct val="120000"/>
              </a:lnSpc>
              <a:spcAft>
                <a:spcPts val="700"/>
              </a:spcAft>
              <a:buNone/>
            </a:pPr>
            <a:r>
              <a:rPr lang="en-US" sz="1250" dirty="0">
                <a:solidFill>
                  <a:srgbClr val="1F3A6E"/>
                </a:solidFill>
                <a:latin typeface="Arial" pitchFamily="34" charset="0"/>
                <a:ea typeface="Arial" pitchFamily="34" charset="-122"/>
                <a:cs typeface="Arial" pitchFamily="34" charset="-120"/>
              </a:rPr>
              <a:t>-  Hỏi đáp có trích dẫn, từ chối đúng 100% câu hỏi ngoài phạm vi.</a:t>
            </a:r>
            <a:endParaRPr lang="en-US" sz="1250" dirty="0"/>
          </a:p>
          <a:p>
            <a:pPr indent="0" marL="0">
              <a:lnSpc>
                <a:spcPct val="120000"/>
              </a:lnSpc>
              <a:spcAft>
                <a:spcPts val="700"/>
              </a:spcAft>
              <a:buNone/>
            </a:pPr>
            <a:r>
              <a:rPr lang="en-US" sz="1250" dirty="0">
                <a:solidFill>
                  <a:srgbClr val="1F3A6E"/>
                </a:solidFill>
                <a:latin typeface="Arial" pitchFamily="34" charset="0"/>
                <a:ea typeface="Arial" pitchFamily="34" charset="-122"/>
                <a:cs typeface="Arial" pitchFamily="34" charset="-120"/>
              </a:rPr>
              <a:t>-  Kiểm chứng cấp khẳng định: độ trung thực 0,983, tỉ lệ bịa 0,018.</a:t>
            </a:r>
            <a:endParaRPr lang="en-US" sz="1250" dirty="0"/>
          </a:p>
          <a:p>
            <a:pPr indent="0" marL="0">
              <a:lnSpc>
                <a:spcPct val="120000"/>
              </a:lnSpc>
              <a:spcAft>
                <a:spcPts val="700"/>
              </a:spcAft>
              <a:buNone/>
            </a:pPr>
            <a:r>
              <a:rPr lang="en-US" sz="1250" dirty="0">
                <a:solidFill>
                  <a:srgbClr val="1F3A6E"/>
                </a:solidFill>
                <a:latin typeface="Arial" pitchFamily="34" charset="0"/>
                <a:ea typeface="Arial" pitchFamily="34" charset="-122"/>
                <a:cs typeface="Arial" pitchFamily="34" charset="-120"/>
              </a:rPr>
              <a:t>-  Khung đánh giá 210 case, cổng chặn hồi quy; 706 kiểm thử đều đạt.</a:t>
            </a:r>
            <a:endParaRPr lang="en-US" sz="1250" dirty="0"/>
          </a:p>
          <a:p>
            <a:pPr indent="0" marL="0">
              <a:lnSpc>
                <a:spcPct val="120000"/>
              </a:lnSpc>
              <a:spcAft>
                <a:spcPts val="700"/>
              </a:spcAft>
              <a:buNone/>
            </a:pPr>
            <a:r>
              <a:rPr lang="en-US" sz="1250" dirty="0">
                <a:solidFill>
                  <a:srgbClr val="1F3A6E"/>
                </a:solidFill>
                <a:latin typeface="Arial" pitchFamily="34" charset="0"/>
                <a:ea typeface="Arial" pitchFamily="34" charset="-122"/>
                <a:cs typeface="Arial" pitchFamily="34" charset="-120"/>
              </a:rPr>
              <a:t>-  Nền tảng tác tử với MCP, bộ bảo vệ và phát lại phiên chạy.</a:t>
            </a:r>
            <a:endParaRPr lang="en-US" sz="1250" dirty="0"/>
          </a:p>
          <a:p>
            <a:pPr indent="0" marL="0">
              <a:lnSpc>
                <a:spcPct val="120000"/>
              </a:lnSpc>
              <a:spcAft>
                <a:spcPts val="700"/>
              </a:spcAft>
              <a:buNone/>
            </a:pPr>
            <a:r>
              <a:rPr lang="en-US" sz="1250" dirty="0">
                <a:solidFill>
                  <a:srgbClr val="1F3A6E"/>
                </a:solidFill>
                <a:latin typeface="Arial" pitchFamily="34" charset="0"/>
                <a:ea typeface="Arial" pitchFamily="34" charset="-122"/>
                <a:cs typeface="Arial" pitchFamily="34" charset="-120"/>
              </a:rPr>
              <a:t>-  Thiết kế tích hợp kma-training-support kèm lộ trình và tiêu chí nghiệm thu.</a:t>
            </a:r>
            <a:endParaRPr lang="en-US" sz="1250" dirty="0"/>
          </a:p>
        </p:txBody>
      </p:sp>
      <p:sp>
        <p:nvSpPr>
          <p:cNvPr id="7" name="Shape 5"/>
          <p:cNvSpPr/>
          <p:nvPr/>
        </p:nvSpPr>
        <p:spPr>
          <a:xfrm>
            <a:off x="6355080" y="1463040"/>
            <a:ext cx="5349240" cy="4206240"/>
          </a:xfrm>
          <a:prstGeom prst="rect">
            <a:avLst/>
          </a:prstGeom>
          <a:solidFill>
            <a:srgbClr val="132B5E"/>
          </a:solidFill>
          <a:ln/>
        </p:spPr>
      </p:sp>
      <p:sp>
        <p:nvSpPr>
          <p:cNvPr id="8" name="Text 6"/>
          <p:cNvSpPr txBox="1"/>
          <p:nvPr/>
        </p:nvSpPr>
        <p:spPr>
          <a:xfrm>
            <a:off x="6739128" y="1755648"/>
            <a:ext cx="4581144" cy="365760"/>
          </a:xfrm>
          <a:prstGeom prst="rect">
            <a:avLst/>
          </a:prstGeom>
          <a:noFill/>
          <a:ln/>
        </p:spPr>
        <p:txBody>
          <a:bodyPr wrap="square" lIns="0" tIns="0" rIns="0" bIns="0" rtlCol="0" anchor="ctr"/>
          <a:lstStyle/>
          <a:p>
            <a:pPr indent="0" marL="0">
              <a:buNone/>
            </a:pPr>
            <a:r>
              <a:rPr lang="en-US" sz="1500" b="1" dirty="0">
                <a:solidFill>
                  <a:srgbClr val="8CC0E4"/>
                </a:solidFill>
                <a:latin typeface="Arial" pitchFamily="34" charset="0"/>
                <a:ea typeface="Arial" pitchFamily="34" charset="-122"/>
                <a:cs typeface="Arial" pitchFamily="34" charset="-120"/>
              </a:rPr>
              <a:t>TIẾP THEO</a:t>
            </a:r>
            <a:endParaRPr lang="en-US" sz="1500" dirty="0"/>
          </a:p>
        </p:txBody>
      </p:sp>
      <p:sp>
        <p:nvSpPr>
          <p:cNvPr id="9" name="Text 7"/>
          <p:cNvSpPr txBox="1"/>
          <p:nvPr/>
        </p:nvSpPr>
        <p:spPr>
          <a:xfrm>
            <a:off x="6739128" y="2249424"/>
            <a:ext cx="4581144" cy="3108960"/>
          </a:xfrm>
          <a:prstGeom prst="rect">
            <a:avLst/>
          </a:prstGeom>
          <a:noFill/>
          <a:ln/>
        </p:spPr>
        <p:txBody>
          <a:bodyPr wrap="square" lIns="0" tIns="0" rIns="0" bIns="0" rtlCol="0" anchor="t"/>
          <a:lstStyle/>
          <a:p>
            <a:pPr indent="0" marL="0">
              <a:lnSpc>
                <a:spcPct val="120000"/>
              </a:lnSpc>
              <a:spcAft>
                <a:spcPts val="900"/>
              </a:spcAft>
              <a:buNone/>
            </a:pPr>
            <a:r>
              <a:rPr lang="en-US" sz="1250" dirty="0">
                <a:solidFill>
                  <a:srgbClr val="FFFFFF"/>
                </a:solidFill>
                <a:latin typeface="Arial" pitchFamily="34" charset="0"/>
                <a:ea typeface="Arial" pitchFamily="34" charset="-122"/>
                <a:cs typeface="Arial" pitchFamily="34" charset="-120"/>
              </a:rPr>
              <a:t>-  Triển khai tích hợp, thử với giảng viên một khoa.</a:t>
            </a:r>
            <a:endParaRPr lang="en-US" sz="1250" dirty="0"/>
          </a:p>
          <a:p>
            <a:pPr indent="0" marL="0">
              <a:lnSpc>
                <a:spcPct val="120000"/>
              </a:lnSpc>
              <a:spcAft>
                <a:spcPts val="900"/>
              </a:spcAft>
              <a:buNone/>
            </a:pPr>
            <a:r>
              <a:rPr lang="en-US" sz="1250" dirty="0">
                <a:solidFill>
                  <a:srgbClr val="FFFFFF"/>
                </a:solidFill>
                <a:latin typeface="Arial" pitchFamily="34" charset="0"/>
                <a:ea typeface="Arial" pitchFamily="34" charset="-122"/>
                <a:cs typeface="Arial" pitchFamily="34" charset="-120"/>
              </a:rPr>
              <a:t>-  Bộ dữ liệu vàng từ câu hỏi thật của giảng viên.</a:t>
            </a:r>
            <a:endParaRPr lang="en-US" sz="1250" dirty="0"/>
          </a:p>
          <a:p>
            <a:pPr indent="0" marL="0">
              <a:lnSpc>
                <a:spcPct val="120000"/>
              </a:lnSpc>
              <a:spcAft>
                <a:spcPts val="900"/>
              </a:spcAft>
              <a:buNone/>
            </a:pPr>
            <a:r>
              <a:rPr lang="en-US" sz="1250" dirty="0">
                <a:solidFill>
                  <a:srgbClr val="FFFFFF"/>
                </a:solidFill>
                <a:latin typeface="Arial" pitchFamily="34" charset="0"/>
                <a:ea typeface="Arial" pitchFamily="34" charset="-122"/>
                <a:cs typeface="Arial" pitchFamily="34" charset="-120"/>
              </a:rPr>
              <a:t>-  Luồng phê duyệt cho công cụ có tác động ghi.</a:t>
            </a:r>
            <a:endParaRPr lang="en-US" sz="1250" dirty="0"/>
          </a:p>
          <a:p>
            <a:pPr indent="0" marL="0">
              <a:lnSpc>
                <a:spcPct val="120000"/>
              </a:lnSpc>
              <a:spcAft>
                <a:spcPts val="900"/>
              </a:spcAft>
              <a:buNone/>
            </a:pPr>
            <a:r>
              <a:rPr lang="en-US" sz="1250" dirty="0">
                <a:solidFill>
                  <a:srgbClr val="FFFFFF"/>
                </a:solidFill>
                <a:latin typeface="Arial" pitchFamily="34" charset="0"/>
                <a:ea typeface="Arial" pitchFamily="34" charset="-122"/>
                <a:cs typeface="Arial" pitchFamily="34" charset="-120"/>
              </a:rPr>
              <a:t>-  Phân rã câu hỏi nhiều chặng; máy chủ GPU để giảm độ trễ.</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E2148"/>
        </a:solidFill>
      </p:bgPr>
    </p:bg>
    <p:spTree>
      <p:nvGrpSpPr>
        <p:cNvPr id="1" name=""/>
        <p:cNvGrpSpPr/>
        <p:nvPr/>
      </p:nvGrpSpPr>
      <p:grpSpPr>
        <a:xfrm>
          <a:off x="0" y="0"/>
          <a:ext cx="0" cy="0"/>
          <a:chOff x="0" y="0"/>
          <a:chExt cx="0" cy="0"/>
        </a:xfrm>
      </p:grpSpPr>
      <p:sp>
        <p:nvSpPr>
          <p:cNvPr id="2" name="Text 0"/>
          <p:cNvSpPr txBox="1"/>
          <p:nvPr/>
        </p:nvSpPr>
        <p:spPr>
          <a:xfrm>
            <a:off x="566928" y="6400800"/>
            <a:ext cx="6400800" cy="274320"/>
          </a:xfrm>
          <a:prstGeom prst="rect">
            <a:avLst/>
          </a:prstGeom>
          <a:noFill/>
          <a:ln/>
        </p:spPr>
        <p:txBody>
          <a:bodyPr wrap="square" lIns="0" tIns="0" rIns="0" bIns="0" rtlCol="0" anchor="ctr"/>
          <a:lstStyle/>
          <a:p>
            <a:pPr indent="0" marL="0">
              <a:buNone/>
            </a:pPr>
            <a:r>
              <a:rPr lang="en-US" sz="900" dirty="0">
                <a:solidFill>
                  <a:srgbClr val="3A5290"/>
                </a:solidFill>
                <a:latin typeface="Arial" pitchFamily="34" charset="0"/>
                <a:ea typeface="Arial" pitchFamily="34" charset="-122"/>
                <a:cs typeface="Arial" pitchFamily="34" charset="-120"/>
              </a:rPr>
              <a:t>HỆ THỐNG HỎI ĐÁP CÓ CĂN CỨ  ·  Báo cáo đồ án</a:t>
            </a:r>
            <a:endParaRPr lang="en-US" sz="900" dirty="0"/>
          </a:p>
        </p:txBody>
      </p:sp>
      <p:sp>
        <p:nvSpPr>
          <p:cNvPr id="3" name="Text 1"/>
          <p:cNvSpPr txBox="1"/>
          <p:nvPr/>
        </p:nvSpPr>
        <p:spPr>
          <a:xfrm>
            <a:off x="10972800" y="6400800"/>
            <a:ext cx="658368" cy="274320"/>
          </a:xfrm>
          <a:prstGeom prst="rect">
            <a:avLst/>
          </a:prstGeom>
          <a:noFill/>
          <a:ln/>
        </p:spPr>
        <p:txBody>
          <a:bodyPr wrap="square" lIns="0" tIns="0" rIns="0" bIns="0" rtlCol="0" anchor="ctr"/>
          <a:lstStyle/>
          <a:p>
            <a:pPr algn="r" indent="0" marL="0">
              <a:buNone/>
            </a:pPr>
            <a:r>
              <a:rPr lang="en-US" sz="900" dirty="0">
                <a:solidFill>
                  <a:srgbClr val="3A5290"/>
                </a:solidFill>
                <a:latin typeface="Arial" pitchFamily="34" charset="0"/>
                <a:ea typeface="Arial" pitchFamily="34" charset="-122"/>
                <a:cs typeface="Arial" pitchFamily="34" charset="-120"/>
              </a:rPr>
              <a:t>19</a:t>
            </a:r>
            <a:endParaRPr lang="en-US" sz="900" dirty="0"/>
          </a:p>
        </p:txBody>
      </p:sp>
      <p:sp>
        <p:nvSpPr>
          <p:cNvPr id="4" name="Text 2"/>
          <p:cNvSpPr txBox="1"/>
          <p:nvPr/>
        </p:nvSpPr>
        <p:spPr>
          <a:xfrm>
            <a:off x="0" y="2331720"/>
            <a:ext cx="12191695" cy="731520"/>
          </a:xfrm>
          <a:prstGeom prst="rect">
            <a:avLst/>
          </a:prstGeom>
          <a:noFill/>
          <a:ln/>
        </p:spPr>
        <p:txBody>
          <a:bodyPr wrap="square" lIns="0" tIns="0" rIns="0" bIns="0" rtlCol="0" anchor="ctr"/>
          <a:lstStyle/>
          <a:p>
            <a:pPr algn="ctr" indent="0" marL="0">
              <a:buNone/>
            </a:pPr>
            <a:r>
              <a:rPr lang="en-US" sz="4000" b="1" dirty="0">
                <a:solidFill>
                  <a:srgbClr val="8CC0E4"/>
                </a:solidFill>
                <a:latin typeface="Arial" pitchFamily="34" charset="0"/>
                <a:ea typeface="Arial" pitchFamily="34" charset="-122"/>
                <a:cs typeface="Arial" pitchFamily="34" charset="-120"/>
              </a:rPr>
              <a:t>HỆ THỐNG HỎI ĐÁP CÓ CĂN CỨ</a:t>
            </a:r>
            <a:endParaRPr lang="en-US" sz="4000" dirty="0"/>
          </a:p>
        </p:txBody>
      </p:sp>
      <p:sp>
        <p:nvSpPr>
          <p:cNvPr id="5" name="Text 3"/>
          <p:cNvSpPr txBox="1"/>
          <p:nvPr/>
        </p:nvSpPr>
        <p:spPr>
          <a:xfrm>
            <a:off x="0" y="3200400"/>
            <a:ext cx="12191695" cy="640080"/>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CẢM ƠN THẦY CÔ VÀ CÁC BẠN</a:t>
            </a:r>
            <a:endParaRPr lang="en-US" sz="2800" dirty="0"/>
          </a:p>
        </p:txBody>
      </p:sp>
      <p:sp>
        <p:nvSpPr>
          <p:cNvPr id="6" name="Text 4"/>
          <p:cNvSpPr txBox="1"/>
          <p:nvPr/>
        </p:nvSpPr>
        <p:spPr>
          <a:xfrm>
            <a:off x="0" y="3977640"/>
            <a:ext cx="12191695" cy="365760"/>
          </a:xfrm>
          <a:prstGeom prst="rect">
            <a:avLst/>
          </a:prstGeom>
          <a:noFill/>
          <a:ln/>
        </p:spPr>
        <p:txBody>
          <a:bodyPr wrap="square" lIns="0" tIns="0" rIns="0" bIns="0" rtlCol="0" anchor="ctr"/>
          <a:lstStyle/>
          <a:p>
            <a:pPr algn="ctr" indent="0" marL="0">
              <a:buNone/>
            </a:pPr>
            <a:r>
              <a:rPr lang="en-US" sz="1400" dirty="0">
                <a:solidFill>
                  <a:srgbClr val="A9C4EB"/>
                </a:solidFill>
                <a:latin typeface="Arial" pitchFamily="34" charset="0"/>
                <a:ea typeface="Arial" pitchFamily="34" charset="-122"/>
                <a:cs typeface="Arial" pitchFamily="34" charset="-120"/>
              </a:rPr>
              <a:t>Trương Quang Hợp  ·  Nguyễn Văn Việt  ·  Cán bộ hướng dẫn: TS. Mai Đức Thọ</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4">
    <p:bg>
      <p:bgPr>
        <a:solidFill>
          <a:srgbClr val="EFEFEE"/>
        </a:solidFill>
      </p:bgPr>
    </p:bg>
    <p:spTree>
      <p:nvGrpSpPr>
        <p:cNvPr id="1" name=""/>
        <p:cNvGrpSpPr/>
        <p:nvPr/>
      </p:nvGrpSpPr>
      <p:grpSpPr>
        <a:xfrm>
          <a:off x="0" y="0"/>
          <a:ext cx="0" cy="0"/>
          <a:chOff x="0" y="0"/>
          <a:chExt cx="0" cy="0"/>
        </a:xfrm>
      </p:grpSpPr>
      <p:sp>
        <p:nvSpPr>
          <p:cNvPr id="2" name="Text 0"/>
          <p:cNvSpPr txBox="1"/>
          <p:nvPr/>
        </p:nvSpPr>
        <p:spPr>
          <a:xfrm>
            <a:off x="566928" y="6400800"/>
            <a:ext cx="6400800" cy="274320"/>
          </a:xfrm>
          <a:prstGeom prst="rect">
            <a:avLst/>
          </a:prstGeom>
          <a:noFill/>
          <a:ln/>
        </p:spPr>
        <p:txBody>
          <a:bodyPr wrap="square" lIns="0" tIns="0" rIns="0" bIns="0" rtlCol="0" anchor="ctr"/>
          <a:lstStyle/>
          <a:p>
            <a:pPr indent="0" marL="0">
              <a:buNone/>
            </a:pPr>
            <a:r>
              <a:rPr lang="en-US" sz="900" dirty="0">
                <a:solidFill>
                  <a:srgbClr val="8A8F98"/>
                </a:solidFill>
                <a:latin typeface="Arial" pitchFamily="34" charset="0"/>
                <a:ea typeface="Arial" pitchFamily="34" charset="-122"/>
                <a:cs typeface="Arial" pitchFamily="34" charset="-120"/>
              </a:rPr>
              <a:t>HỆ THỐNG HỎI ĐÁP CÓ CĂN CỨ  ·  Báo cáo đồ án</a:t>
            </a:r>
            <a:endParaRPr lang="en-US" sz="900" dirty="0"/>
          </a:p>
        </p:txBody>
      </p:sp>
      <p:sp>
        <p:nvSpPr>
          <p:cNvPr id="3" name="Text 1"/>
          <p:cNvSpPr txBox="1"/>
          <p:nvPr/>
        </p:nvSpPr>
        <p:spPr>
          <a:xfrm>
            <a:off x="10972800" y="6400800"/>
            <a:ext cx="658368" cy="274320"/>
          </a:xfrm>
          <a:prstGeom prst="rect">
            <a:avLst/>
          </a:prstGeom>
          <a:noFill/>
          <a:ln/>
        </p:spPr>
        <p:txBody>
          <a:bodyPr wrap="square" lIns="0" tIns="0" rIns="0" bIns="0" rtlCol="0" anchor="ctr"/>
          <a:lstStyle/>
          <a:p>
            <a:pPr algn="r" indent="0" marL="0">
              <a:buNone/>
            </a:pPr>
            <a:r>
              <a:rPr lang="en-US" sz="900" dirty="0">
                <a:solidFill>
                  <a:srgbClr val="8A8F98"/>
                </a:solidFill>
                <a:latin typeface="Arial" pitchFamily="34" charset="0"/>
                <a:ea typeface="Arial" pitchFamily="34" charset="-122"/>
                <a:cs typeface="Arial" pitchFamily="34" charset="-120"/>
              </a:rPr>
              <a:t>04</a:t>
            </a:r>
            <a:endParaRPr lang="en-US" sz="900" dirty="0"/>
          </a:p>
        </p:txBody>
      </p:sp>
      <p:sp>
        <p:nvSpPr>
          <p:cNvPr id="4" name="Text 2"/>
          <p:cNvSpPr txBox="1"/>
          <p:nvPr/>
        </p:nvSpPr>
        <p:spPr>
          <a:xfrm>
            <a:off x="566928" y="384048"/>
            <a:ext cx="5303520" cy="1234440"/>
          </a:xfrm>
          <a:prstGeom prst="rect">
            <a:avLst/>
          </a:prstGeom>
          <a:noFill/>
          <a:ln/>
        </p:spPr>
        <p:txBody>
          <a:bodyPr wrap="square" lIns="0" tIns="0" rIns="0" bIns="0" rtlCol="0" anchor="t"/>
          <a:lstStyle/>
          <a:p>
            <a:pPr indent="0" marL="0">
              <a:lnSpc>
                <a:spcPct val="108000"/>
              </a:lnSpc>
              <a:buNone/>
            </a:pPr>
            <a:r>
              <a:rPr lang="en-US" sz="3200" b="1" dirty="0">
                <a:solidFill>
                  <a:srgbClr val="132B5E"/>
                </a:solidFill>
                <a:latin typeface="Arial" pitchFamily="34" charset="0"/>
                <a:ea typeface="Arial" pitchFamily="34" charset="-122"/>
                <a:cs typeface="Arial" pitchFamily="34" charset="-120"/>
              </a:rPr>
              <a:t>KHẢO SÁT</a:t>
            </a:r>
            <a:endParaRPr lang="en-US" sz="3200" dirty="0"/>
          </a:p>
          <a:p>
            <a:pPr indent="0" marL="0">
              <a:lnSpc>
                <a:spcPct val="108000"/>
              </a:lnSpc>
              <a:buNone/>
            </a:pPr>
            <a:r>
              <a:rPr lang="en-US" sz="3200" b="1" dirty="0">
                <a:solidFill>
                  <a:srgbClr val="132B5E"/>
                </a:solidFill>
                <a:latin typeface="Arial" pitchFamily="34" charset="0"/>
                <a:ea typeface="Arial" pitchFamily="34" charset="-122"/>
                <a:cs typeface="Arial" pitchFamily="34" charset="-120"/>
              </a:rPr>
              <a:t>GIẢI PHÁP</a:t>
            </a:r>
            <a:endParaRPr lang="en-US" sz="3200" dirty="0"/>
          </a:p>
        </p:txBody>
      </p:sp>
      <p:sp>
        <p:nvSpPr>
          <p:cNvPr id="5" name="Text 3"/>
          <p:cNvSpPr txBox="1"/>
          <p:nvPr/>
        </p:nvSpPr>
        <p:spPr>
          <a:xfrm>
            <a:off x="566928" y="1965960"/>
            <a:ext cx="4754880" cy="1097280"/>
          </a:xfrm>
          <a:prstGeom prst="rect">
            <a:avLst/>
          </a:prstGeom>
          <a:noFill/>
          <a:ln/>
        </p:spPr>
        <p:txBody>
          <a:bodyPr wrap="square" lIns="0" tIns="0" rIns="0" bIns="0" rtlCol="0" anchor="t"/>
          <a:lstStyle/>
          <a:p>
            <a:pPr indent="0" marL="0">
              <a:lnSpc>
                <a:spcPct val="128000"/>
              </a:lnSpc>
              <a:buNone/>
            </a:pPr>
            <a:r>
              <a:rPr lang="en-US" sz="1450" dirty="0">
                <a:solidFill>
                  <a:srgbClr val="1F3A6E"/>
                </a:solidFill>
                <a:latin typeface="Arial" pitchFamily="34" charset="0"/>
                <a:ea typeface="Arial" pitchFamily="34" charset="-122"/>
                <a:cs typeface="Arial" pitchFamily="34" charset="-120"/>
              </a:rPr>
              <a:t>Không nhóm giải pháp nào đáp ứng đủ ba điều kiện: đúng và có căn cứ, đúng quyền, dữ liệu ở lại Học viện.</a:t>
            </a:r>
            <a:endParaRPr lang="en-US" sz="1450" dirty="0"/>
          </a:p>
        </p:txBody>
      </p:sp>
      <p:sp>
        <p:nvSpPr>
          <p:cNvPr id="6" name="Shape 4"/>
          <p:cNvSpPr/>
          <p:nvPr/>
        </p:nvSpPr>
        <p:spPr>
          <a:xfrm>
            <a:off x="5943600" y="1005840"/>
            <a:ext cx="5669280" cy="1005840"/>
          </a:xfrm>
          <a:prstGeom prst="parallelogram">
            <a:avLst/>
          </a:prstGeom>
          <a:solidFill>
            <a:srgbClr val="8CC0E4"/>
          </a:solidFill>
          <a:ln w="12700">
            <a:solidFill>
              <a:srgbClr val="8CC0E4"/>
            </a:solidFill>
            <a:prstDash val="solid"/>
          </a:ln>
        </p:spPr>
      </p:sp>
      <p:sp>
        <p:nvSpPr>
          <p:cNvPr id="7" name="Text 5"/>
          <p:cNvSpPr txBox="1"/>
          <p:nvPr/>
        </p:nvSpPr>
        <p:spPr>
          <a:xfrm>
            <a:off x="6400800" y="1005840"/>
            <a:ext cx="4754880" cy="1005840"/>
          </a:xfrm>
          <a:prstGeom prst="rect">
            <a:avLst/>
          </a:prstGeom>
          <a:noFill/>
          <a:ln/>
        </p:spPr>
        <p:txBody>
          <a:bodyPr wrap="square" lIns="0" tIns="0" rIns="0" bIns="0" rtlCol="0" anchor="ctr"/>
          <a:lstStyle/>
          <a:p>
            <a:pPr indent="0" marL="0">
              <a:lnSpc>
                <a:spcPct val="120000"/>
              </a:lnSpc>
              <a:buNone/>
            </a:pPr>
            <a:r>
              <a:rPr lang="en-US" sz="1350" b="1" dirty="0">
                <a:solidFill>
                  <a:srgbClr val="132B5E"/>
                </a:solidFill>
                <a:latin typeface="Arial" pitchFamily="34" charset="0"/>
                <a:ea typeface="Arial" pitchFamily="34" charset="-122"/>
                <a:cs typeface="Arial" pitchFamily="34" charset="-120"/>
              </a:rPr>
              <a:t>TRỢ LÝ ĐÁM MÂY</a:t>
            </a:r>
            <a:endParaRPr lang="en-US" sz="1350" dirty="0"/>
          </a:p>
          <a:p>
            <a:pPr indent="0" marL="0">
              <a:lnSpc>
                <a:spcPct val="120000"/>
              </a:lnSpc>
              <a:buNone/>
            </a:pPr>
            <a:r>
              <a:rPr lang="en-US" sz="1350" dirty="0">
                <a:solidFill>
                  <a:srgbClr val="132B5E"/>
                </a:solidFill>
                <a:latin typeface="Arial" pitchFamily="34" charset="0"/>
                <a:ea typeface="Arial" pitchFamily="34" charset="-122"/>
                <a:cs typeface="Arial" pitchFamily="34" charset="-120"/>
              </a:rPr>
              <a:t>ChatGPT, NotebookLM, Copilot: dữ liệu rời Học viện</a:t>
            </a:r>
            <a:endParaRPr lang="en-US" sz="1350" dirty="0"/>
          </a:p>
        </p:txBody>
      </p:sp>
      <p:sp>
        <p:nvSpPr>
          <p:cNvPr id="8" name="Shape 6"/>
          <p:cNvSpPr/>
          <p:nvPr/>
        </p:nvSpPr>
        <p:spPr>
          <a:xfrm>
            <a:off x="5943600" y="2267712"/>
            <a:ext cx="5669280" cy="1005840"/>
          </a:xfrm>
          <a:prstGeom prst="parallelogram">
            <a:avLst/>
          </a:prstGeom>
          <a:solidFill>
            <a:srgbClr val="8CC0E4"/>
          </a:solidFill>
          <a:ln w="12700">
            <a:solidFill>
              <a:srgbClr val="8CC0E4"/>
            </a:solidFill>
            <a:prstDash val="solid"/>
          </a:ln>
        </p:spPr>
      </p:sp>
      <p:sp>
        <p:nvSpPr>
          <p:cNvPr id="9" name="Text 7"/>
          <p:cNvSpPr txBox="1"/>
          <p:nvPr/>
        </p:nvSpPr>
        <p:spPr>
          <a:xfrm>
            <a:off x="6400800" y="2267712"/>
            <a:ext cx="4754880" cy="1005840"/>
          </a:xfrm>
          <a:prstGeom prst="rect">
            <a:avLst/>
          </a:prstGeom>
          <a:noFill/>
          <a:ln/>
        </p:spPr>
        <p:txBody>
          <a:bodyPr wrap="square" lIns="0" tIns="0" rIns="0" bIns="0" rtlCol="0" anchor="ctr"/>
          <a:lstStyle/>
          <a:p>
            <a:pPr indent="0" marL="0">
              <a:lnSpc>
                <a:spcPct val="120000"/>
              </a:lnSpc>
              <a:buNone/>
            </a:pPr>
            <a:r>
              <a:rPr lang="en-US" sz="1350" b="1" dirty="0">
                <a:solidFill>
                  <a:srgbClr val="132B5E"/>
                </a:solidFill>
                <a:latin typeface="Arial" pitchFamily="34" charset="0"/>
                <a:ea typeface="Arial" pitchFamily="34" charset="-122"/>
                <a:cs typeface="Arial" pitchFamily="34" charset="-120"/>
              </a:rPr>
              <a:t>NỀN TẢNG TỰ TRIỂN KHAI</a:t>
            </a:r>
            <a:endParaRPr lang="en-US" sz="1350" dirty="0"/>
          </a:p>
          <a:p>
            <a:pPr indent="0" marL="0">
              <a:lnSpc>
                <a:spcPct val="120000"/>
              </a:lnSpc>
              <a:buNone/>
            </a:pPr>
            <a:r>
              <a:rPr lang="en-US" sz="1350" dirty="0">
                <a:solidFill>
                  <a:srgbClr val="132B5E"/>
                </a:solidFill>
                <a:latin typeface="Arial" pitchFamily="34" charset="0"/>
                <a:ea typeface="Arial" pitchFamily="34" charset="-122"/>
                <a:cs typeface="Arial" pitchFamily="34" charset="-120"/>
              </a:rPr>
              <a:t>Dify, RAGFlow: thiếu kiểm chứng và cổng chặn hồi quy</a:t>
            </a:r>
            <a:endParaRPr lang="en-US" sz="1350" dirty="0"/>
          </a:p>
        </p:txBody>
      </p:sp>
      <p:sp>
        <p:nvSpPr>
          <p:cNvPr id="10" name="Shape 8"/>
          <p:cNvSpPr/>
          <p:nvPr/>
        </p:nvSpPr>
        <p:spPr>
          <a:xfrm>
            <a:off x="5943600" y="3529584"/>
            <a:ext cx="5669280" cy="1005840"/>
          </a:xfrm>
          <a:prstGeom prst="parallelogram">
            <a:avLst/>
          </a:prstGeom>
          <a:solidFill>
            <a:srgbClr val="8CC0E4"/>
          </a:solidFill>
          <a:ln w="12700">
            <a:solidFill>
              <a:srgbClr val="8CC0E4"/>
            </a:solidFill>
            <a:prstDash val="solid"/>
          </a:ln>
        </p:spPr>
      </p:sp>
      <p:sp>
        <p:nvSpPr>
          <p:cNvPr id="11" name="Text 9"/>
          <p:cNvSpPr txBox="1"/>
          <p:nvPr/>
        </p:nvSpPr>
        <p:spPr>
          <a:xfrm>
            <a:off x="6400800" y="3529584"/>
            <a:ext cx="4754880" cy="1005840"/>
          </a:xfrm>
          <a:prstGeom prst="rect">
            <a:avLst/>
          </a:prstGeom>
          <a:noFill/>
          <a:ln/>
        </p:spPr>
        <p:txBody>
          <a:bodyPr wrap="square" lIns="0" tIns="0" rIns="0" bIns="0" rtlCol="0" anchor="ctr"/>
          <a:lstStyle/>
          <a:p>
            <a:pPr indent="0" marL="0">
              <a:lnSpc>
                <a:spcPct val="120000"/>
              </a:lnSpc>
              <a:buNone/>
            </a:pPr>
            <a:r>
              <a:rPr lang="en-US" sz="1350" b="1" dirty="0">
                <a:solidFill>
                  <a:srgbClr val="132B5E"/>
                </a:solidFill>
                <a:latin typeface="Arial" pitchFamily="34" charset="0"/>
                <a:ea typeface="Arial" pitchFamily="34" charset="-122"/>
                <a:cs typeface="Arial" pitchFamily="34" charset="-120"/>
              </a:rPr>
              <a:t>THƯ VIỆN LẬP TRÌNH</a:t>
            </a:r>
            <a:endParaRPr lang="en-US" sz="1350" dirty="0"/>
          </a:p>
          <a:p>
            <a:pPr indent="0" marL="0">
              <a:lnSpc>
                <a:spcPct val="120000"/>
              </a:lnSpc>
              <a:buNone/>
            </a:pPr>
            <a:r>
              <a:rPr lang="en-US" sz="1350" dirty="0">
                <a:solidFill>
                  <a:srgbClr val="132B5E"/>
                </a:solidFill>
                <a:latin typeface="Arial" pitchFamily="34" charset="0"/>
                <a:ea typeface="Arial" pitchFamily="34" charset="-122"/>
                <a:cs typeface="Arial" pitchFamily="34" charset="-120"/>
              </a:rPr>
              <a:t>LangChain, LlamaIndex: độ tin cậy phải tự thiết kế</a:t>
            </a:r>
            <a:endParaRPr lang="en-US" sz="1350" dirty="0"/>
          </a:p>
        </p:txBody>
      </p:sp>
      <p:sp>
        <p:nvSpPr>
          <p:cNvPr id="12" name="Shape 10"/>
          <p:cNvSpPr/>
          <p:nvPr/>
        </p:nvSpPr>
        <p:spPr>
          <a:xfrm>
            <a:off x="5943600" y="4791456"/>
            <a:ext cx="5669280" cy="1005840"/>
          </a:xfrm>
          <a:prstGeom prst="parallelogram">
            <a:avLst/>
          </a:prstGeom>
          <a:solidFill>
            <a:srgbClr val="8CC0E4"/>
          </a:solidFill>
          <a:ln w="12700">
            <a:solidFill>
              <a:srgbClr val="8CC0E4"/>
            </a:solidFill>
            <a:prstDash val="solid"/>
          </a:ln>
        </p:spPr>
      </p:sp>
      <p:sp>
        <p:nvSpPr>
          <p:cNvPr id="13" name="Text 11"/>
          <p:cNvSpPr txBox="1"/>
          <p:nvPr/>
        </p:nvSpPr>
        <p:spPr>
          <a:xfrm>
            <a:off x="6400800" y="4791456"/>
            <a:ext cx="4754880" cy="1005840"/>
          </a:xfrm>
          <a:prstGeom prst="rect">
            <a:avLst/>
          </a:prstGeom>
          <a:noFill/>
          <a:ln/>
        </p:spPr>
        <p:txBody>
          <a:bodyPr wrap="square" lIns="0" tIns="0" rIns="0" bIns="0" rtlCol="0" anchor="ctr"/>
          <a:lstStyle/>
          <a:p>
            <a:pPr indent="0" marL="0">
              <a:lnSpc>
                <a:spcPct val="120000"/>
              </a:lnSpc>
              <a:buNone/>
            </a:pPr>
            <a:r>
              <a:rPr lang="en-US" sz="1350" b="1" dirty="0">
                <a:solidFill>
                  <a:srgbClr val="132B5E"/>
                </a:solidFill>
                <a:latin typeface="Arial" pitchFamily="34" charset="0"/>
                <a:ea typeface="Arial" pitchFamily="34" charset="-122"/>
                <a:cs typeface="Arial" pitchFamily="34" charset="-120"/>
              </a:rPr>
              <a:t>HƯỚNG CỦA ĐỒ ÁN</a:t>
            </a:r>
            <a:endParaRPr lang="en-US" sz="1350" dirty="0"/>
          </a:p>
          <a:p>
            <a:pPr indent="0" marL="0">
              <a:lnSpc>
                <a:spcPct val="120000"/>
              </a:lnSpc>
              <a:buNone/>
            </a:pPr>
            <a:r>
              <a:rPr lang="en-US" sz="1350" dirty="0">
                <a:solidFill>
                  <a:srgbClr val="132B5E"/>
                </a:solidFill>
                <a:latin typeface="Arial" pitchFamily="34" charset="0"/>
                <a:ea typeface="Arial" pitchFamily="34" charset="-122"/>
                <a:cs typeface="Arial" pitchFamily="34" charset="-120"/>
              </a:rPr>
              <a:t>tự xây, dồn sức vào kiểm soát và đo độ tin cậy</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RAG Reliability Platform</dc:title>
  <dc:subject>PptxGenJS Presentation</dc:subject>
  <dc:creator>Nguyen Van Viet</dc:creator>
  <cp:lastModifiedBy>Nguyen Van Viet</cp:lastModifiedBy>
  <cp:revision>1</cp:revision>
  <dcterms:created xsi:type="dcterms:W3CDTF">2026-09-20T11:33:37Z</dcterms:created>
  <dcterms:modified xsi:type="dcterms:W3CDTF">2026-09-20T11:33:37Z</dcterms:modified>
</cp:coreProperties>
</file>