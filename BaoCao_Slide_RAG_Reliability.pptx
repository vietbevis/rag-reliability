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thầy cô. Em xin báo cáo đồ án xây dựng nền tảng RAG Reliability Platform, gồm dịch vụ trả lời câu hỏi có kiểm chứng và nền tảng tác tử.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Năm phần. Hai phần giữa là trọng tâm kỹ thuật, phần cuối là số liệu đo thực tế.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cột: trả lời trực tiếp, truy hồi nhưng không kiểm soát, và hướng của đồ án là chặn trước khi gọi mô hình rồi kiểm chứng từng khẳng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khác biệt so với bản RAG thông thường nằm ở mục tiêu hai và 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Toàn bộ mô hình chạy cục bộ nên chi phí cho mỗi truy vấn bằng không và dữ liệu không rời máy chủ.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một: cách hệ thống được chia tầng và vì sao chia như vậy.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Nhờ tầng trừu tượng, đổi mô hình hay đổi nguồn công cụ chỉ là đổi cấu hình.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Nguyên tắc hai và năm là hai thứ em giữ chặt nhất trong suốt dự 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Ràng buộc duy nhất trên cặp mã đoạn và tên mô hình nhắc rằng đổi mô hình nhúng là phải tính lại toàn bộ vector.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hai là trọng tâm: đường đi của một câu hỏi và các chốt chặn.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Lỗi hạ tầng được ghi riêng bằng trạng thái ERROR, không trộn vào nhóm từ chối.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cuối tải lên trả về ngay mã công việc, phần nặng chạy nền qua hàng đợi.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nguồn chạy song song, nguồn nào lỗi thì phần hợp nhất vẫn tiếp tục với nguồn còn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Trên nhóm câu hỏi ngoài phạm vi, chốt chặn này cho tỉ lệ từ chối đúng tuyệt đối.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chỗ không tin mô hình chính là lý do trích dẫn của hệ thống không bao giờ trỏ tới tài liệu không tồn tại.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ba: mở rộng từ đường ống một chiều thành vòng lặp gọi công cụ có kiểm soát.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bộ bảo vệ: ngân sách, phát hiện lặp, không tiến triển và ngưỡng lỗi công cụ.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kết quả công cụ đều kèm danh sách bằng chứng, nhờ đó câu trả lời của tác tử được kiểm chứng bằng đúng bộ máy của phần truy vấn.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Máy chủ bên ngoài hỏng chỉ làm mất công cụ của nó, tác tử vẫn chạy với các công cụ còn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bốn: số liệu đo thật, không phải ước lượng.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answerable đo truy hồi cơ bản, nhóm semantic đo riêng chất lượng mô hình nhúng, nhóm unanswerable đo khả năng từ chối.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cần nhấn: không có trường hợp nào bịa ra câu trả lời khi kho tri thức không chứa thông 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Giá trị của cách thiết kế bộ dữ liệu theo tầng lỗi nằm ở chỗ tách được hai nguyên nhân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tổng hợp trước khắc phục là 7,45 trên 10. Ba lỗi chặn đều đã sửa và đo lại để xác nhận.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case có cài lỗi được phân loại đúng nhãn lỗi nhà cung cấp và quá thời gian chờ, cả hai đều phục hồi thành công.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Mọi con số trong slide này em chạy lại trước buổi báo cáo.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Hạn chế lớn nhất hiện nay là suy luận nhiều chặng, phụ thuộc năng lực mô hình.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xin cảm ơn và sẵn sàng nhận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FEFEE"/>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8A8F98"/>
                </a:solidFill>
                <a:latin typeface="Arial" pitchFamily="34" charset="0"/>
                <a:ea typeface="Arial" pitchFamily="34" charset="-122"/>
                <a:cs typeface="Arial" pitchFamily="34" charset="-120"/>
              </a:rPr>
              <a:t>RAG RELIABILITY PLATFORM  ·  Báo cáo đồ án môn học</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8A8F98"/>
                </a:solidFill>
                <a:latin typeface="Arial" pitchFamily="34" charset="0"/>
                <a:ea typeface="Arial" pitchFamily="34" charset="-122"/>
                <a:cs typeface="Arial" pitchFamily="34" charset="-120"/>
              </a:rPr>
              <a:t>01</a:t>
            </a:r>
            <a:endParaRPr lang="en-US" sz="900" dirty="0"/>
          </a:p>
        </p:txBody>
      </p:sp>
      <p:sp>
        <p:nvSpPr>
          <p:cNvPr id="4" name="Shape 2"/>
          <p:cNvSpPr/>
          <p:nvPr/>
        </p:nvSpPr>
        <p:spPr>
          <a:xfrm>
            <a:off x="566928" y="960120"/>
            <a:ext cx="4343400" cy="566928"/>
          </a:xfrm>
          <a:prstGeom prst="roundRect">
            <a:avLst>
              <a:gd name="adj" fmla="val 50000"/>
            </a:avLst>
          </a:prstGeom>
          <a:solidFill>
            <a:srgbClr val="132B5E"/>
          </a:solidFill>
          <a:ln/>
        </p:spPr>
      </p:sp>
      <p:sp>
        <p:nvSpPr>
          <p:cNvPr id="5" name="Text 3"/>
          <p:cNvSpPr txBox="1"/>
          <p:nvPr/>
        </p:nvSpPr>
        <p:spPr>
          <a:xfrm>
            <a:off x="566928" y="960120"/>
            <a:ext cx="4343400" cy="566928"/>
          </a:xfrm>
          <a:prstGeom prst="rect">
            <a:avLst/>
          </a:prstGeom>
          <a:noFill/>
          <a:ln/>
        </p:spPr>
        <p:txBody>
          <a:bodyPr wrap="square" lIns="0" tIns="0" rIns="0" bIns="0" rtlCol="0" anchor="ctr"/>
          <a:lstStyle/>
          <a:p>
            <a:pPr algn="ctr" indent="0" marL="0">
              <a:buNone/>
            </a:pPr>
            <a:r>
              <a:rPr lang="en-US" sz="1400" b="1" spc="100" kern="0" dirty="0">
                <a:solidFill>
                  <a:srgbClr val="FFFFFF"/>
                </a:solidFill>
                <a:latin typeface="Arial" pitchFamily="34" charset="0"/>
                <a:ea typeface="Arial" pitchFamily="34" charset="-122"/>
                <a:cs typeface="Arial" pitchFamily="34" charset="-120"/>
              </a:rPr>
              <a:t>[ BÁO CÁO ĐỒ ÁN MÔN HỌC ]</a:t>
            </a:r>
            <a:endParaRPr lang="en-US" sz="1400" dirty="0"/>
          </a:p>
        </p:txBody>
      </p:sp>
      <p:sp>
        <p:nvSpPr>
          <p:cNvPr id="6" name="Text 4"/>
          <p:cNvSpPr txBox="1"/>
          <p:nvPr/>
        </p:nvSpPr>
        <p:spPr>
          <a:xfrm>
            <a:off x="566928" y="1783080"/>
            <a:ext cx="5486400" cy="2103120"/>
          </a:xfrm>
          <a:prstGeom prst="rect">
            <a:avLst/>
          </a:prstGeom>
          <a:noFill/>
          <a:ln/>
        </p:spPr>
        <p:txBody>
          <a:bodyPr wrap="square" lIns="0" tIns="0" rIns="0" bIns="0" rtlCol="0" anchor="t"/>
          <a:lstStyle/>
          <a:p>
            <a:pPr indent="0" marL="0">
              <a:lnSpc>
                <a:spcPct val="95000"/>
              </a:lnSpc>
              <a:buNone/>
            </a:pPr>
            <a:r>
              <a:rPr lang="en-US" sz="5400" b="1" dirty="0">
                <a:solidFill>
                  <a:srgbClr val="132B5E"/>
                </a:solidFill>
                <a:latin typeface="Arial" pitchFamily="34" charset="0"/>
                <a:ea typeface="Arial" pitchFamily="34" charset="-122"/>
                <a:cs typeface="Arial" pitchFamily="34" charset="-120"/>
              </a:rPr>
              <a:t>RAG</a:t>
            </a:r>
            <a:endParaRPr lang="en-US" sz="5400" dirty="0"/>
          </a:p>
          <a:p>
            <a:pPr indent="0" marL="0">
              <a:lnSpc>
                <a:spcPct val="95000"/>
              </a:lnSpc>
              <a:buNone/>
            </a:pPr>
            <a:r>
              <a:rPr lang="en-US" sz="4000" b="1" dirty="0">
                <a:solidFill>
                  <a:srgbClr val="132B5E"/>
                </a:solidFill>
                <a:latin typeface="Arial" pitchFamily="34" charset="0"/>
                <a:ea typeface="Arial" pitchFamily="34" charset="-122"/>
                <a:cs typeface="Arial" pitchFamily="34" charset="-120"/>
              </a:rPr>
              <a:t>RELIABILITY</a:t>
            </a:r>
            <a:endParaRPr lang="en-US" sz="5400" dirty="0"/>
          </a:p>
          <a:p>
            <a:pPr indent="0" marL="0">
              <a:lnSpc>
                <a:spcPct val="95000"/>
              </a:lnSpc>
              <a:buNone/>
            </a:pPr>
            <a:r>
              <a:rPr lang="en-US" sz="4000" b="1" dirty="0">
                <a:solidFill>
                  <a:srgbClr val="132B5E"/>
                </a:solidFill>
                <a:latin typeface="Arial" pitchFamily="34" charset="0"/>
                <a:ea typeface="Arial" pitchFamily="34" charset="-122"/>
                <a:cs typeface="Arial" pitchFamily="34" charset="-120"/>
              </a:rPr>
              <a:t>PLATFORM</a:t>
            </a:r>
            <a:endParaRPr lang="en-US" sz="5400" dirty="0"/>
          </a:p>
        </p:txBody>
      </p:sp>
      <p:sp>
        <p:nvSpPr>
          <p:cNvPr id="7" name="Text 5"/>
          <p:cNvSpPr txBox="1"/>
          <p:nvPr/>
        </p:nvSpPr>
        <p:spPr>
          <a:xfrm>
            <a:off x="566928" y="3977640"/>
            <a:ext cx="5394960" cy="1371600"/>
          </a:xfrm>
          <a:prstGeom prst="rect">
            <a:avLst/>
          </a:prstGeom>
          <a:noFill/>
          <a:ln/>
        </p:spPr>
        <p:txBody>
          <a:bodyPr wrap="square" lIns="0" tIns="0" rIns="0" bIns="0" rtlCol="0" anchor="t"/>
          <a:lstStyle/>
          <a:p>
            <a:pPr indent="0" marL="0">
              <a:lnSpc>
                <a:spcPct val="130000"/>
              </a:lnSpc>
              <a:buNone/>
            </a:pPr>
            <a:r>
              <a:rPr lang="en-US" sz="1500" dirty="0">
                <a:solidFill>
                  <a:srgbClr val="1F3A6E"/>
                </a:solidFill>
                <a:latin typeface="Arial" pitchFamily="34" charset="0"/>
                <a:ea typeface="Arial" pitchFamily="34" charset="-122"/>
                <a:cs typeface="Arial" pitchFamily="34" charset="-120"/>
              </a:rPr>
              <a:t>Nền tảng trả lời câu hỏi trên kho tri thức riêng, chỉ trả lời khi có bằng chứng và từ chối khi không có. Mọi cải tiến đều được chứng minh bằng số đo trên bộ dữ liệu cố định.</a:t>
            </a:r>
            <a:endParaRPr lang="en-US" sz="1500" dirty="0"/>
          </a:p>
        </p:txBody>
      </p:sp>
      <p:sp>
        <p:nvSpPr>
          <p:cNvPr id="8" name="Text 6"/>
          <p:cNvSpPr txBox="1"/>
          <p:nvPr/>
        </p:nvSpPr>
        <p:spPr>
          <a:xfrm>
            <a:off x="566928" y="5440680"/>
            <a:ext cx="5852160" cy="365760"/>
          </a:xfrm>
          <a:prstGeom prst="rect">
            <a:avLst/>
          </a:prstGeom>
          <a:noFill/>
          <a:ln/>
        </p:spPr>
        <p:txBody>
          <a:bodyPr wrap="square" lIns="0" tIns="0" rIns="0" bIns="0" rtlCol="0" anchor="ctr"/>
          <a:lstStyle/>
          <a:p>
            <a:pPr indent="0" marL="0">
              <a:buNone/>
            </a:pPr>
            <a:r>
              <a:rPr lang="en-US" sz="1200" dirty="0">
                <a:solidFill>
                  <a:srgbClr val="8A8F98"/>
                </a:solidFill>
                <a:latin typeface="Arial" pitchFamily="34" charset="0"/>
                <a:ea typeface="Arial" pitchFamily="34" charset="-122"/>
                <a:cs typeface="Arial" pitchFamily="34" charset="-120"/>
              </a:rPr>
              <a:t>Sinh viên: Nguyễn Văn Việt   ·   Giảng viên hướng dẫn: .....................</a:t>
            </a:r>
            <a:endParaRPr lang="en-US" sz="1200" dirty="0"/>
          </a:p>
        </p:txBody>
      </p:sp>
      <p:sp>
        <p:nvSpPr>
          <p:cNvPr id="9" name="Shape 7"/>
          <p:cNvSpPr/>
          <p:nvPr/>
        </p:nvSpPr>
        <p:spPr>
          <a:xfrm>
            <a:off x="6446520" y="868680"/>
            <a:ext cx="5349240" cy="3431239"/>
          </a:xfrm>
          <a:prstGeom prst="rect">
            <a:avLst/>
          </a:prstGeom>
          <a:solidFill>
            <a:srgbClr val="132B5E"/>
          </a:solidFill>
          <a:ln/>
        </p:spPr>
      </p:sp>
      <p:sp>
        <p:nvSpPr>
          <p:cNvPr id="10" name="Shape 8"/>
          <p:cNvSpPr/>
          <p:nvPr/>
        </p:nvSpPr>
        <p:spPr>
          <a:xfrm>
            <a:off x="6355080" y="777240"/>
            <a:ext cx="5349240" cy="3431239"/>
          </a:xfrm>
          <a:prstGeom prst="rect">
            <a:avLst/>
          </a:prstGeom>
          <a:solidFill>
            <a:srgbClr val="FFFFFF"/>
          </a:solidFill>
          <a:ln w="12700">
            <a:solidFill>
              <a:srgbClr val="FFFFFF"/>
            </a:solidFill>
            <a:prstDash val="solid"/>
          </a:ln>
        </p:spPr>
      </p:sp>
      <p:pic>
        <p:nvPicPr>
          <p:cNvPr id="11" name="Image 0" descr="/private/tmp/claude-501/-Volumes-Data-Documents-rag-reliability/6db8fc1f-3028-4f02-8952-927e30b47723/scratchpad/report/img/d01-architecture.png">    </p:cNvPr>
          <p:cNvPicPr>
            <a:picLocks noChangeAspect="1"/>
          </p:cNvPicPr>
          <p:nvPr/>
        </p:nvPicPr>
        <p:blipFill>
          <a:blip r:embed="rId1"/>
          <a:stretch>
            <a:fillRect/>
          </a:stretch>
        </p:blipFill>
        <p:spPr>
          <a:xfrm>
            <a:off x="6419088" y="841248"/>
            <a:ext cx="5221224" cy="3303223"/>
          </a:xfrm>
          <a:prstGeom prst="rect">
            <a:avLst/>
          </a:prstGeom>
        </p:spPr>
      </p:pic>
      <p:sp>
        <p:nvSpPr>
          <p:cNvPr id="12" name="Shape 9"/>
          <p:cNvSpPr/>
          <p:nvPr/>
        </p:nvSpPr>
        <p:spPr>
          <a:xfrm>
            <a:off x="7040880" y="3931920"/>
            <a:ext cx="4754880" cy="2244560"/>
          </a:xfrm>
          <a:prstGeom prst="rect">
            <a:avLst/>
          </a:prstGeom>
          <a:solidFill>
            <a:srgbClr val="132B5E"/>
          </a:solidFill>
          <a:ln/>
        </p:spPr>
      </p:sp>
      <p:sp>
        <p:nvSpPr>
          <p:cNvPr id="13" name="Shape 10"/>
          <p:cNvSpPr/>
          <p:nvPr/>
        </p:nvSpPr>
        <p:spPr>
          <a:xfrm>
            <a:off x="6949440" y="3840480"/>
            <a:ext cx="4754880" cy="2244560"/>
          </a:xfrm>
          <a:prstGeom prst="rect">
            <a:avLst/>
          </a:prstGeom>
          <a:solidFill>
            <a:srgbClr val="FFFFFF"/>
          </a:solidFill>
          <a:ln w="12700">
            <a:solidFill>
              <a:srgbClr val="FFFFFF"/>
            </a:solidFill>
            <a:prstDash val="solid"/>
          </a:ln>
        </p:spPr>
      </p:sp>
      <p:pic>
        <p:nvPicPr>
          <p:cNvPr id="14" name="Image 1" descr="/private/tmp/claude-501/-Volumes-Data-Documents-rag-reliability/6db8fc1f-3028-4f02-8952-927e30b47723/scratchpad/report/img/c01-passrate.png">    </p:cNvPr>
          <p:cNvPicPr>
            <a:picLocks noChangeAspect="1"/>
          </p:cNvPicPr>
          <p:nvPr/>
        </p:nvPicPr>
        <p:blipFill>
          <a:blip r:embed="rId2"/>
          <a:stretch>
            <a:fillRect/>
          </a:stretch>
        </p:blipFill>
        <p:spPr>
          <a:xfrm>
            <a:off x="7013448" y="3904488"/>
            <a:ext cx="4626864" cy="211654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FEFEE"/>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8A8F98"/>
                </a:solidFill>
                <a:latin typeface="Arial" pitchFamily="34" charset="0"/>
                <a:ea typeface="Arial" pitchFamily="34" charset="-122"/>
                <a:cs typeface="Arial" pitchFamily="34" charset="-120"/>
              </a:rPr>
              <a:t>RAG RELIABILITY PLATFORM  ·  Báo cáo đồ án môn học</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8A8F98"/>
                </a:solidFill>
                <a:latin typeface="Arial" pitchFamily="34" charset="0"/>
                <a:ea typeface="Arial" pitchFamily="34" charset="-122"/>
                <a:cs typeface="Arial" pitchFamily="34" charset="-120"/>
              </a:rPr>
              <a:t>02</a:t>
            </a:r>
            <a:endParaRPr lang="en-US" sz="900" dirty="0"/>
          </a:p>
        </p:txBody>
      </p:sp>
      <p:sp>
        <p:nvSpPr>
          <p:cNvPr id="4" name="Text 2"/>
          <p:cNvSpPr txBox="1"/>
          <p:nvPr/>
        </p:nvSpPr>
        <p:spPr>
          <a:xfrm>
            <a:off x="566928" y="384048"/>
            <a:ext cx="5303520" cy="1234440"/>
          </a:xfrm>
          <a:prstGeom prst="rect">
            <a:avLst/>
          </a:prstGeom>
          <a:noFill/>
          <a:ln/>
        </p:spPr>
        <p:txBody>
          <a:bodyPr wrap="square" lIns="0" tIns="0" rIns="0" bIns="0" rtlCol="0" anchor="t"/>
          <a:lstStyle/>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NỘI DUNG</a:t>
            </a:r>
            <a:endParaRPr lang="en-US" sz="3200" dirty="0"/>
          </a:p>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BÁO CÁO</a:t>
            </a:r>
            <a:endParaRPr lang="en-US" sz="3200" dirty="0"/>
          </a:p>
        </p:txBody>
      </p:sp>
      <p:sp>
        <p:nvSpPr>
          <p:cNvPr id="5" name="Text 3"/>
          <p:cNvSpPr txBox="1"/>
          <p:nvPr/>
        </p:nvSpPr>
        <p:spPr>
          <a:xfrm>
            <a:off x="566928" y="1965960"/>
            <a:ext cx="4754880" cy="1097280"/>
          </a:xfrm>
          <a:prstGeom prst="rect">
            <a:avLst/>
          </a:prstGeom>
          <a:noFill/>
          <a:ln/>
        </p:spPr>
        <p:txBody>
          <a:bodyPr wrap="square" lIns="0" tIns="0" rIns="0" bIns="0" rtlCol="0" anchor="t"/>
          <a:lstStyle/>
          <a:p>
            <a:pPr indent="0" marL="0">
              <a:lnSpc>
                <a:spcPct val="128000"/>
              </a:lnSpc>
              <a:buNone/>
            </a:pPr>
            <a:r>
              <a:rPr lang="en-US" sz="1450" dirty="0">
                <a:solidFill>
                  <a:srgbClr val="1F3A6E"/>
                </a:solidFill>
                <a:latin typeface="Arial" pitchFamily="34" charset="0"/>
                <a:ea typeface="Arial" pitchFamily="34" charset="-122"/>
                <a:cs typeface="Arial" pitchFamily="34" charset="-120"/>
              </a:rPr>
              <a:t>Buổi báo cáo đi từ bài toán và kiến trúc, tới hai khối kỹ thuật chính, rồi kết quả đo và hướng phát triển.</a:t>
            </a:r>
            <a:endParaRPr lang="en-US" sz="1450" dirty="0"/>
          </a:p>
        </p:txBody>
      </p:sp>
      <p:sp>
        <p:nvSpPr>
          <p:cNvPr id="6" name="Shape 4"/>
          <p:cNvSpPr/>
          <p:nvPr/>
        </p:nvSpPr>
        <p:spPr>
          <a:xfrm>
            <a:off x="5943600" y="960120"/>
            <a:ext cx="5669280" cy="786384"/>
          </a:xfrm>
          <a:prstGeom prst="parallelogram">
            <a:avLst/>
          </a:prstGeom>
          <a:solidFill>
            <a:srgbClr val="8CC0E4"/>
          </a:solidFill>
          <a:ln w="12700">
            <a:solidFill>
              <a:srgbClr val="8CC0E4"/>
            </a:solidFill>
            <a:prstDash val="solid"/>
          </a:ln>
        </p:spPr>
      </p:sp>
      <p:sp>
        <p:nvSpPr>
          <p:cNvPr id="7" name="Text 5"/>
          <p:cNvSpPr txBox="1"/>
          <p:nvPr/>
        </p:nvSpPr>
        <p:spPr>
          <a:xfrm>
            <a:off x="6254496" y="960120"/>
            <a:ext cx="822960" cy="786384"/>
          </a:xfrm>
          <a:prstGeom prst="rect">
            <a:avLst/>
          </a:prstGeom>
          <a:noFill/>
          <a:ln/>
        </p:spPr>
        <p:txBody>
          <a:bodyPr wrap="square" lIns="0" tIns="0" rIns="0" bIns="0" rtlCol="0" anchor="ctr"/>
          <a:lstStyle/>
          <a:p>
            <a:pPr indent="0" marL="0">
              <a:buNone/>
            </a:pPr>
            <a:r>
              <a:rPr lang="en-US" sz="2000" b="1" dirty="0">
                <a:solidFill>
                  <a:srgbClr val="132B5E"/>
                </a:solidFill>
                <a:latin typeface="Arial" pitchFamily="34" charset="0"/>
                <a:ea typeface="Arial" pitchFamily="34" charset="-122"/>
                <a:cs typeface="Arial" pitchFamily="34" charset="-120"/>
              </a:rPr>
              <a:t>01</a:t>
            </a:r>
            <a:endParaRPr lang="en-US" sz="2000" dirty="0"/>
          </a:p>
        </p:txBody>
      </p:sp>
      <p:sp>
        <p:nvSpPr>
          <p:cNvPr id="8" name="Text 6"/>
          <p:cNvSpPr txBox="1"/>
          <p:nvPr/>
        </p:nvSpPr>
        <p:spPr>
          <a:xfrm>
            <a:off x="7086600" y="960120"/>
            <a:ext cx="4069080" cy="786384"/>
          </a:xfrm>
          <a:prstGeom prst="rect">
            <a:avLst/>
          </a:prstGeom>
          <a:noFill/>
          <a:ln/>
        </p:spPr>
        <p:txBody>
          <a:bodyPr wrap="square" lIns="0" tIns="0" rIns="0" bIns="0" rtlCol="0" anchor="ctr"/>
          <a:lstStyle/>
          <a:p>
            <a:pPr indent="0" marL="0">
              <a:buNone/>
            </a:pPr>
            <a:r>
              <a:rPr lang="en-US" sz="1300" b="1" dirty="0">
                <a:solidFill>
                  <a:srgbClr val="132B5E"/>
                </a:solidFill>
                <a:latin typeface="Arial" pitchFamily="34" charset="0"/>
                <a:ea typeface="Arial" pitchFamily="34" charset="-122"/>
                <a:cs typeface="Arial" pitchFamily="34" charset="-120"/>
              </a:rPr>
              <a:t>BÀI TOÁN VÀ MỤC TIÊU</a:t>
            </a:r>
            <a:endParaRPr lang="en-US" sz="1300" dirty="0"/>
          </a:p>
        </p:txBody>
      </p:sp>
      <p:sp>
        <p:nvSpPr>
          <p:cNvPr id="9" name="Shape 7"/>
          <p:cNvSpPr/>
          <p:nvPr/>
        </p:nvSpPr>
        <p:spPr>
          <a:xfrm>
            <a:off x="5943600" y="1984248"/>
            <a:ext cx="5669280" cy="786384"/>
          </a:xfrm>
          <a:prstGeom prst="parallelogram">
            <a:avLst/>
          </a:prstGeom>
          <a:solidFill>
            <a:srgbClr val="8CC0E4"/>
          </a:solidFill>
          <a:ln w="12700">
            <a:solidFill>
              <a:srgbClr val="8CC0E4"/>
            </a:solidFill>
            <a:prstDash val="solid"/>
          </a:ln>
        </p:spPr>
      </p:sp>
      <p:sp>
        <p:nvSpPr>
          <p:cNvPr id="10" name="Text 8"/>
          <p:cNvSpPr txBox="1"/>
          <p:nvPr/>
        </p:nvSpPr>
        <p:spPr>
          <a:xfrm>
            <a:off x="6254496" y="1984248"/>
            <a:ext cx="822960" cy="786384"/>
          </a:xfrm>
          <a:prstGeom prst="rect">
            <a:avLst/>
          </a:prstGeom>
          <a:noFill/>
          <a:ln/>
        </p:spPr>
        <p:txBody>
          <a:bodyPr wrap="square" lIns="0" tIns="0" rIns="0" bIns="0" rtlCol="0" anchor="ctr"/>
          <a:lstStyle/>
          <a:p>
            <a:pPr indent="0" marL="0">
              <a:buNone/>
            </a:pPr>
            <a:r>
              <a:rPr lang="en-US" sz="2000" b="1" dirty="0">
                <a:solidFill>
                  <a:srgbClr val="132B5E"/>
                </a:solidFill>
                <a:latin typeface="Arial" pitchFamily="34" charset="0"/>
                <a:ea typeface="Arial" pitchFamily="34" charset="-122"/>
                <a:cs typeface="Arial" pitchFamily="34" charset="-120"/>
              </a:rPr>
              <a:t>02</a:t>
            </a:r>
            <a:endParaRPr lang="en-US" sz="2000" dirty="0"/>
          </a:p>
        </p:txBody>
      </p:sp>
      <p:sp>
        <p:nvSpPr>
          <p:cNvPr id="11" name="Text 9"/>
          <p:cNvSpPr txBox="1"/>
          <p:nvPr/>
        </p:nvSpPr>
        <p:spPr>
          <a:xfrm>
            <a:off x="7086600" y="1984248"/>
            <a:ext cx="4069080" cy="786384"/>
          </a:xfrm>
          <a:prstGeom prst="rect">
            <a:avLst/>
          </a:prstGeom>
          <a:noFill/>
          <a:ln/>
        </p:spPr>
        <p:txBody>
          <a:bodyPr wrap="square" lIns="0" tIns="0" rIns="0" bIns="0" rtlCol="0" anchor="ctr"/>
          <a:lstStyle/>
          <a:p>
            <a:pPr indent="0" marL="0">
              <a:buNone/>
            </a:pPr>
            <a:r>
              <a:rPr lang="en-US" sz="1300" b="1" dirty="0">
                <a:solidFill>
                  <a:srgbClr val="132B5E"/>
                </a:solidFill>
                <a:latin typeface="Arial" pitchFamily="34" charset="0"/>
                <a:ea typeface="Arial" pitchFamily="34" charset="-122"/>
                <a:cs typeface="Arial" pitchFamily="34" charset="-120"/>
              </a:rPr>
              <a:t>KIẾN TRÚC HỆ THỐNG</a:t>
            </a:r>
            <a:endParaRPr lang="en-US" sz="1300" dirty="0"/>
          </a:p>
        </p:txBody>
      </p:sp>
      <p:sp>
        <p:nvSpPr>
          <p:cNvPr id="12" name="Shape 10"/>
          <p:cNvSpPr/>
          <p:nvPr/>
        </p:nvSpPr>
        <p:spPr>
          <a:xfrm>
            <a:off x="5943600" y="3008376"/>
            <a:ext cx="5669280" cy="786384"/>
          </a:xfrm>
          <a:prstGeom prst="parallelogram">
            <a:avLst/>
          </a:prstGeom>
          <a:solidFill>
            <a:srgbClr val="8CC0E4"/>
          </a:solidFill>
          <a:ln w="12700">
            <a:solidFill>
              <a:srgbClr val="8CC0E4"/>
            </a:solidFill>
            <a:prstDash val="solid"/>
          </a:ln>
        </p:spPr>
      </p:sp>
      <p:sp>
        <p:nvSpPr>
          <p:cNvPr id="13" name="Text 11"/>
          <p:cNvSpPr txBox="1"/>
          <p:nvPr/>
        </p:nvSpPr>
        <p:spPr>
          <a:xfrm>
            <a:off x="6254496" y="3008376"/>
            <a:ext cx="822960" cy="786384"/>
          </a:xfrm>
          <a:prstGeom prst="rect">
            <a:avLst/>
          </a:prstGeom>
          <a:noFill/>
          <a:ln/>
        </p:spPr>
        <p:txBody>
          <a:bodyPr wrap="square" lIns="0" tIns="0" rIns="0" bIns="0" rtlCol="0" anchor="ctr"/>
          <a:lstStyle/>
          <a:p>
            <a:pPr indent="0" marL="0">
              <a:buNone/>
            </a:pPr>
            <a:r>
              <a:rPr lang="en-US" sz="2000" b="1" dirty="0">
                <a:solidFill>
                  <a:srgbClr val="132B5E"/>
                </a:solidFill>
                <a:latin typeface="Arial" pitchFamily="34" charset="0"/>
                <a:ea typeface="Arial" pitchFamily="34" charset="-122"/>
                <a:cs typeface="Arial" pitchFamily="34" charset="-120"/>
              </a:rPr>
              <a:t>03</a:t>
            </a:r>
            <a:endParaRPr lang="en-US" sz="2000" dirty="0"/>
          </a:p>
        </p:txBody>
      </p:sp>
      <p:sp>
        <p:nvSpPr>
          <p:cNvPr id="14" name="Text 12"/>
          <p:cNvSpPr txBox="1"/>
          <p:nvPr/>
        </p:nvSpPr>
        <p:spPr>
          <a:xfrm>
            <a:off x="7086600" y="3008376"/>
            <a:ext cx="4069080" cy="786384"/>
          </a:xfrm>
          <a:prstGeom prst="rect">
            <a:avLst/>
          </a:prstGeom>
          <a:noFill/>
          <a:ln/>
        </p:spPr>
        <p:txBody>
          <a:bodyPr wrap="square" lIns="0" tIns="0" rIns="0" bIns="0" rtlCol="0" anchor="ctr"/>
          <a:lstStyle/>
          <a:p>
            <a:pPr indent="0" marL="0">
              <a:buNone/>
            </a:pPr>
            <a:r>
              <a:rPr lang="en-US" sz="1300" b="1" dirty="0">
                <a:solidFill>
                  <a:srgbClr val="132B5E"/>
                </a:solidFill>
                <a:latin typeface="Arial" pitchFamily="34" charset="0"/>
                <a:ea typeface="Arial" pitchFamily="34" charset="-122"/>
                <a:cs typeface="Arial" pitchFamily="34" charset="-120"/>
              </a:rPr>
              <a:t>PIPELINE RAG VÀ CHỐNG BỊA ĐẶT</a:t>
            </a:r>
            <a:endParaRPr lang="en-US" sz="1300" dirty="0"/>
          </a:p>
        </p:txBody>
      </p:sp>
      <p:sp>
        <p:nvSpPr>
          <p:cNvPr id="15" name="Shape 13"/>
          <p:cNvSpPr/>
          <p:nvPr/>
        </p:nvSpPr>
        <p:spPr>
          <a:xfrm>
            <a:off x="5943600" y="4032504"/>
            <a:ext cx="5669280" cy="786384"/>
          </a:xfrm>
          <a:prstGeom prst="parallelogram">
            <a:avLst/>
          </a:prstGeom>
          <a:solidFill>
            <a:srgbClr val="8CC0E4"/>
          </a:solidFill>
          <a:ln w="12700">
            <a:solidFill>
              <a:srgbClr val="8CC0E4"/>
            </a:solidFill>
            <a:prstDash val="solid"/>
          </a:ln>
        </p:spPr>
      </p:sp>
      <p:sp>
        <p:nvSpPr>
          <p:cNvPr id="16" name="Text 14"/>
          <p:cNvSpPr txBox="1"/>
          <p:nvPr/>
        </p:nvSpPr>
        <p:spPr>
          <a:xfrm>
            <a:off x="6254496" y="4032504"/>
            <a:ext cx="822960" cy="786384"/>
          </a:xfrm>
          <a:prstGeom prst="rect">
            <a:avLst/>
          </a:prstGeom>
          <a:noFill/>
          <a:ln/>
        </p:spPr>
        <p:txBody>
          <a:bodyPr wrap="square" lIns="0" tIns="0" rIns="0" bIns="0" rtlCol="0" anchor="ctr"/>
          <a:lstStyle/>
          <a:p>
            <a:pPr indent="0" marL="0">
              <a:buNone/>
            </a:pPr>
            <a:r>
              <a:rPr lang="en-US" sz="2000" b="1" dirty="0">
                <a:solidFill>
                  <a:srgbClr val="132B5E"/>
                </a:solidFill>
                <a:latin typeface="Arial" pitchFamily="34" charset="0"/>
                <a:ea typeface="Arial" pitchFamily="34" charset="-122"/>
                <a:cs typeface="Arial" pitchFamily="34" charset="-120"/>
              </a:rPr>
              <a:t>04</a:t>
            </a:r>
            <a:endParaRPr lang="en-US" sz="2000" dirty="0"/>
          </a:p>
        </p:txBody>
      </p:sp>
      <p:sp>
        <p:nvSpPr>
          <p:cNvPr id="17" name="Text 15"/>
          <p:cNvSpPr txBox="1"/>
          <p:nvPr/>
        </p:nvSpPr>
        <p:spPr>
          <a:xfrm>
            <a:off x="7086600" y="4032504"/>
            <a:ext cx="4069080" cy="786384"/>
          </a:xfrm>
          <a:prstGeom prst="rect">
            <a:avLst/>
          </a:prstGeom>
          <a:noFill/>
          <a:ln/>
        </p:spPr>
        <p:txBody>
          <a:bodyPr wrap="square" lIns="0" tIns="0" rIns="0" bIns="0" rtlCol="0" anchor="ctr"/>
          <a:lstStyle/>
          <a:p>
            <a:pPr indent="0" marL="0">
              <a:buNone/>
            </a:pPr>
            <a:r>
              <a:rPr lang="en-US" sz="1300" b="1" dirty="0">
                <a:solidFill>
                  <a:srgbClr val="132B5E"/>
                </a:solidFill>
                <a:latin typeface="Arial" pitchFamily="34" charset="0"/>
                <a:ea typeface="Arial" pitchFamily="34" charset="-122"/>
                <a:cs typeface="Arial" pitchFamily="34" charset="-120"/>
              </a:rPr>
              <a:t>NỀN TẢNG TÁC TỬ</a:t>
            </a:r>
            <a:endParaRPr lang="en-US" sz="1300" dirty="0"/>
          </a:p>
        </p:txBody>
      </p:sp>
      <p:sp>
        <p:nvSpPr>
          <p:cNvPr id="18" name="Shape 16"/>
          <p:cNvSpPr/>
          <p:nvPr/>
        </p:nvSpPr>
        <p:spPr>
          <a:xfrm>
            <a:off x="5943600" y="5056632"/>
            <a:ext cx="5669280" cy="786384"/>
          </a:xfrm>
          <a:prstGeom prst="parallelogram">
            <a:avLst/>
          </a:prstGeom>
          <a:solidFill>
            <a:srgbClr val="8CC0E4"/>
          </a:solidFill>
          <a:ln w="12700">
            <a:solidFill>
              <a:srgbClr val="8CC0E4"/>
            </a:solidFill>
            <a:prstDash val="solid"/>
          </a:ln>
        </p:spPr>
      </p:sp>
      <p:sp>
        <p:nvSpPr>
          <p:cNvPr id="19" name="Text 17"/>
          <p:cNvSpPr txBox="1"/>
          <p:nvPr/>
        </p:nvSpPr>
        <p:spPr>
          <a:xfrm>
            <a:off x="6254496" y="5056632"/>
            <a:ext cx="822960" cy="786384"/>
          </a:xfrm>
          <a:prstGeom prst="rect">
            <a:avLst/>
          </a:prstGeom>
          <a:noFill/>
          <a:ln/>
        </p:spPr>
        <p:txBody>
          <a:bodyPr wrap="square" lIns="0" tIns="0" rIns="0" bIns="0" rtlCol="0" anchor="ctr"/>
          <a:lstStyle/>
          <a:p>
            <a:pPr indent="0" marL="0">
              <a:buNone/>
            </a:pPr>
            <a:r>
              <a:rPr lang="en-US" sz="2000" b="1" dirty="0">
                <a:solidFill>
                  <a:srgbClr val="132B5E"/>
                </a:solidFill>
                <a:latin typeface="Arial" pitchFamily="34" charset="0"/>
                <a:ea typeface="Arial" pitchFamily="34" charset="-122"/>
                <a:cs typeface="Arial" pitchFamily="34" charset="-120"/>
              </a:rPr>
              <a:t>05</a:t>
            </a:r>
            <a:endParaRPr lang="en-US" sz="2000" dirty="0"/>
          </a:p>
        </p:txBody>
      </p:sp>
      <p:sp>
        <p:nvSpPr>
          <p:cNvPr id="20" name="Text 18"/>
          <p:cNvSpPr txBox="1"/>
          <p:nvPr/>
        </p:nvSpPr>
        <p:spPr>
          <a:xfrm>
            <a:off x="7086600" y="5056632"/>
            <a:ext cx="4069080" cy="786384"/>
          </a:xfrm>
          <a:prstGeom prst="rect">
            <a:avLst/>
          </a:prstGeom>
          <a:noFill/>
          <a:ln/>
        </p:spPr>
        <p:txBody>
          <a:bodyPr wrap="square" lIns="0" tIns="0" rIns="0" bIns="0" rtlCol="0" anchor="ctr"/>
          <a:lstStyle/>
          <a:p>
            <a:pPr indent="0" marL="0">
              <a:buNone/>
            </a:pPr>
            <a:r>
              <a:rPr lang="en-US" sz="1300" b="1" dirty="0">
                <a:solidFill>
                  <a:srgbClr val="132B5E"/>
                </a:solidFill>
                <a:latin typeface="Arial" pitchFamily="34" charset="0"/>
                <a:ea typeface="Arial" pitchFamily="34" charset="-122"/>
                <a:cs typeface="Arial" pitchFamily="34" charset="-120"/>
              </a:rPr>
              <a:t>KẾT QUẢ THỰC NGHIỆM VÀ TỔNG KẾT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FEFEE"/>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8A8F98"/>
                </a:solidFill>
                <a:latin typeface="Arial" pitchFamily="34" charset="0"/>
                <a:ea typeface="Arial" pitchFamily="34" charset="-122"/>
                <a:cs typeface="Arial" pitchFamily="34" charset="-120"/>
              </a:rPr>
              <a:t>RAG RELIABILITY PLATFORM  ·  Báo cáo đồ án môn học</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8A8F98"/>
                </a:solidFill>
                <a:latin typeface="Arial" pitchFamily="34" charset="0"/>
                <a:ea typeface="Arial" pitchFamily="34" charset="-122"/>
                <a:cs typeface="Arial" pitchFamily="34" charset="-120"/>
              </a:rPr>
              <a:t>03</a:t>
            </a:r>
            <a:endParaRPr lang="en-US" sz="900" dirty="0"/>
          </a:p>
        </p:txBody>
      </p:sp>
      <p:sp>
        <p:nvSpPr>
          <p:cNvPr id="4" name="Text 2"/>
          <p:cNvSpPr txBox="1"/>
          <p:nvPr/>
        </p:nvSpPr>
        <p:spPr>
          <a:xfrm>
            <a:off x="566928" y="384048"/>
            <a:ext cx="10881360" cy="777240"/>
          </a:xfrm>
          <a:prstGeom prst="rect">
            <a:avLst/>
          </a:prstGeom>
          <a:noFill/>
          <a:ln/>
        </p:spPr>
        <p:txBody>
          <a:bodyPr wrap="square" lIns="0" tIns="0" rIns="0" bIns="0" rtlCol="0" anchor="t"/>
          <a:lstStyle/>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VÌ SAO CẦN ĐỀ TÀI NÀY</a:t>
            </a:r>
            <a:endParaRPr lang="en-US" sz="3200" dirty="0"/>
          </a:p>
        </p:txBody>
      </p:sp>
      <p:sp>
        <p:nvSpPr>
          <p:cNvPr id="5" name="Text 3"/>
          <p:cNvSpPr txBox="1"/>
          <p:nvPr/>
        </p:nvSpPr>
        <p:spPr>
          <a:xfrm>
            <a:off x="566928" y="1371600"/>
            <a:ext cx="10881360" cy="822960"/>
          </a:xfrm>
          <a:prstGeom prst="rect">
            <a:avLst/>
          </a:prstGeom>
          <a:noFill/>
          <a:ln/>
        </p:spPr>
        <p:txBody>
          <a:bodyPr wrap="square" lIns="0" tIns="0" rIns="0" bIns="0" rtlCol="0" anchor="t"/>
          <a:lstStyle/>
          <a:p>
            <a:pPr indent="0" marL="0">
              <a:lnSpc>
                <a:spcPct val="128000"/>
              </a:lnSpc>
              <a:buNone/>
            </a:pPr>
            <a:r>
              <a:rPr lang="en-US" sz="1450" dirty="0">
                <a:solidFill>
                  <a:srgbClr val="1F3A6E"/>
                </a:solidFill>
                <a:latin typeface="Arial" pitchFamily="34" charset="0"/>
                <a:ea typeface="Arial" pitchFamily="34" charset="-122"/>
                <a:cs typeface="Arial" pitchFamily="34" charset="-120"/>
              </a:rPr>
              <a:t>Mô hình ngôn ngữ không phân biệt được giữa nhớ lại một sự kiện có thật và ghép chữ thành câu nghe hợp lý. Ghép mô hình với kho tri thức riêng không xoá được rủi ro, chỉ chuyển chỗ của nó.</a:t>
            </a:r>
            <a:endParaRPr lang="en-US" sz="1450" dirty="0"/>
          </a:p>
        </p:txBody>
      </p:sp>
      <p:sp>
        <p:nvSpPr>
          <p:cNvPr id="6" name="Shape 4"/>
          <p:cNvSpPr/>
          <p:nvPr/>
        </p:nvSpPr>
        <p:spPr>
          <a:xfrm>
            <a:off x="2140382" y="2468880"/>
            <a:ext cx="8100212" cy="3520440"/>
          </a:xfrm>
          <a:prstGeom prst="rect">
            <a:avLst/>
          </a:prstGeom>
          <a:solidFill>
            <a:srgbClr val="132B5E"/>
          </a:solidFill>
          <a:ln/>
        </p:spPr>
      </p:sp>
      <p:sp>
        <p:nvSpPr>
          <p:cNvPr id="7" name="Shape 5"/>
          <p:cNvSpPr/>
          <p:nvPr/>
        </p:nvSpPr>
        <p:spPr>
          <a:xfrm>
            <a:off x="2048942" y="2377440"/>
            <a:ext cx="8100212" cy="3520440"/>
          </a:xfrm>
          <a:prstGeom prst="rect">
            <a:avLst/>
          </a:prstGeom>
          <a:solidFill>
            <a:srgbClr val="FFFFFF"/>
          </a:solidFill>
          <a:ln w="12700">
            <a:solidFill>
              <a:srgbClr val="FFFFFF"/>
            </a:solidFill>
            <a:prstDash val="solid"/>
          </a:ln>
        </p:spPr>
      </p:sp>
      <p:pic>
        <p:nvPicPr>
          <p:cNvPr id="8" name="Image 0" descr="/private/tmp/claude-501/-Volumes-Data-Documents-rag-reliability/6db8fc1f-3028-4f02-8952-927e30b47723/scratchpad/report/img/d16-problem.png">    </p:cNvPr>
          <p:cNvPicPr>
            <a:picLocks noChangeAspect="1"/>
          </p:cNvPicPr>
          <p:nvPr/>
        </p:nvPicPr>
        <p:blipFill>
          <a:blip r:embed="rId1"/>
          <a:stretch>
            <a:fillRect/>
          </a:stretch>
        </p:blipFill>
        <p:spPr>
          <a:xfrm>
            <a:off x="2112950" y="2441448"/>
            <a:ext cx="7972196" cy="339242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FEFEE"/>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8A8F98"/>
                </a:solidFill>
                <a:latin typeface="Arial" pitchFamily="34" charset="0"/>
                <a:ea typeface="Arial" pitchFamily="34" charset="-122"/>
                <a:cs typeface="Arial" pitchFamily="34" charset="-120"/>
              </a:rPr>
              <a:t>RAG RELIABILITY PLATFORM  ·  Báo cáo đồ án môn học</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8A8F98"/>
                </a:solidFill>
                <a:latin typeface="Arial" pitchFamily="34" charset="0"/>
                <a:ea typeface="Arial" pitchFamily="34" charset="-122"/>
                <a:cs typeface="Arial" pitchFamily="34" charset="-120"/>
              </a:rPr>
              <a:t>04</a:t>
            </a:r>
            <a:endParaRPr lang="en-US" sz="900" dirty="0"/>
          </a:p>
        </p:txBody>
      </p:sp>
      <p:sp>
        <p:nvSpPr>
          <p:cNvPr id="4" name="Text 2"/>
          <p:cNvSpPr txBox="1"/>
          <p:nvPr/>
        </p:nvSpPr>
        <p:spPr>
          <a:xfrm>
            <a:off x="566928" y="384048"/>
            <a:ext cx="5303520" cy="1234440"/>
          </a:xfrm>
          <a:prstGeom prst="rect">
            <a:avLst/>
          </a:prstGeom>
          <a:noFill/>
          <a:ln/>
        </p:spPr>
        <p:txBody>
          <a:bodyPr wrap="square" lIns="0" tIns="0" rIns="0" bIns="0" rtlCol="0" anchor="t"/>
          <a:lstStyle/>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MỤC TIÊU</a:t>
            </a:r>
            <a:endParaRPr lang="en-US" sz="3200" dirty="0"/>
          </a:p>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ĐỒ ÁN</a:t>
            </a:r>
            <a:endParaRPr lang="en-US" sz="3200" dirty="0"/>
          </a:p>
        </p:txBody>
      </p:sp>
      <p:sp>
        <p:nvSpPr>
          <p:cNvPr id="5" name="Text 3"/>
          <p:cNvSpPr txBox="1"/>
          <p:nvPr/>
        </p:nvSpPr>
        <p:spPr>
          <a:xfrm>
            <a:off x="566928" y="1965960"/>
            <a:ext cx="4754880" cy="1097280"/>
          </a:xfrm>
          <a:prstGeom prst="rect">
            <a:avLst/>
          </a:prstGeom>
          <a:noFill/>
          <a:ln/>
        </p:spPr>
        <p:txBody>
          <a:bodyPr wrap="square" lIns="0" tIns="0" rIns="0" bIns="0" rtlCol="0" anchor="t"/>
          <a:lstStyle/>
          <a:p>
            <a:pPr indent="0" marL="0">
              <a:lnSpc>
                <a:spcPct val="128000"/>
              </a:lnSpc>
              <a:buNone/>
            </a:pPr>
            <a:r>
              <a:rPr lang="en-US" sz="1450" dirty="0">
                <a:solidFill>
                  <a:srgbClr val="1F3A6E"/>
                </a:solidFill>
                <a:latin typeface="Arial" pitchFamily="34" charset="0"/>
                <a:ea typeface="Arial" pitchFamily="34" charset="-122"/>
                <a:cs typeface="Arial" pitchFamily="34" charset="-120"/>
              </a:rPr>
              <a:t>Bốn mục tiêu, mỗi mục tiêu đều kiểm chứng được bằng một đầu ra cụ thể trong hệ thống.</a:t>
            </a:r>
            <a:endParaRPr lang="en-US" sz="1450" dirty="0"/>
          </a:p>
        </p:txBody>
      </p:sp>
      <p:sp>
        <p:nvSpPr>
          <p:cNvPr id="6" name="Shape 4"/>
          <p:cNvSpPr/>
          <p:nvPr/>
        </p:nvSpPr>
        <p:spPr>
          <a:xfrm>
            <a:off x="5943600" y="1005840"/>
            <a:ext cx="5669280" cy="1005840"/>
          </a:xfrm>
          <a:prstGeom prst="parallelogram">
            <a:avLst/>
          </a:prstGeom>
          <a:solidFill>
            <a:srgbClr val="8CC0E4"/>
          </a:solidFill>
          <a:ln w="12700">
            <a:solidFill>
              <a:srgbClr val="8CC0E4"/>
            </a:solidFill>
            <a:prstDash val="solid"/>
          </a:ln>
        </p:spPr>
      </p:sp>
      <p:sp>
        <p:nvSpPr>
          <p:cNvPr id="7" name="Text 5"/>
          <p:cNvSpPr txBox="1"/>
          <p:nvPr/>
        </p:nvSpPr>
        <p:spPr>
          <a:xfrm>
            <a:off x="6400800" y="1005840"/>
            <a:ext cx="4754880" cy="1005840"/>
          </a:xfrm>
          <a:prstGeom prst="rect">
            <a:avLst/>
          </a:prstGeom>
          <a:noFill/>
          <a:ln/>
        </p:spPr>
        <p:txBody>
          <a:bodyPr wrap="square" lIns="0" tIns="0" rIns="0" bIns="0" rtlCol="0" anchor="ctr"/>
          <a:lstStyle/>
          <a:p>
            <a:pPr indent="0" marL="0">
              <a:lnSpc>
                <a:spcPct val="120000"/>
              </a:lnSpc>
              <a:buNone/>
            </a:pPr>
            <a:r>
              <a:rPr lang="en-US" sz="1350" b="1" dirty="0">
                <a:solidFill>
                  <a:srgbClr val="132B5E"/>
                </a:solidFill>
                <a:latin typeface="Arial" pitchFamily="34" charset="0"/>
                <a:ea typeface="Arial" pitchFamily="34" charset="-122"/>
                <a:cs typeface="Arial" pitchFamily="34" charset="-120"/>
              </a:rPr>
              <a:t>TRẢ LỜI CÓ BẰNG CHỨNG</a:t>
            </a:r>
            <a:endParaRPr lang="en-US" sz="1350" dirty="0"/>
          </a:p>
          <a:p>
            <a:pPr indent="0" marL="0">
              <a:lnSpc>
                <a:spcPct val="120000"/>
              </a:lnSpc>
              <a:buNone/>
            </a:pPr>
            <a:r>
              <a:rPr lang="en-US" sz="1350" dirty="0">
                <a:solidFill>
                  <a:srgbClr val="132B5E"/>
                </a:solidFill>
                <a:latin typeface="Arial" pitchFamily="34" charset="0"/>
                <a:ea typeface="Arial" pitchFamily="34" charset="-122"/>
                <a:cs typeface="Arial" pitchFamily="34" charset="-120"/>
              </a:rPr>
              <a:t>câu trả lời gắn trích dẫn, thiếu bằng chứng thì từ chối</a:t>
            </a:r>
            <a:endParaRPr lang="en-US" sz="1350" dirty="0"/>
          </a:p>
        </p:txBody>
      </p:sp>
      <p:sp>
        <p:nvSpPr>
          <p:cNvPr id="8" name="Shape 6"/>
          <p:cNvSpPr/>
          <p:nvPr/>
        </p:nvSpPr>
        <p:spPr>
          <a:xfrm>
            <a:off x="5943600" y="2267712"/>
            <a:ext cx="5669280" cy="1005840"/>
          </a:xfrm>
          <a:prstGeom prst="parallelogram">
            <a:avLst/>
          </a:prstGeom>
          <a:solidFill>
            <a:srgbClr val="8CC0E4"/>
          </a:solidFill>
          <a:ln w="12700">
            <a:solidFill>
              <a:srgbClr val="8CC0E4"/>
            </a:solidFill>
            <a:prstDash val="solid"/>
          </a:ln>
        </p:spPr>
      </p:sp>
      <p:sp>
        <p:nvSpPr>
          <p:cNvPr id="9" name="Text 7"/>
          <p:cNvSpPr txBox="1"/>
          <p:nvPr/>
        </p:nvSpPr>
        <p:spPr>
          <a:xfrm>
            <a:off x="6400800" y="2267712"/>
            <a:ext cx="4754880" cy="1005840"/>
          </a:xfrm>
          <a:prstGeom prst="rect">
            <a:avLst/>
          </a:prstGeom>
          <a:noFill/>
          <a:ln/>
        </p:spPr>
        <p:txBody>
          <a:bodyPr wrap="square" lIns="0" tIns="0" rIns="0" bIns="0" rtlCol="0" anchor="ctr"/>
          <a:lstStyle/>
          <a:p>
            <a:pPr indent="0" marL="0">
              <a:lnSpc>
                <a:spcPct val="120000"/>
              </a:lnSpc>
              <a:buNone/>
            </a:pPr>
            <a:r>
              <a:rPr lang="en-US" sz="1350" b="1" dirty="0">
                <a:solidFill>
                  <a:srgbClr val="132B5E"/>
                </a:solidFill>
                <a:latin typeface="Arial" pitchFamily="34" charset="0"/>
                <a:ea typeface="Arial" pitchFamily="34" charset="-122"/>
                <a:cs typeface="Arial" pitchFamily="34" charset="-120"/>
              </a:rPr>
              <a:t>KIỂM CHỨNG CẤP KHẲNG ĐỊNH</a:t>
            </a:r>
            <a:endParaRPr lang="en-US" sz="1350" dirty="0"/>
          </a:p>
          <a:p>
            <a:pPr indent="0" marL="0">
              <a:lnSpc>
                <a:spcPct val="120000"/>
              </a:lnSpc>
              <a:buNone/>
            </a:pPr>
            <a:r>
              <a:rPr lang="en-US" sz="1350" dirty="0">
                <a:solidFill>
                  <a:srgbClr val="132B5E"/>
                </a:solidFill>
                <a:latin typeface="Arial" pitchFamily="34" charset="0"/>
                <a:ea typeface="Arial" pitchFamily="34" charset="-122"/>
                <a:cs typeface="Arial" pitchFamily="34" charset="-120"/>
              </a:rPr>
              <a:t>tách claim, đối chiếu, phát hiện mâu thuẫn, chấm điểm</a:t>
            </a:r>
            <a:endParaRPr lang="en-US" sz="1350" dirty="0"/>
          </a:p>
        </p:txBody>
      </p:sp>
      <p:sp>
        <p:nvSpPr>
          <p:cNvPr id="10" name="Shape 8"/>
          <p:cNvSpPr/>
          <p:nvPr/>
        </p:nvSpPr>
        <p:spPr>
          <a:xfrm>
            <a:off x="5943600" y="3529584"/>
            <a:ext cx="5669280" cy="1005840"/>
          </a:xfrm>
          <a:prstGeom prst="parallelogram">
            <a:avLst/>
          </a:prstGeom>
          <a:solidFill>
            <a:srgbClr val="8CC0E4"/>
          </a:solidFill>
          <a:ln w="12700">
            <a:solidFill>
              <a:srgbClr val="8CC0E4"/>
            </a:solidFill>
            <a:prstDash val="solid"/>
          </a:ln>
        </p:spPr>
      </p:sp>
      <p:sp>
        <p:nvSpPr>
          <p:cNvPr id="11" name="Text 9"/>
          <p:cNvSpPr txBox="1"/>
          <p:nvPr/>
        </p:nvSpPr>
        <p:spPr>
          <a:xfrm>
            <a:off x="6400800" y="3529584"/>
            <a:ext cx="4754880" cy="1005840"/>
          </a:xfrm>
          <a:prstGeom prst="rect">
            <a:avLst/>
          </a:prstGeom>
          <a:noFill/>
          <a:ln/>
        </p:spPr>
        <p:txBody>
          <a:bodyPr wrap="square" lIns="0" tIns="0" rIns="0" bIns="0" rtlCol="0" anchor="ctr"/>
          <a:lstStyle/>
          <a:p>
            <a:pPr indent="0" marL="0">
              <a:lnSpc>
                <a:spcPct val="120000"/>
              </a:lnSpc>
              <a:buNone/>
            </a:pPr>
            <a:r>
              <a:rPr lang="en-US" sz="1350" b="1" dirty="0">
                <a:solidFill>
                  <a:srgbClr val="132B5E"/>
                </a:solidFill>
                <a:latin typeface="Arial" pitchFamily="34" charset="0"/>
                <a:ea typeface="Arial" pitchFamily="34" charset="-122"/>
                <a:cs typeface="Arial" pitchFamily="34" charset="-120"/>
              </a:rPr>
              <a:t>ĐO ĐƯỢC VÀ CHẶN HỒI QUY</a:t>
            </a:r>
            <a:endParaRPr lang="en-US" sz="1350" dirty="0"/>
          </a:p>
          <a:p>
            <a:pPr indent="0" marL="0">
              <a:lnSpc>
                <a:spcPct val="120000"/>
              </a:lnSpc>
              <a:buNone/>
            </a:pPr>
            <a:r>
              <a:rPr lang="en-US" sz="1350" dirty="0">
                <a:solidFill>
                  <a:srgbClr val="132B5E"/>
                </a:solidFill>
                <a:latin typeface="Arial" pitchFamily="34" charset="0"/>
                <a:ea typeface="Arial" pitchFamily="34" charset="-122"/>
                <a:cs typeface="Arial" pitchFamily="34" charset="-120"/>
              </a:rPr>
              <a:t>bộ dữ liệu vàng, mốc chuẩn, cổng chặn trong tích hợp liên tục</a:t>
            </a:r>
            <a:endParaRPr lang="en-US" sz="1350" dirty="0"/>
          </a:p>
        </p:txBody>
      </p:sp>
      <p:sp>
        <p:nvSpPr>
          <p:cNvPr id="12" name="Shape 10"/>
          <p:cNvSpPr/>
          <p:nvPr/>
        </p:nvSpPr>
        <p:spPr>
          <a:xfrm>
            <a:off x="5943600" y="4791456"/>
            <a:ext cx="5669280" cy="1005840"/>
          </a:xfrm>
          <a:prstGeom prst="parallelogram">
            <a:avLst/>
          </a:prstGeom>
          <a:solidFill>
            <a:srgbClr val="8CC0E4"/>
          </a:solidFill>
          <a:ln w="12700">
            <a:solidFill>
              <a:srgbClr val="8CC0E4"/>
            </a:solidFill>
            <a:prstDash val="solid"/>
          </a:ln>
        </p:spPr>
      </p:sp>
      <p:sp>
        <p:nvSpPr>
          <p:cNvPr id="13" name="Text 11"/>
          <p:cNvSpPr txBox="1"/>
          <p:nvPr/>
        </p:nvSpPr>
        <p:spPr>
          <a:xfrm>
            <a:off x="6400800" y="4791456"/>
            <a:ext cx="4754880" cy="1005840"/>
          </a:xfrm>
          <a:prstGeom prst="rect">
            <a:avLst/>
          </a:prstGeom>
          <a:noFill/>
          <a:ln/>
        </p:spPr>
        <p:txBody>
          <a:bodyPr wrap="square" lIns="0" tIns="0" rIns="0" bIns="0" rtlCol="0" anchor="ctr"/>
          <a:lstStyle/>
          <a:p>
            <a:pPr indent="0" marL="0">
              <a:lnSpc>
                <a:spcPct val="120000"/>
              </a:lnSpc>
              <a:buNone/>
            </a:pPr>
            <a:r>
              <a:rPr lang="en-US" sz="1350" b="1" dirty="0">
                <a:solidFill>
                  <a:srgbClr val="132B5E"/>
                </a:solidFill>
                <a:latin typeface="Arial" pitchFamily="34" charset="0"/>
                <a:ea typeface="Arial" pitchFamily="34" charset="-122"/>
                <a:cs typeface="Arial" pitchFamily="34" charset="-120"/>
              </a:rPr>
              <a:t>NỀN TẢNG TÁC TỬ</a:t>
            </a:r>
            <a:endParaRPr lang="en-US" sz="1350" dirty="0"/>
          </a:p>
          <a:p>
            <a:pPr indent="0" marL="0">
              <a:lnSpc>
                <a:spcPct val="120000"/>
              </a:lnSpc>
              <a:buNone/>
            </a:pPr>
            <a:r>
              <a:rPr lang="en-US" sz="1350" dirty="0">
                <a:solidFill>
                  <a:srgbClr val="132B5E"/>
                </a:solidFill>
                <a:latin typeface="Arial" pitchFamily="34" charset="0"/>
                <a:ea typeface="Arial" pitchFamily="34" charset="-122"/>
                <a:cs typeface="Arial" pitchFamily="34" charset="-120"/>
              </a:rPr>
              <a:t>truy hồi chỉ là một công cụ, lõi không biết công cụ từ đâu</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FEFEE"/>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8A8F98"/>
                </a:solidFill>
                <a:latin typeface="Arial" pitchFamily="34" charset="0"/>
                <a:ea typeface="Arial" pitchFamily="34" charset="-122"/>
                <a:cs typeface="Arial" pitchFamily="34" charset="-120"/>
              </a:rPr>
              <a:t>RAG RELIABILITY PLATFORM  ·  Báo cáo đồ án môn học</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8A8F98"/>
                </a:solidFill>
                <a:latin typeface="Arial" pitchFamily="34" charset="0"/>
                <a:ea typeface="Arial" pitchFamily="34" charset="-122"/>
                <a:cs typeface="Arial" pitchFamily="34" charset="-120"/>
              </a:rPr>
              <a:t>05</a:t>
            </a:r>
            <a:endParaRPr lang="en-US" sz="900" dirty="0"/>
          </a:p>
        </p:txBody>
      </p:sp>
      <p:sp>
        <p:nvSpPr>
          <p:cNvPr id="4" name="Text 2"/>
          <p:cNvSpPr txBox="1"/>
          <p:nvPr/>
        </p:nvSpPr>
        <p:spPr>
          <a:xfrm>
            <a:off x="566928" y="384048"/>
            <a:ext cx="10881360" cy="777240"/>
          </a:xfrm>
          <a:prstGeom prst="rect">
            <a:avLst/>
          </a:prstGeom>
          <a:noFill/>
          <a:ln/>
        </p:spPr>
        <p:txBody>
          <a:bodyPr wrap="square" lIns="0" tIns="0" rIns="0" bIns="0" rtlCol="0" anchor="t"/>
          <a:lstStyle/>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CÔNG NGHỆ VÀ QUY MÔ HỆ THỐNG</a:t>
            </a:r>
            <a:endParaRPr lang="en-US" sz="3200" dirty="0"/>
          </a:p>
        </p:txBody>
      </p:sp>
      <p:sp>
        <p:nvSpPr>
          <p:cNvPr id="5" name="Shape 3"/>
          <p:cNvSpPr/>
          <p:nvPr/>
        </p:nvSpPr>
        <p:spPr>
          <a:xfrm>
            <a:off x="566928" y="1371600"/>
            <a:ext cx="5486400" cy="841248"/>
          </a:xfrm>
          <a:prstGeom prst="parallelogram">
            <a:avLst/>
          </a:prstGeom>
          <a:solidFill>
            <a:srgbClr val="8CC0E4"/>
          </a:solidFill>
          <a:ln w="12700">
            <a:solidFill>
              <a:srgbClr val="8CC0E4"/>
            </a:solidFill>
            <a:prstDash val="solid"/>
          </a:ln>
        </p:spPr>
      </p:sp>
      <p:sp>
        <p:nvSpPr>
          <p:cNvPr id="6" name="Text 4"/>
          <p:cNvSpPr txBox="1"/>
          <p:nvPr/>
        </p:nvSpPr>
        <p:spPr>
          <a:xfrm>
            <a:off x="1024128" y="1371600"/>
            <a:ext cx="4572000" cy="841248"/>
          </a:xfrm>
          <a:prstGeom prst="rect">
            <a:avLst/>
          </a:prstGeom>
          <a:noFill/>
          <a:ln/>
        </p:spPr>
        <p:txBody>
          <a:bodyPr wrap="square" lIns="0" tIns="0" rIns="0" bIns="0" rtlCol="0" anchor="ctr"/>
          <a:lstStyle/>
          <a:p>
            <a:pPr indent="0" marL="0">
              <a:lnSpc>
                <a:spcPct val="120000"/>
              </a:lnSpc>
              <a:buNone/>
            </a:pPr>
            <a:r>
              <a:rPr lang="en-US" sz="1350" b="1" dirty="0">
                <a:solidFill>
                  <a:srgbClr val="132B5E"/>
                </a:solidFill>
                <a:latin typeface="Arial" pitchFamily="34" charset="0"/>
                <a:ea typeface="Arial" pitchFamily="34" charset="-122"/>
                <a:cs typeface="Arial" pitchFamily="34" charset="-120"/>
              </a:rPr>
              <a:t>NGÔN NGỮ VÀ KHUNG</a:t>
            </a:r>
            <a:endParaRPr lang="en-US" sz="1350" dirty="0"/>
          </a:p>
          <a:p>
            <a:pPr indent="0" marL="0">
              <a:lnSpc>
                <a:spcPct val="120000"/>
              </a:lnSpc>
              <a:buNone/>
            </a:pPr>
            <a:r>
              <a:rPr lang="en-US" sz="1350" dirty="0">
                <a:solidFill>
                  <a:srgbClr val="132B5E"/>
                </a:solidFill>
                <a:latin typeface="Arial" pitchFamily="34" charset="0"/>
                <a:ea typeface="Arial" pitchFamily="34" charset="-122"/>
                <a:cs typeface="Arial" pitchFamily="34" charset="-120"/>
              </a:rPr>
              <a:t>TypeScript 5.7 · NestJS 11 · Node.js 24</a:t>
            </a:r>
            <a:endParaRPr lang="en-US" sz="1350" dirty="0"/>
          </a:p>
        </p:txBody>
      </p:sp>
      <p:sp>
        <p:nvSpPr>
          <p:cNvPr id="7" name="Shape 5"/>
          <p:cNvSpPr/>
          <p:nvPr/>
        </p:nvSpPr>
        <p:spPr>
          <a:xfrm>
            <a:off x="566928" y="2395728"/>
            <a:ext cx="5486400" cy="841248"/>
          </a:xfrm>
          <a:prstGeom prst="parallelogram">
            <a:avLst/>
          </a:prstGeom>
          <a:solidFill>
            <a:srgbClr val="8CC0E4"/>
          </a:solidFill>
          <a:ln w="12700">
            <a:solidFill>
              <a:srgbClr val="8CC0E4"/>
            </a:solidFill>
            <a:prstDash val="solid"/>
          </a:ln>
        </p:spPr>
      </p:sp>
      <p:sp>
        <p:nvSpPr>
          <p:cNvPr id="8" name="Text 6"/>
          <p:cNvSpPr txBox="1"/>
          <p:nvPr/>
        </p:nvSpPr>
        <p:spPr>
          <a:xfrm>
            <a:off x="1024128" y="2395728"/>
            <a:ext cx="4572000" cy="841248"/>
          </a:xfrm>
          <a:prstGeom prst="rect">
            <a:avLst/>
          </a:prstGeom>
          <a:noFill/>
          <a:ln/>
        </p:spPr>
        <p:txBody>
          <a:bodyPr wrap="square" lIns="0" tIns="0" rIns="0" bIns="0" rtlCol="0" anchor="ctr"/>
          <a:lstStyle/>
          <a:p>
            <a:pPr indent="0" marL="0">
              <a:lnSpc>
                <a:spcPct val="120000"/>
              </a:lnSpc>
              <a:buNone/>
            </a:pPr>
            <a:r>
              <a:rPr lang="en-US" sz="1350" b="1" dirty="0">
                <a:solidFill>
                  <a:srgbClr val="132B5E"/>
                </a:solidFill>
                <a:latin typeface="Arial" pitchFamily="34" charset="0"/>
                <a:ea typeface="Arial" pitchFamily="34" charset="-122"/>
                <a:cs typeface="Arial" pitchFamily="34" charset="-120"/>
              </a:rPr>
              <a:t>LƯU TRỮ</a:t>
            </a:r>
            <a:endParaRPr lang="en-US" sz="1350" dirty="0"/>
          </a:p>
          <a:p>
            <a:pPr indent="0" marL="0">
              <a:lnSpc>
                <a:spcPct val="120000"/>
              </a:lnSpc>
              <a:buNone/>
            </a:pPr>
            <a:r>
              <a:rPr lang="en-US" sz="1350" dirty="0">
                <a:solidFill>
                  <a:srgbClr val="132B5E"/>
                </a:solidFill>
                <a:latin typeface="Arial" pitchFamily="34" charset="0"/>
                <a:ea typeface="Arial" pitchFamily="34" charset="-122"/>
                <a:cs typeface="Arial" pitchFamily="34" charset="-120"/>
              </a:rPr>
              <a:t>PostgreSQL 16 + pgvector · Redis · Neo4j 5</a:t>
            </a:r>
            <a:endParaRPr lang="en-US" sz="1350" dirty="0"/>
          </a:p>
        </p:txBody>
      </p:sp>
      <p:sp>
        <p:nvSpPr>
          <p:cNvPr id="9" name="Shape 7"/>
          <p:cNvSpPr/>
          <p:nvPr/>
        </p:nvSpPr>
        <p:spPr>
          <a:xfrm>
            <a:off x="566928" y="3419856"/>
            <a:ext cx="5486400" cy="841248"/>
          </a:xfrm>
          <a:prstGeom prst="parallelogram">
            <a:avLst/>
          </a:prstGeom>
          <a:solidFill>
            <a:srgbClr val="8CC0E4"/>
          </a:solidFill>
          <a:ln w="12700">
            <a:solidFill>
              <a:srgbClr val="8CC0E4"/>
            </a:solidFill>
            <a:prstDash val="solid"/>
          </a:ln>
        </p:spPr>
      </p:sp>
      <p:sp>
        <p:nvSpPr>
          <p:cNvPr id="10" name="Text 8"/>
          <p:cNvSpPr txBox="1"/>
          <p:nvPr/>
        </p:nvSpPr>
        <p:spPr>
          <a:xfrm>
            <a:off x="1024128" y="3419856"/>
            <a:ext cx="4572000" cy="841248"/>
          </a:xfrm>
          <a:prstGeom prst="rect">
            <a:avLst/>
          </a:prstGeom>
          <a:noFill/>
          <a:ln/>
        </p:spPr>
        <p:txBody>
          <a:bodyPr wrap="square" lIns="0" tIns="0" rIns="0" bIns="0" rtlCol="0" anchor="ctr"/>
          <a:lstStyle/>
          <a:p>
            <a:pPr indent="0" marL="0">
              <a:lnSpc>
                <a:spcPct val="120000"/>
              </a:lnSpc>
              <a:buNone/>
            </a:pPr>
            <a:r>
              <a:rPr lang="en-US" sz="1350" b="1" dirty="0">
                <a:solidFill>
                  <a:srgbClr val="132B5E"/>
                </a:solidFill>
                <a:latin typeface="Arial" pitchFamily="34" charset="0"/>
                <a:ea typeface="Arial" pitchFamily="34" charset="-122"/>
                <a:cs typeface="Arial" pitchFamily="34" charset="-120"/>
              </a:rPr>
              <a:t>MÔ HÌNH</a:t>
            </a:r>
            <a:endParaRPr lang="en-US" sz="1350" dirty="0"/>
          </a:p>
          <a:p>
            <a:pPr indent="0" marL="0">
              <a:lnSpc>
                <a:spcPct val="120000"/>
              </a:lnSpc>
              <a:buNone/>
            </a:pPr>
            <a:r>
              <a:rPr lang="en-US" sz="1350" dirty="0">
                <a:solidFill>
                  <a:srgbClr val="132B5E"/>
                </a:solidFill>
                <a:latin typeface="Arial" pitchFamily="34" charset="0"/>
                <a:ea typeface="Arial" pitchFamily="34" charset="-122"/>
                <a:cs typeface="Arial" pitchFamily="34" charset="-120"/>
              </a:rPr>
              <a:t>Qwen3 8B · Qwen2.5 7B · Embedding và Reranker 0.6B</a:t>
            </a:r>
            <a:endParaRPr lang="en-US" sz="1350" dirty="0"/>
          </a:p>
        </p:txBody>
      </p:sp>
      <p:sp>
        <p:nvSpPr>
          <p:cNvPr id="11" name="Shape 9"/>
          <p:cNvSpPr/>
          <p:nvPr/>
        </p:nvSpPr>
        <p:spPr>
          <a:xfrm>
            <a:off x="566928" y="4443984"/>
            <a:ext cx="5486400" cy="841248"/>
          </a:xfrm>
          <a:prstGeom prst="parallelogram">
            <a:avLst/>
          </a:prstGeom>
          <a:solidFill>
            <a:srgbClr val="8CC0E4"/>
          </a:solidFill>
          <a:ln w="12700">
            <a:solidFill>
              <a:srgbClr val="8CC0E4"/>
            </a:solidFill>
            <a:prstDash val="solid"/>
          </a:ln>
        </p:spPr>
      </p:sp>
      <p:sp>
        <p:nvSpPr>
          <p:cNvPr id="12" name="Text 10"/>
          <p:cNvSpPr txBox="1"/>
          <p:nvPr/>
        </p:nvSpPr>
        <p:spPr>
          <a:xfrm>
            <a:off x="1024128" y="4443984"/>
            <a:ext cx="4572000" cy="841248"/>
          </a:xfrm>
          <a:prstGeom prst="rect">
            <a:avLst/>
          </a:prstGeom>
          <a:noFill/>
          <a:ln/>
        </p:spPr>
        <p:txBody>
          <a:bodyPr wrap="square" lIns="0" tIns="0" rIns="0" bIns="0" rtlCol="0" anchor="ctr"/>
          <a:lstStyle/>
          <a:p>
            <a:pPr indent="0" marL="0">
              <a:lnSpc>
                <a:spcPct val="120000"/>
              </a:lnSpc>
              <a:buNone/>
            </a:pPr>
            <a:r>
              <a:rPr lang="en-US" sz="1350" b="1" dirty="0">
                <a:solidFill>
                  <a:srgbClr val="132B5E"/>
                </a:solidFill>
                <a:latin typeface="Arial" pitchFamily="34" charset="0"/>
                <a:ea typeface="Arial" pitchFamily="34" charset="-122"/>
                <a:cs typeface="Arial" pitchFamily="34" charset="-120"/>
              </a:rPr>
              <a:t>ĐIỀU PHỐI TÁC TỬ</a:t>
            </a:r>
            <a:endParaRPr lang="en-US" sz="1350" dirty="0"/>
          </a:p>
          <a:p>
            <a:pPr indent="0" marL="0">
              <a:lnSpc>
                <a:spcPct val="120000"/>
              </a:lnSpc>
              <a:buNone/>
            </a:pPr>
            <a:r>
              <a:rPr lang="en-US" sz="1350" dirty="0">
                <a:solidFill>
                  <a:srgbClr val="132B5E"/>
                </a:solidFill>
                <a:latin typeface="Arial" pitchFamily="34" charset="0"/>
                <a:ea typeface="Arial" pitchFamily="34" charset="-122"/>
                <a:cs typeface="Arial" pitchFamily="34" charset="-120"/>
              </a:rPr>
              <a:t>LangGraph · giao thức MCP · Zod</a:t>
            </a:r>
            <a:endParaRPr lang="en-US" sz="1350" dirty="0"/>
          </a:p>
        </p:txBody>
      </p:sp>
      <p:sp>
        <p:nvSpPr>
          <p:cNvPr id="13" name="Shape 11"/>
          <p:cNvSpPr/>
          <p:nvPr/>
        </p:nvSpPr>
        <p:spPr>
          <a:xfrm>
            <a:off x="6492240" y="1371600"/>
            <a:ext cx="5120640" cy="3913632"/>
          </a:xfrm>
          <a:prstGeom prst="rect">
            <a:avLst/>
          </a:prstGeom>
          <a:solidFill>
            <a:srgbClr val="132B5E"/>
          </a:solidFill>
          <a:ln/>
        </p:spPr>
      </p:sp>
      <p:sp>
        <p:nvSpPr>
          <p:cNvPr id="14" name="Text 12"/>
          <p:cNvSpPr txBox="1"/>
          <p:nvPr/>
        </p:nvSpPr>
        <p:spPr>
          <a:xfrm>
            <a:off x="6858000" y="1920240"/>
            <a:ext cx="2286000" cy="566928"/>
          </a:xfrm>
          <a:prstGeom prst="rect">
            <a:avLst/>
          </a:prstGeom>
          <a:noFill/>
          <a:ln/>
        </p:spPr>
        <p:txBody>
          <a:bodyPr wrap="square" lIns="0" tIns="0" rIns="0" bIns="0" rtlCol="0" anchor="ctr"/>
          <a:lstStyle/>
          <a:p>
            <a:pPr indent="0" marL="0">
              <a:buNone/>
            </a:pPr>
            <a:r>
              <a:rPr lang="en-US" sz="3000" b="1" dirty="0">
                <a:solidFill>
                  <a:srgbClr val="8CC0E4"/>
                </a:solidFill>
                <a:latin typeface="Arial" pitchFamily="34" charset="0"/>
                <a:ea typeface="Arial" pitchFamily="34" charset="-122"/>
                <a:cs typeface="Arial" pitchFamily="34" charset="-120"/>
              </a:rPr>
              <a:t>24 700</a:t>
            </a:r>
            <a:endParaRPr lang="en-US" sz="3000" dirty="0"/>
          </a:p>
        </p:txBody>
      </p:sp>
      <p:sp>
        <p:nvSpPr>
          <p:cNvPr id="15" name="Text 13"/>
          <p:cNvSpPr txBox="1"/>
          <p:nvPr/>
        </p:nvSpPr>
        <p:spPr>
          <a:xfrm>
            <a:off x="6858000" y="2468880"/>
            <a:ext cx="2286000" cy="384048"/>
          </a:xfrm>
          <a:prstGeom prst="rect">
            <a:avLst/>
          </a:prstGeom>
          <a:noFill/>
          <a:ln/>
        </p:spPr>
        <p:txBody>
          <a:bodyPr wrap="square" lIns="0" tIns="0" rIns="0" bIns="0" rtlCol="0" anchor="t"/>
          <a:lstStyle/>
          <a:p>
            <a:pPr indent="0" marL="0">
              <a:lnSpc>
                <a:spcPct val="110000"/>
              </a:lnSpc>
              <a:buNone/>
            </a:pPr>
            <a:r>
              <a:rPr lang="en-US" sz="1150" dirty="0">
                <a:solidFill>
                  <a:srgbClr val="FFFFFF"/>
                </a:solidFill>
                <a:latin typeface="Arial" pitchFamily="34" charset="0"/>
                <a:ea typeface="Arial" pitchFamily="34" charset="-122"/>
                <a:cs typeface="Arial" pitchFamily="34" charset="-120"/>
              </a:rPr>
              <a:t>dòng mã nghiệp vụ</a:t>
            </a:r>
            <a:endParaRPr lang="en-US" sz="1150" dirty="0"/>
          </a:p>
          <a:p>
            <a:pPr indent="0" marL="0">
              <a:lnSpc>
                <a:spcPct val="110000"/>
              </a:lnSpc>
              <a:buNone/>
            </a:pPr>
            <a:r>
              <a:rPr lang="en-US" sz="1150" dirty="0">
                <a:solidFill>
                  <a:srgbClr val="FFFFFF"/>
                </a:solidFill>
                <a:latin typeface="Arial" pitchFamily="34" charset="0"/>
                <a:ea typeface="Arial" pitchFamily="34" charset="-122"/>
                <a:cs typeface="Arial" pitchFamily="34" charset="-120"/>
              </a:rPr>
              <a:t>trên 204 tệp</a:t>
            </a:r>
            <a:endParaRPr lang="en-US" sz="1150" dirty="0"/>
          </a:p>
        </p:txBody>
      </p:sp>
      <p:sp>
        <p:nvSpPr>
          <p:cNvPr id="16" name="Text 14"/>
          <p:cNvSpPr txBox="1"/>
          <p:nvPr/>
        </p:nvSpPr>
        <p:spPr>
          <a:xfrm>
            <a:off x="9326880" y="1920240"/>
            <a:ext cx="2286000" cy="566928"/>
          </a:xfrm>
          <a:prstGeom prst="rect">
            <a:avLst/>
          </a:prstGeom>
          <a:noFill/>
          <a:ln/>
        </p:spPr>
        <p:txBody>
          <a:bodyPr wrap="square" lIns="0" tIns="0" rIns="0" bIns="0" rtlCol="0" anchor="ctr"/>
          <a:lstStyle/>
          <a:p>
            <a:pPr indent="0" marL="0">
              <a:buNone/>
            </a:pPr>
            <a:r>
              <a:rPr lang="en-US" sz="3000" b="1" dirty="0">
                <a:solidFill>
                  <a:srgbClr val="8CC0E4"/>
                </a:solidFill>
                <a:latin typeface="Arial" pitchFamily="34" charset="0"/>
                <a:ea typeface="Arial" pitchFamily="34" charset="-122"/>
                <a:cs typeface="Arial" pitchFamily="34" charset="-120"/>
              </a:rPr>
              <a:t>39</a:t>
            </a:r>
            <a:endParaRPr lang="en-US" sz="3000" dirty="0"/>
          </a:p>
        </p:txBody>
      </p:sp>
      <p:sp>
        <p:nvSpPr>
          <p:cNvPr id="17" name="Text 15"/>
          <p:cNvSpPr txBox="1"/>
          <p:nvPr/>
        </p:nvSpPr>
        <p:spPr>
          <a:xfrm>
            <a:off x="9326880" y="2468880"/>
            <a:ext cx="2286000" cy="384048"/>
          </a:xfrm>
          <a:prstGeom prst="rect">
            <a:avLst/>
          </a:prstGeom>
          <a:noFill/>
          <a:ln/>
        </p:spPr>
        <p:txBody>
          <a:bodyPr wrap="square" lIns="0" tIns="0" rIns="0" bIns="0" rtlCol="0" anchor="t"/>
          <a:lstStyle/>
          <a:p>
            <a:pPr indent="0" marL="0">
              <a:lnSpc>
                <a:spcPct val="110000"/>
              </a:lnSpc>
              <a:buNone/>
            </a:pPr>
            <a:r>
              <a:rPr lang="en-US" sz="1150" dirty="0">
                <a:solidFill>
                  <a:srgbClr val="FFFFFF"/>
                </a:solidFill>
                <a:latin typeface="Arial" pitchFamily="34" charset="0"/>
                <a:ea typeface="Arial" pitchFamily="34" charset="-122"/>
                <a:cs typeface="Arial" pitchFamily="34" charset="-120"/>
              </a:rPr>
              <a:t>điểm cuối</a:t>
            </a:r>
            <a:endParaRPr lang="en-US" sz="1150" dirty="0"/>
          </a:p>
          <a:p>
            <a:pPr indent="0" marL="0">
              <a:lnSpc>
                <a:spcPct val="110000"/>
              </a:lnSpc>
              <a:buNone/>
            </a:pPr>
            <a:r>
              <a:rPr lang="en-US" sz="1150" dirty="0">
                <a:solidFill>
                  <a:srgbClr val="FFFFFF"/>
                </a:solidFill>
                <a:latin typeface="Arial" pitchFamily="34" charset="0"/>
                <a:ea typeface="Arial" pitchFamily="34" charset="-122"/>
                <a:cs typeface="Arial" pitchFamily="34" charset="-120"/>
              </a:rPr>
              <a:t>giao diện lập trình</a:t>
            </a:r>
            <a:endParaRPr lang="en-US" sz="1150" dirty="0"/>
          </a:p>
        </p:txBody>
      </p:sp>
      <p:sp>
        <p:nvSpPr>
          <p:cNvPr id="18" name="Text 16"/>
          <p:cNvSpPr txBox="1"/>
          <p:nvPr/>
        </p:nvSpPr>
        <p:spPr>
          <a:xfrm>
            <a:off x="6858000" y="3611880"/>
            <a:ext cx="2286000" cy="566928"/>
          </a:xfrm>
          <a:prstGeom prst="rect">
            <a:avLst/>
          </a:prstGeom>
          <a:noFill/>
          <a:ln/>
        </p:spPr>
        <p:txBody>
          <a:bodyPr wrap="square" lIns="0" tIns="0" rIns="0" bIns="0" rtlCol="0" anchor="ctr"/>
          <a:lstStyle/>
          <a:p>
            <a:pPr indent="0" marL="0">
              <a:buNone/>
            </a:pPr>
            <a:r>
              <a:rPr lang="en-US" sz="3000" b="1" dirty="0">
                <a:solidFill>
                  <a:srgbClr val="8CC0E4"/>
                </a:solidFill>
                <a:latin typeface="Arial" pitchFamily="34" charset="0"/>
                <a:ea typeface="Arial" pitchFamily="34" charset="-122"/>
                <a:cs typeface="Arial" pitchFamily="34" charset="-120"/>
              </a:rPr>
              <a:t>706</a:t>
            </a:r>
            <a:endParaRPr lang="en-US" sz="3000" dirty="0"/>
          </a:p>
        </p:txBody>
      </p:sp>
      <p:sp>
        <p:nvSpPr>
          <p:cNvPr id="19" name="Text 17"/>
          <p:cNvSpPr txBox="1"/>
          <p:nvPr/>
        </p:nvSpPr>
        <p:spPr>
          <a:xfrm>
            <a:off x="6858000" y="4160520"/>
            <a:ext cx="2286000" cy="384048"/>
          </a:xfrm>
          <a:prstGeom prst="rect">
            <a:avLst/>
          </a:prstGeom>
          <a:noFill/>
          <a:ln/>
        </p:spPr>
        <p:txBody>
          <a:bodyPr wrap="square" lIns="0" tIns="0" rIns="0" bIns="0" rtlCol="0" anchor="t"/>
          <a:lstStyle/>
          <a:p>
            <a:pPr indent="0" marL="0">
              <a:lnSpc>
                <a:spcPct val="110000"/>
              </a:lnSpc>
              <a:buNone/>
            </a:pPr>
            <a:r>
              <a:rPr lang="en-US" sz="1150" dirty="0">
                <a:solidFill>
                  <a:srgbClr val="FFFFFF"/>
                </a:solidFill>
                <a:latin typeface="Arial" pitchFamily="34" charset="0"/>
                <a:ea typeface="Arial" pitchFamily="34" charset="-122"/>
                <a:cs typeface="Arial" pitchFamily="34" charset="-120"/>
              </a:rPr>
              <a:t>kiểm thử đơn vị</a:t>
            </a:r>
            <a:endParaRPr lang="en-US" sz="1150" dirty="0"/>
          </a:p>
          <a:p>
            <a:pPr indent="0" marL="0">
              <a:lnSpc>
                <a:spcPct val="110000"/>
              </a:lnSpc>
              <a:buNone/>
            </a:pPr>
            <a:r>
              <a:rPr lang="en-US" sz="1150" dirty="0">
                <a:solidFill>
                  <a:srgbClr val="FFFFFF"/>
                </a:solidFill>
                <a:latin typeface="Arial" pitchFamily="34" charset="0"/>
                <a:ea typeface="Arial" pitchFamily="34" charset="-122"/>
                <a:cs typeface="Arial" pitchFamily="34" charset="-120"/>
              </a:rPr>
              <a:t>đều đạt</a:t>
            </a:r>
            <a:endParaRPr lang="en-US" sz="1150" dirty="0"/>
          </a:p>
        </p:txBody>
      </p:sp>
      <p:sp>
        <p:nvSpPr>
          <p:cNvPr id="20" name="Text 18"/>
          <p:cNvSpPr txBox="1"/>
          <p:nvPr/>
        </p:nvSpPr>
        <p:spPr>
          <a:xfrm>
            <a:off x="9326880" y="3611880"/>
            <a:ext cx="2286000" cy="566928"/>
          </a:xfrm>
          <a:prstGeom prst="rect">
            <a:avLst/>
          </a:prstGeom>
          <a:noFill/>
          <a:ln/>
        </p:spPr>
        <p:txBody>
          <a:bodyPr wrap="square" lIns="0" tIns="0" rIns="0" bIns="0" rtlCol="0" anchor="ctr"/>
          <a:lstStyle/>
          <a:p>
            <a:pPr indent="0" marL="0">
              <a:buNone/>
            </a:pPr>
            <a:r>
              <a:rPr lang="en-US" sz="3000" b="1" dirty="0">
                <a:solidFill>
                  <a:srgbClr val="8CC0E4"/>
                </a:solidFill>
                <a:latin typeface="Arial" pitchFamily="34" charset="0"/>
                <a:ea typeface="Arial" pitchFamily="34" charset="-122"/>
                <a:cs typeface="Arial" pitchFamily="34" charset="-120"/>
              </a:rPr>
              <a:t>210</a:t>
            </a:r>
            <a:endParaRPr lang="en-US" sz="3000" dirty="0"/>
          </a:p>
        </p:txBody>
      </p:sp>
      <p:sp>
        <p:nvSpPr>
          <p:cNvPr id="21" name="Text 19"/>
          <p:cNvSpPr txBox="1"/>
          <p:nvPr/>
        </p:nvSpPr>
        <p:spPr>
          <a:xfrm>
            <a:off x="9326880" y="4160520"/>
            <a:ext cx="2286000" cy="384048"/>
          </a:xfrm>
          <a:prstGeom prst="rect">
            <a:avLst/>
          </a:prstGeom>
          <a:noFill/>
          <a:ln/>
        </p:spPr>
        <p:txBody>
          <a:bodyPr wrap="square" lIns="0" tIns="0" rIns="0" bIns="0" rtlCol="0" anchor="t"/>
          <a:lstStyle/>
          <a:p>
            <a:pPr indent="0" marL="0">
              <a:lnSpc>
                <a:spcPct val="110000"/>
              </a:lnSpc>
              <a:buNone/>
            </a:pPr>
            <a:r>
              <a:rPr lang="en-US" sz="1150" dirty="0">
                <a:solidFill>
                  <a:srgbClr val="FFFFFF"/>
                </a:solidFill>
                <a:latin typeface="Arial" pitchFamily="34" charset="0"/>
                <a:ea typeface="Arial" pitchFamily="34" charset="-122"/>
                <a:cs typeface="Arial" pitchFamily="34" charset="-120"/>
              </a:rPr>
              <a:t>case đánh giá</a:t>
            </a:r>
            <a:endParaRPr lang="en-US" sz="1150" dirty="0"/>
          </a:p>
          <a:p>
            <a:pPr indent="0" marL="0">
              <a:lnSpc>
                <a:spcPct val="110000"/>
              </a:lnSpc>
              <a:buNone/>
            </a:pPr>
            <a:r>
              <a:rPr lang="en-US" sz="1150" dirty="0">
                <a:solidFill>
                  <a:srgbClr val="FFFFFF"/>
                </a:solidFill>
                <a:latin typeface="Arial" pitchFamily="34" charset="0"/>
                <a:ea typeface="Arial" pitchFamily="34" charset="-122"/>
                <a:cs typeface="Arial" pitchFamily="34" charset="-120"/>
              </a:rPr>
              <a:t>trên 13 nhóm</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2148"/>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3A5290"/>
                </a:solidFill>
                <a:latin typeface="Arial" pitchFamily="34" charset="0"/>
                <a:ea typeface="Arial" pitchFamily="34" charset="-122"/>
                <a:cs typeface="Arial" pitchFamily="34" charset="-120"/>
              </a:rPr>
              <a:t>RAG RELIABILITY PLATFORM  ·  Báo cáo đồ án môn học</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3A5290"/>
                </a:solidFill>
                <a:latin typeface="Arial" pitchFamily="34" charset="0"/>
                <a:ea typeface="Arial" pitchFamily="34" charset="-122"/>
                <a:cs typeface="Arial" pitchFamily="34" charset="-120"/>
              </a:rPr>
              <a:t>06</a:t>
            </a:r>
            <a:endParaRPr lang="en-US" sz="900" dirty="0"/>
          </a:p>
        </p:txBody>
      </p:sp>
      <p:sp>
        <p:nvSpPr>
          <p:cNvPr id="4" name="Text 2"/>
          <p:cNvSpPr txBox="1"/>
          <p:nvPr/>
        </p:nvSpPr>
        <p:spPr>
          <a:xfrm>
            <a:off x="512064" y="1371600"/>
            <a:ext cx="3657600" cy="1920240"/>
          </a:xfrm>
          <a:prstGeom prst="rect">
            <a:avLst/>
          </a:prstGeom>
          <a:noFill/>
          <a:ln/>
        </p:spPr>
        <p:txBody>
          <a:bodyPr wrap="square" lIns="0" tIns="0" rIns="0" bIns="0" rtlCol="0" anchor="ctr"/>
          <a:lstStyle/>
          <a:p>
            <a:pPr indent="0" marL="0">
              <a:buNone/>
            </a:pPr>
            <a:r>
              <a:rPr lang="en-US" sz="12000" b="1" dirty="0">
                <a:solidFill>
                  <a:srgbClr val="3A5290"/>
                </a:solidFill>
                <a:latin typeface="Arial" pitchFamily="34" charset="0"/>
                <a:ea typeface="Arial" pitchFamily="34" charset="-122"/>
                <a:cs typeface="Arial" pitchFamily="34" charset="-120"/>
              </a:rPr>
              <a:t>01</a:t>
            </a:r>
            <a:endParaRPr lang="en-US" sz="12000" dirty="0"/>
          </a:p>
        </p:txBody>
      </p:sp>
      <p:sp>
        <p:nvSpPr>
          <p:cNvPr id="5" name="Shape 3"/>
          <p:cNvSpPr/>
          <p:nvPr/>
        </p:nvSpPr>
        <p:spPr>
          <a:xfrm>
            <a:off x="566928" y="3657600"/>
            <a:ext cx="1463040" cy="82296"/>
          </a:xfrm>
          <a:prstGeom prst="rect">
            <a:avLst/>
          </a:prstGeom>
          <a:solidFill>
            <a:srgbClr val="8CC0E4"/>
          </a:solidFill>
          <a:ln/>
        </p:spPr>
      </p:sp>
      <p:sp>
        <p:nvSpPr>
          <p:cNvPr id="6" name="Text 4"/>
          <p:cNvSpPr txBox="1"/>
          <p:nvPr/>
        </p:nvSpPr>
        <p:spPr>
          <a:xfrm>
            <a:off x="566928" y="3977640"/>
            <a:ext cx="10058400" cy="73152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KIẾN TRÚC HỆ THỐNG</a:t>
            </a:r>
            <a:endParaRPr lang="en-US" sz="3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FEFEE"/>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8A8F98"/>
                </a:solidFill>
                <a:latin typeface="Arial" pitchFamily="34" charset="0"/>
                <a:ea typeface="Arial" pitchFamily="34" charset="-122"/>
                <a:cs typeface="Arial" pitchFamily="34" charset="-120"/>
              </a:rPr>
              <a:t>RAG RELIABILITY PLATFORM  ·  Báo cáo đồ án môn học</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8A8F98"/>
                </a:solidFill>
                <a:latin typeface="Arial" pitchFamily="34" charset="0"/>
                <a:ea typeface="Arial" pitchFamily="34" charset="-122"/>
                <a:cs typeface="Arial" pitchFamily="34" charset="-120"/>
              </a:rPr>
              <a:t>07</a:t>
            </a:r>
            <a:endParaRPr lang="en-US" sz="900" dirty="0"/>
          </a:p>
        </p:txBody>
      </p:sp>
      <p:sp>
        <p:nvSpPr>
          <p:cNvPr id="4" name="Text 2"/>
          <p:cNvSpPr txBox="1"/>
          <p:nvPr/>
        </p:nvSpPr>
        <p:spPr>
          <a:xfrm>
            <a:off x="566928" y="384048"/>
            <a:ext cx="10881360" cy="777240"/>
          </a:xfrm>
          <a:prstGeom prst="rect">
            <a:avLst/>
          </a:prstGeom>
          <a:noFill/>
          <a:ln/>
        </p:spPr>
        <p:txBody>
          <a:bodyPr wrap="square" lIns="0" tIns="0" rIns="0" bIns="0" rtlCol="0" anchor="t"/>
          <a:lstStyle/>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KIẾN TRÚC PHÂN TẦNG</a:t>
            </a:r>
            <a:endParaRPr lang="en-US" sz="3200" dirty="0"/>
          </a:p>
        </p:txBody>
      </p:sp>
      <p:sp>
        <p:nvSpPr>
          <p:cNvPr id="5" name="Text 3"/>
          <p:cNvSpPr txBox="1"/>
          <p:nvPr/>
        </p:nvSpPr>
        <p:spPr>
          <a:xfrm>
            <a:off x="566928" y="1234440"/>
            <a:ext cx="10881360" cy="640080"/>
          </a:xfrm>
          <a:prstGeom prst="rect">
            <a:avLst/>
          </a:prstGeom>
          <a:noFill/>
          <a:ln/>
        </p:spPr>
        <p:txBody>
          <a:bodyPr wrap="square" lIns="0" tIns="0" rIns="0" bIns="0" rtlCol="0" anchor="t"/>
          <a:lstStyle/>
          <a:p>
            <a:pPr indent="0" marL="0">
              <a:lnSpc>
                <a:spcPct val="128000"/>
              </a:lnSpc>
              <a:buNone/>
            </a:pPr>
            <a:r>
              <a:rPr lang="en-US" sz="1450" dirty="0">
                <a:solidFill>
                  <a:srgbClr val="1F3A6E"/>
                </a:solidFill>
                <a:latin typeface="Arial" pitchFamily="34" charset="0"/>
                <a:ea typeface="Arial" pitchFamily="34" charset="-122"/>
                <a:cs typeface="Arial" pitchFamily="34" charset="-120"/>
              </a:rPr>
              <a:t>Năm tầng, chiều phụ thuộc luôn đi từ trên xuống. Tầng nghiệp vụ không bao giờ tham chiếu trực tiếp tới thư viện của một nhà cung cấp cụ thể.</a:t>
            </a:r>
            <a:endParaRPr lang="en-US" sz="1450" dirty="0"/>
          </a:p>
        </p:txBody>
      </p:sp>
      <p:sp>
        <p:nvSpPr>
          <p:cNvPr id="6" name="Shape 4"/>
          <p:cNvSpPr/>
          <p:nvPr/>
        </p:nvSpPr>
        <p:spPr>
          <a:xfrm>
            <a:off x="3084035" y="2057400"/>
            <a:ext cx="6212906" cy="3977640"/>
          </a:xfrm>
          <a:prstGeom prst="rect">
            <a:avLst/>
          </a:prstGeom>
          <a:solidFill>
            <a:srgbClr val="132B5E"/>
          </a:solidFill>
          <a:ln/>
        </p:spPr>
      </p:sp>
      <p:sp>
        <p:nvSpPr>
          <p:cNvPr id="7" name="Shape 5"/>
          <p:cNvSpPr/>
          <p:nvPr/>
        </p:nvSpPr>
        <p:spPr>
          <a:xfrm>
            <a:off x="2992595" y="1965960"/>
            <a:ext cx="6212906" cy="3977640"/>
          </a:xfrm>
          <a:prstGeom prst="rect">
            <a:avLst/>
          </a:prstGeom>
          <a:solidFill>
            <a:srgbClr val="FFFFFF"/>
          </a:solidFill>
          <a:ln w="12700">
            <a:solidFill>
              <a:srgbClr val="FFFFFF"/>
            </a:solidFill>
            <a:prstDash val="solid"/>
          </a:ln>
        </p:spPr>
      </p:sp>
      <p:pic>
        <p:nvPicPr>
          <p:cNvPr id="8" name="Image 0" descr="/private/tmp/claude-501/-Volumes-Data-Documents-rag-reliability/6db8fc1f-3028-4f02-8952-927e30b47723/scratchpad/report/img/d01-architecture.png">    </p:cNvPr>
          <p:cNvPicPr>
            <a:picLocks noChangeAspect="1"/>
          </p:cNvPicPr>
          <p:nvPr/>
        </p:nvPicPr>
        <p:blipFill>
          <a:blip r:embed="rId1"/>
          <a:stretch>
            <a:fillRect/>
          </a:stretch>
        </p:blipFill>
        <p:spPr>
          <a:xfrm>
            <a:off x="3056603" y="2029968"/>
            <a:ext cx="6084890" cy="384962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FEFEE"/>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8A8F98"/>
                </a:solidFill>
                <a:latin typeface="Arial" pitchFamily="34" charset="0"/>
                <a:ea typeface="Arial" pitchFamily="34" charset="-122"/>
                <a:cs typeface="Arial" pitchFamily="34" charset="-120"/>
              </a:rPr>
              <a:t>RAG RELIABILITY PLATFORM  ·  Báo cáo đồ án môn học</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8A8F98"/>
                </a:solidFill>
                <a:latin typeface="Arial" pitchFamily="34" charset="0"/>
                <a:ea typeface="Arial" pitchFamily="34" charset="-122"/>
                <a:cs typeface="Arial" pitchFamily="34" charset="-120"/>
              </a:rPr>
              <a:t>08</a:t>
            </a:r>
            <a:endParaRPr lang="en-US" sz="900" dirty="0"/>
          </a:p>
        </p:txBody>
      </p:sp>
      <p:sp>
        <p:nvSpPr>
          <p:cNvPr id="4" name="Text 2"/>
          <p:cNvSpPr txBox="1"/>
          <p:nvPr/>
        </p:nvSpPr>
        <p:spPr>
          <a:xfrm>
            <a:off x="566928" y="384048"/>
            <a:ext cx="5303520" cy="1234440"/>
          </a:xfrm>
          <a:prstGeom prst="rect">
            <a:avLst/>
          </a:prstGeom>
          <a:noFill/>
          <a:ln/>
        </p:spPr>
        <p:txBody>
          <a:bodyPr wrap="square" lIns="0" tIns="0" rIns="0" bIns="0" rtlCol="0" anchor="t"/>
          <a:lstStyle/>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NGUYÊN TẮC</a:t>
            </a:r>
            <a:endParaRPr lang="en-US" sz="3200" dirty="0"/>
          </a:p>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THIẾT KẾ</a:t>
            </a:r>
            <a:endParaRPr lang="en-US" sz="3200" dirty="0"/>
          </a:p>
        </p:txBody>
      </p:sp>
      <p:sp>
        <p:nvSpPr>
          <p:cNvPr id="5" name="Text 3"/>
          <p:cNvSpPr txBox="1"/>
          <p:nvPr/>
        </p:nvSpPr>
        <p:spPr>
          <a:xfrm>
            <a:off x="566928" y="1965960"/>
            <a:ext cx="4754880" cy="1097280"/>
          </a:xfrm>
          <a:prstGeom prst="rect">
            <a:avLst/>
          </a:prstGeom>
          <a:noFill/>
          <a:ln/>
        </p:spPr>
        <p:txBody>
          <a:bodyPr wrap="square" lIns="0" tIns="0" rIns="0" bIns="0" rtlCol="0" anchor="t"/>
          <a:lstStyle/>
          <a:p>
            <a:pPr indent="0" marL="0">
              <a:lnSpc>
                <a:spcPct val="128000"/>
              </a:lnSpc>
              <a:buNone/>
            </a:pPr>
            <a:r>
              <a:rPr lang="en-US" sz="1450" dirty="0">
                <a:solidFill>
                  <a:srgbClr val="1F3A6E"/>
                </a:solidFill>
                <a:latin typeface="Arial" pitchFamily="34" charset="0"/>
                <a:ea typeface="Arial" pitchFamily="34" charset="-122"/>
                <a:cs typeface="Arial" pitchFamily="34" charset="-120"/>
              </a:rPr>
              <a:t>Năm nguyên tắc này giải thích hầu hết quyết định kỹ thuật trong phần còn lại của báo cáo.</a:t>
            </a:r>
            <a:endParaRPr lang="en-US" sz="1450" dirty="0"/>
          </a:p>
        </p:txBody>
      </p:sp>
      <p:sp>
        <p:nvSpPr>
          <p:cNvPr id="6" name="Shape 4"/>
          <p:cNvSpPr/>
          <p:nvPr/>
        </p:nvSpPr>
        <p:spPr>
          <a:xfrm>
            <a:off x="5943600" y="1234440"/>
            <a:ext cx="420624" cy="420624"/>
          </a:xfrm>
          <a:prstGeom prst="rect">
            <a:avLst/>
          </a:prstGeom>
          <a:solidFill>
            <a:srgbClr val="8CC0E4"/>
          </a:solidFill>
          <a:ln/>
        </p:spPr>
      </p:sp>
      <p:sp>
        <p:nvSpPr>
          <p:cNvPr id="7" name="Text 5"/>
          <p:cNvSpPr txBox="1"/>
          <p:nvPr/>
        </p:nvSpPr>
        <p:spPr>
          <a:xfrm>
            <a:off x="5943600" y="1234440"/>
            <a:ext cx="420624" cy="420624"/>
          </a:xfrm>
          <a:prstGeom prst="rect">
            <a:avLst/>
          </a:prstGeom>
          <a:noFill/>
          <a:ln/>
        </p:spPr>
        <p:txBody>
          <a:bodyPr wrap="square" lIns="0" tIns="0" rIns="0" bIns="0" rtlCol="0" anchor="ctr"/>
          <a:lstStyle/>
          <a:p>
            <a:pPr algn="ctr" indent="0" marL="0">
              <a:buNone/>
            </a:pPr>
            <a:r>
              <a:rPr lang="en-US" sz="1500" b="1" dirty="0">
                <a:solidFill>
                  <a:srgbClr val="132B5E"/>
                </a:solidFill>
                <a:latin typeface="Arial" pitchFamily="34" charset="0"/>
                <a:ea typeface="Arial" pitchFamily="34" charset="-122"/>
                <a:cs typeface="Arial" pitchFamily="34" charset="-120"/>
              </a:rPr>
              <a:t>1</a:t>
            </a:r>
            <a:endParaRPr lang="en-US" sz="1500" dirty="0"/>
          </a:p>
        </p:txBody>
      </p:sp>
      <p:sp>
        <p:nvSpPr>
          <p:cNvPr id="8" name="Text 6"/>
          <p:cNvSpPr txBox="1"/>
          <p:nvPr/>
        </p:nvSpPr>
        <p:spPr>
          <a:xfrm>
            <a:off x="6565392" y="1234440"/>
            <a:ext cx="5394960" cy="420624"/>
          </a:xfrm>
          <a:prstGeom prst="rect">
            <a:avLst/>
          </a:prstGeom>
          <a:noFill/>
          <a:ln/>
        </p:spPr>
        <p:txBody>
          <a:bodyPr wrap="square" lIns="0" tIns="0" rIns="0" bIns="0" rtlCol="0" anchor="ctr"/>
          <a:lstStyle/>
          <a:p>
            <a:pPr indent="0" marL="0">
              <a:buNone/>
            </a:pPr>
            <a:r>
              <a:rPr lang="en-US" sz="1350" b="1" dirty="0">
                <a:solidFill>
                  <a:srgbClr val="132B5E"/>
                </a:solidFill>
                <a:latin typeface="Arial" pitchFamily="34" charset="0"/>
                <a:ea typeface="Arial" pitchFamily="34" charset="-122"/>
                <a:cs typeface="Arial" pitchFamily="34" charset="-120"/>
              </a:rPr>
              <a:t>Trừu tượng nhà cung cấp</a:t>
            </a:r>
            <a:pPr indent="0" marL="0">
              <a:buNone/>
            </a:pPr>
            <a:r>
              <a:rPr lang="en-US" sz="1350" dirty="0">
                <a:solidFill>
                  <a:srgbClr val="1F3A6E"/>
                </a:solidFill>
                <a:latin typeface="Arial" pitchFamily="34" charset="0"/>
                <a:ea typeface="Arial" pitchFamily="34" charset="-122"/>
                <a:cs typeface="Arial" pitchFamily="34" charset="-120"/>
              </a:rPr>
              <a:t>   đổi mô hình bằng cấu hình</a:t>
            </a:r>
            <a:endParaRPr lang="en-US" sz="1350" dirty="0"/>
          </a:p>
        </p:txBody>
      </p:sp>
      <p:sp>
        <p:nvSpPr>
          <p:cNvPr id="9" name="Shape 7"/>
          <p:cNvSpPr/>
          <p:nvPr/>
        </p:nvSpPr>
        <p:spPr>
          <a:xfrm>
            <a:off x="5943600" y="2148840"/>
            <a:ext cx="420624" cy="420624"/>
          </a:xfrm>
          <a:prstGeom prst="rect">
            <a:avLst/>
          </a:prstGeom>
          <a:solidFill>
            <a:srgbClr val="8CC0E4"/>
          </a:solidFill>
          <a:ln/>
        </p:spPr>
      </p:sp>
      <p:sp>
        <p:nvSpPr>
          <p:cNvPr id="10" name="Text 8"/>
          <p:cNvSpPr txBox="1"/>
          <p:nvPr/>
        </p:nvSpPr>
        <p:spPr>
          <a:xfrm>
            <a:off x="5943600" y="2148840"/>
            <a:ext cx="420624" cy="420624"/>
          </a:xfrm>
          <a:prstGeom prst="rect">
            <a:avLst/>
          </a:prstGeom>
          <a:noFill/>
          <a:ln/>
        </p:spPr>
        <p:txBody>
          <a:bodyPr wrap="square" lIns="0" tIns="0" rIns="0" bIns="0" rtlCol="0" anchor="ctr"/>
          <a:lstStyle/>
          <a:p>
            <a:pPr algn="ctr" indent="0" marL="0">
              <a:buNone/>
            </a:pPr>
            <a:r>
              <a:rPr lang="en-US" sz="1500" b="1" dirty="0">
                <a:solidFill>
                  <a:srgbClr val="132B5E"/>
                </a:solidFill>
                <a:latin typeface="Arial" pitchFamily="34" charset="0"/>
                <a:ea typeface="Arial" pitchFamily="34" charset="-122"/>
                <a:cs typeface="Arial" pitchFamily="34" charset="-120"/>
              </a:rPr>
              <a:t>2</a:t>
            </a:r>
            <a:endParaRPr lang="en-US" sz="1500" dirty="0"/>
          </a:p>
        </p:txBody>
      </p:sp>
      <p:sp>
        <p:nvSpPr>
          <p:cNvPr id="11" name="Text 9"/>
          <p:cNvSpPr txBox="1"/>
          <p:nvPr/>
        </p:nvSpPr>
        <p:spPr>
          <a:xfrm>
            <a:off x="6565392" y="2148840"/>
            <a:ext cx="5394960" cy="420624"/>
          </a:xfrm>
          <a:prstGeom prst="rect">
            <a:avLst/>
          </a:prstGeom>
          <a:noFill/>
          <a:ln/>
        </p:spPr>
        <p:txBody>
          <a:bodyPr wrap="square" lIns="0" tIns="0" rIns="0" bIns="0" rtlCol="0" anchor="ctr"/>
          <a:lstStyle/>
          <a:p>
            <a:pPr indent="0" marL="0">
              <a:buNone/>
            </a:pPr>
            <a:r>
              <a:rPr lang="en-US" sz="1350" b="1" dirty="0">
                <a:solidFill>
                  <a:srgbClr val="132B5E"/>
                </a:solidFill>
                <a:latin typeface="Arial" pitchFamily="34" charset="0"/>
                <a:ea typeface="Arial" pitchFamily="34" charset="-122"/>
                <a:cs typeface="Arial" pitchFamily="34" charset="-120"/>
              </a:rPr>
              <a:t>Không che giấu lỗi</a:t>
            </a:r>
            <a:pPr indent="0" marL="0">
              <a:buNone/>
            </a:pPr>
            <a:r>
              <a:rPr lang="en-US" sz="1350" dirty="0">
                <a:solidFill>
                  <a:srgbClr val="1F3A6E"/>
                </a:solidFill>
                <a:latin typeface="Arial" pitchFamily="34" charset="0"/>
                <a:ea typeface="Arial" pitchFamily="34" charset="-122"/>
                <a:cs typeface="Arial" pitchFamily="34" charset="-120"/>
              </a:rPr>
              <a:t>   hỏng hạ tầng khác thiếu bằng chứng</a:t>
            </a:r>
            <a:endParaRPr lang="en-US" sz="1350" dirty="0"/>
          </a:p>
        </p:txBody>
      </p:sp>
      <p:sp>
        <p:nvSpPr>
          <p:cNvPr id="12" name="Shape 10"/>
          <p:cNvSpPr/>
          <p:nvPr/>
        </p:nvSpPr>
        <p:spPr>
          <a:xfrm>
            <a:off x="5943600" y="3063240"/>
            <a:ext cx="420624" cy="420624"/>
          </a:xfrm>
          <a:prstGeom prst="rect">
            <a:avLst/>
          </a:prstGeom>
          <a:solidFill>
            <a:srgbClr val="8CC0E4"/>
          </a:solidFill>
          <a:ln/>
        </p:spPr>
      </p:sp>
      <p:sp>
        <p:nvSpPr>
          <p:cNvPr id="13" name="Text 11"/>
          <p:cNvSpPr txBox="1"/>
          <p:nvPr/>
        </p:nvSpPr>
        <p:spPr>
          <a:xfrm>
            <a:off x="5943600" y="3063240"/>
            <a:ext cx="420624" cy="420624"/>
          </a:xfrm>
          <a:prstGeom prst="rect">
            <a:avLst/>
          </a:prstGeom>
          <a:noFill/>
          <a:ln/>
        </p:spPr>
        <p:txBody>
          <a:bodyPr wrap="square" lIns="0" tIns="0" rIns="0" bIns="0" rtlCol="0" anchor="ctr"/>
          <a:lstStyle/>
          <a:p>
            <a:pPr algn="ctr" indent="0" marL="0">
              <a:buNone/>
            </a:pPr>
            <a:r>
              <a:rPr lang="en-US" sz="1500" b="1" dirty="0">
                <a:solidFill>
                  <a:srgbClr val="132B5E"/>
                </a:solidFill>
                <a:latin typeface="Arial" pitchFamily="34" charset="0"/>
                <a:ea typeface="Arial" pitchFamily="34" charset="-122"/>
                <a:cs typeface="Arial" pitchFamily="34" charset="-120"/>
              </a:rPr>
              <a:t>3</a:t>
            </a:r>
            <a:endParaRPr lang="en-US" sz="1500" dirty="0"/>
          </a:p>
        </p:txBody>
      </p:sp>
      <p:sp>
        <p:nvSpPr>
          <p:cNvPr id="14" name="Text 12"/>
          <p:cNvSpPr txBox="1"/>
          <p:nvPr/>
        </p:nvSpPr>
        <p:spPr>
          <a:xfrm>
            <a:off x="6565392" y="3063240"/>
            <a:ext cx="5394960" cy="420624"/>
          </a:xfrm>
          <a:prstGeom prst="rect">
            <a:avLst/>
          </a:prstGeom>
          <a:noFill/>
          <a:ln/>
        </p:spPr>
        <p:txBody>
          <a:bodyPr wrap="square" lIns="0" tIns="0" rIns="0" bIns="0" rtlCol="0" anchor="ctr"/>
          <a:lstStyle/>
          <a:p>
            <a:pPr indent="0" marL="0">
              <a:buNone/>
            </a:pPr>
            <a:r>
              <a:rPr lang="en-US" sz="1350" b="1" dirty="0">
                <a:solidFill>
                  <a:srgbClr val="132B5E"/>
                </a:solidFill>
                <a:latin typeface="Arial" pitchFamily="34" charset="0"/>
                <a:ea typeface="Arial" pitchFamily="34" charset="-122"/>
                <a:cs typeface="Arial" pitchFamily="34" charset="-120"/>
              </a:rPr>
              <a:t>Hàm thuần cho phần kiểm chứng</a:t>
            </a:r>
            <a:pPr indent="0" marL="0">
              <a:buNone/>
            </a:pPr>
            <a:r>
              <a:rPr lang="en-US" sz="1350" dirty="0">
                <a:solidFill>
                  <a:srgbClr val="1F3A6E"/>
                </a:solidFill>
                <a:latin typeface="Arial" pitchFamily="34" charset="0"/>
                <a:ea typeface="Arial" pitchFamily="34" charset="-122"/>
                <a:cs typeface="Arial" pitchFamily="34" charset="-120"/>
              </a:rPr>
              <a:t>   kiểm thử không cần hạ tầng</a:t>
            </a:r>
            <a:endParaRPr lang="en-US" sz="1350" dirty="0"/>
          </a:p>
        </p:txBody>
      </p:sp>
      <p:sp>
        <p:nvSpPr>
          <p:cNvPr id="15" name="Shape 13"/>
          <p:cNvSpPr/>
          <p:nvPr/>
        </p:nvSpPr>
        <p:spPr>
          <a:xfrm>
            <a:off x="5943600" y="3977640"/>
            <a:ext cx="420624" cy="420624"/>
          </a:xfrm>
          <a:prstGeom prst="rect">
            <a:avLst/>
          </a:prstGeom>
          <a:solidFill>
            <a:srgbClr val="8CC0E4"/>
          </a:solidFill>
          <a:ln/>
        </p:spPr>
      </p:sp>
      <p:sp>
        <p:nvSpPr>
          <p:cNvPr id="16" name="Text 14"/>
          <p:cNvSpPr txBox="1"/>
          <p:nvPr/>
        </p:nvSpPr>
        <p:spPr>
          <a:xfrm>
            <a:off x="5943600" y="3977640"/>
            <a:ext cx="420624" cy="420624"/>
          </a:xfrm>
          <a:prstGeom prst="rect">
            <a:avLst/>
          </a:prstGeom>
          <a:noFill/>
          <a:ln/>
        </p:spPr>
        <p:txBody>
          <a:bodyPr wrap="square" lIns="0" tIns="0" rIns="0" bIns="0" rtlCol="0" anchor="ctr"/>
          <a:lstStyle/>
          <a:p>
            <a:pPr algn="ctr" indent="0" marL="0">
              <a:buNone/>
            </a:pPr>
            <a:r>
              <a:rPr lang="en-US" sz="1500" b="1" dirty="0">
                <a:solidFill>
                  <a:srgbClr val="132B5E"/>
                </a:solidFill>
                <a:latin typeface="Arial" pitchFamily="34" charset="0"/>
                <a:ea typeface="Arial" pitchFamily="34" charset="-122"/>
                <a:cs typeface="Arial" pitchFamily="34" charset="-120"/>
              </a:rPr>
              <a:t>4</a:t>
            </a:r>
            <a:endParaRPr lang="en-US" sz="1500" dirty="0"/>
          </a:p>
        </p:txBody>
      </p:sp>
      <p:sp>
        <p:nvSpPr>
          <p:cNvPr id="17" name="Text 15"/>
          <p:cNvSpPr txBox="1"/>
          <p:nvPr/>
        </p:nvSpPr>
        <p:spPr>
          <a:xfrm>
            <a:off x="6565392" y="3977640"/>
            <a:ext cx="5394960" cy="420624"/>
          </a:xfrm>
          <a:prstGeom prst="rect">
            <a:avLst/>
          </a:prstGeom>
          <a:noFill/>
          <a:ln/>
        </p:spPr>
        <p:txBody>
          <a:bodyPr wrap="square" lIns="0" tIns="0" rIns="0" bIns="0" rtlCol="0" anchor="ctr"/>
          <a:lstStyle/>
          <a:p>
            <a:pPr indent="0" marL="0">
              <a:buNone/>
            </a:pPr>
            <a:r>
              <a:rPr lang="en-US" sz="1350" b="1" dirty="0">
                <a:solidFill>
                  <a:srgbClr val="132B5E"/>
                </a:solidFill>
                <a:latin typeface="Arial" pitchFamily="34" charset="0"/>
                <a:ea typeface="Arial" pitchFamily="34" charset="-122"/>
                <a:cs typeface="Arial" pitchFamily="34" charset="-120"/>
              </a:rPr>
              <a:t>Mọi chặng đều ghi vết</a:t>
            </a:r>
            <a:pPr indent="0" marL="0">
              <a:buNone/>
            </a:pPr>
            <a:r>
              <a:rPr lang="en-US" sz="1350" dirty="0">
                <a:solidFill>
                  <a:srgbClr val="1F3A6E"/>
                </a:solidFill>
                <a:latin typeface="Arial" pitchFamily="34" charset="0"/>
                <a:ea typeface="Arial" pitchFamily="34" charset="-122"/>
                <a:cs typeface="Arial" pitchFamily="34" charset="-120"/>
              </a:rPr>
              <a:t>   truy vấn, tài liệu, phiên tác tử</a:t>
            </a:r>
            <a:endParaRPr lang="en-US" sz="1350" dirty="0"/>
          </a:p>
        </p:txBody>
      </p:sp>
      <p:sp>
        <p:nvSpPr>
          <p:cNvPr id="18" name="Shape 16"/>
          <p:cNvSpPr/>
          <p:nvPr/>
        </p:nvSpPr>
        <p:spPr>
          <a:xfrm>
            <a:off x="5943600" y="4892040"/>
            <a:ext cx="420624" cy="420624"/>
          </a:xfrm>
          <a:prstGeom prst="rect">
            <a:avLst/>
          </a:prstGeom>
          <a:solidFill>
            <a:srgbClr val="8CC0E4"/>
          </a:solidFill>
          <a:ln/>
        </p:spPr>
      </p:sp>
      <p:sp>
        <p:nvSpPr>
          <p:cNvPr id="19" name="Text 17"/>
          <p:cNvSpPr txBox="1"/>
          <p:nvPr/>
        </p:nvSpPr>
        <p:spPr>
          <a:xfrm>
            <a:off x="5943600" y="4892040"/>
            <a:ext cx="420624" cy="420624"/>
          </a:xfrm>
          <a:prstGeom prst="rect">
            <a:avLst/>
          </a:prstGeom>
          <a:noFill/>
          <a:ln/>
        </p:spPr>
        <p:txBody>
          <a:bodyPr wrap="square" lIns="0" tIns="0" rIns="0" bIns="0" rtlCol="0" anchor="ctr"/>
          <a:lstStyle/>
          <a:p>
            <a:pPr algn="ctr" indent="0" marL="0">
              <a:buNone/>
            </a:pPr>
            <a:r>
              <a:rPr lang="en-US" sz="1500" b="1" dirty="0">
                <a:solidFill>
                  <a:srgbClr val="132B5E"/>
                </a:solidFill>
                <a:latin typeface="Arial" pitchFamily="34" charset="0"/>
                <a:ea typeface="Arial" pitchFamily="34" charset="-122"/>
                <a:cs typeface="Arial" pitchFamily="34" charset="-120"/>
              </a:rPr>
              <a:t>5</a:t>
            </a:r>
            <a:endParaRPr lang="en-US" sz="1500" dirty="0"/>
          </a:p>
        </p:txBody>
      </p:sp>
      <p:sp>
        <p:nvSpPr>
          <p:cNvPr id="20" name="Text 18"/>
          <p:cNvSpPr txBox="1"/>
          <p:nvPr/>
        </p:nvSpPr>
        <p:spPr>
          <a:xfrm>
            <a:off x="6565392" y="4892040"/>
            <a:ext cx="5394960" cy="420624"/>
          </a:xfrm>
          <a:prstGeom prst="rect">
            <a:avLst/>
          </a:prstGeom>
          <a:noFill/>
          <a:ln/>
        </p:spPr>
        <p:txBody>
          <a:bodyPr wrap="square" lIns="0" tIns="0" rIns="0" bIns="0" rtlCol="0" anchor="ctr"/>
          <a:lstStyle/>
          <a:p>
            <a:pPr indent="0" marL="0">
              <a:buNone/>
            </a:pPr>
            <a:r>
              <a:rPr lang="en-US" sz="1350" b="1" dirty="0">
                <a:solidFill>
                  <a:srgbClr val="132B5E"/>
                </a:solidFill>
                <a:latin typeface="Arial" pitchFamily="34" charset="0"/>
                <a:ea typeface="Arial" pitchFamily="34" charset="-122"/>
                <a:cs typeface="Arial" pitchFamily="34" charset="-120"/>
              </a:rPr>
              <a:t>Lõi tác tử không biết công cụ</a:t>
            </a:r>
            <a:pPr indent="0" marL="0">
              <a:buNone/>
            </a:pPr>
            <a:r>
              <a:rPr lang="en-US" sz="1350" dirty="0">
                <a:solidFill>
                  <a:srgbClr val="1F3A6E"/>
                </a:solidFill>
                <a:latin typeface="Arial" pitchFamily="34" charset="0"/>
                <a:ea typeface="Arial" pitchFamily="34" charset="-122"/>
                <a:cs typeface="Arial" pitchFamily="34" charset="-120"/>
              </a:rPr>
              <a:t>   thêm công cụ, sửa 0 dòng lõi</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FEFEE"/>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8A8F98"/>
                </a:solidFill>
                <a:latin typeface="Arial" pitchFamily="34" charset="0"/>
                <a:ea typeface="Arial" pitchFamily="34" charset="-122"/>
                <a:cs typeface="Arial" pitchFamily="34" charset="-120"/>
              </a:rPr>
              <a:t>RAG RELIABILITY PLATFORM  ·  Báo cáo đồ án môn học</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8A8F98"/>
                </a:solidFill>
                <a:latin typeface="Arial" pitchFamily="34" charset="0"/>
                <a:ea typeface="Arial" pitchFamily="34" charset="-122"/>
                <a:cs typeface="Arial" pitchFamily="34" charset="-120"/>
              </a:rPr>
              <a:t>09</a:t>
            </a:r>
            <a:endParaRPr lang="en-US" sz="900" dirty="0"/>
          </a:p>
        </p:txBody>
      </p:sp>
      <p:sp>
        <p:nvSpPr>
          <p:cNvPr id="4" name="Text 2"/>
          <p:cNvSpPr txBox="1"/>
          <p:nvPr/>
        </p:nvSpPr>
        <p:spPr>
          <a:xfrm>
            <a:off x="566928" y="384048"/>
            <a:ext cx="10881360" cy="777240"/>
          </a:xfrm>
          <a:prstGeom prst="rect">
            <a:avLst/>
          </a:prstGeom>
          <a:noFill/>
          <a:ln/>
        </p:spPr>
        <p:txBody>
          <a:bodyPr wrap="square" lIns="0" tIns="0" rIns="0" bIns="0" rtlCol="0" anchor="t"/>
          <a:lstStyle/>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MÔ HÌNH DỮ LIỆU</a:t>
            </a:r>
            <a:endParaRPr lang="en-US" sz="3200" dirty="0"/>
          </a:p>
        </p:txBody>
      </p:sp>
      <p:sp>
        <p:nvSpPr>
          <p:cNvPr id="5" name="Text 3"/>
          <p:cNvSpPr txBox="1"/>
          <p:nvPr/>
        </p:nvSpPr>
        <p:spPr>
          <a:xfrm>
            <a:off x="566928" y="1234440"/>
            <a:ext cx="10881360" cy="640080"/>
          </a:xfrm>
          <a:prstGeom prst="rect">
            <a:avLst/>
          </a:prstGeom>
          <a:noFill/>
          <a:ln/>
        </p:spPr>
        <p:txBody>
          <a:bodyPr wrap="square" lIns="0" tIns="0" rIns="0" bIns="0" rtlCol="0" anchor="t"/>
          <a:lstStyle/>
          <a:p>
            <a:pPr indent="0" marL="0">
              <a:lnSpc>
                <a:spcPct val="128000"/>
              </a:lnSpc>
              <a:buNone/>
            </a:pPr>
            <a:r>
              <a:rPr lang="en-US" sz="1450" dirty="0">
                <a:solidFill>
                  <a:srgbClr val="1F3A6E"/>
                </a:solidFill>
                <a:latin typeface="Arial" pitchFamily="34" charset="0"/>
                <a:ea typeface="Arial" pitchFamily="34" charset="-122"/>
                <a:cs typeface="Arial" pitchFamily="34" charset="-120"/>
              </a:rPr>
              <a:t>Bốn nhóm bảng: tài liệu, nạp dữ liệu, truy vấn, đánh giá và tác tử. Cột vector do phần mở rộng của cơ sở dữ liệu quản lý, mọi thao tác đi qua truy vấn thô có tham số ràng buộc.</a:t>
            </a:r>
            <a:endParaRPr lang="en-US" sz="1450" dirty="0"/>
          </a:p>
        </p:txBody>
      </p:sp>
      <p:sp>
        <p:nvSpPr>
          <p:cNvPr id="6" name="Shape 4"/>
          <p:cNvSpPr/>
          <p:nvPr/>
        </p:nvSpPr>
        <p:spPr>
          <a:xfrm>
            <a:off x="3329492" y="2057400"/>
            <a:ext cx="5721992" cy="3931920"/>
          </a:xfrm>
          <a:prstGeom prst="rect">
            <a:avLst/>
          </a:prstGeom>
          <a:solidFill>
            <a:srgbClr val="132B5E"/>
          </a:solidFill>
          <a:ln/>
        </p:spPr>
      </p:sp>
      <p:sp>
        <p:nvSpPr>
          <p:cNvPr id="7" name="Shape 5"/>
          <p:cNvSpPr/>
          <p:nvPr/>
        </p:nvSpPr>
        <p:spPr>
          <a:xfrm>
            <a:off x="3238052" y="1965960"/>
            <a:ext cx="5721992" cy="3931920"/>
          </a:xfrm>
          <a:prstGeom prst="rect">
            <a:avLst/>
          </a:prstGeom>
          <a:solidFill>
            <a:srgbClr val="FFFFFF"/>
          </a:solidFill>
          <a:ln w="12700">
            <a:solidFill>
              <a:srgbClr val="FFFFFF"/>
            </a:solidFill>
            <a:prstDash val="solid"/>
          </a:ln>
        </p:spPr>
      </p:sp>
      <p:pic>
        <p:nvPicPr>
          <p:cNvPr id="8" name="Image 0" descr="/private/tmp/claude-501/-Volumes-Data-Documents-rag-reliability/6db8fc1f-3028-4f02-8952-927e30b47723/scratchpad/report/img/d07-erd.png">    </p:cNvPr>
          <p:cNvPicPr>
            <a:picLocks noChangeAspect="1"/>
          </p:cNvPicPr>
          <p:nvPr/>
        </p:nvPicPr>
        <p:blipFill>
          <a:blip r:embed="rId1"/>
          <a:stretch>
            <a:fillRect/>
          </a:stretch>
        </p:blipFill>
        <p:spPr>
          <a:xfrm>
            <a:off x="3302060" y="2029968"/>
            <a:ext cx="5593976" cy="380390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2148"/>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3A5290"/>
                </a:solidFill>
                <a:latin typeface="Arial" pitchFamily="34" charset="0"/>
                <a:ea typeface="Arial" pitchFamily="34" charset="-122"/>
                <a:cs typeface="Arial" pitchFamily="34" charset="-120"/>
              </a:rPr>
              <a:t>RAG RELIABILITY PLATFORM  ·  Báo cáo đồ án môn học</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3A5290"/>
                </a:solidFill>
                <a:latin typeface="Arial" pitchFamily="34" charset="0"/>
                <a:ea typeface="Arial" pitchFamily="34" charset="-122"/>
                <a:cs typeface="Arial" pitchFamily="34" charset="-120"/>
              </a:rPr>
              <a:t>10</a:t>
            </a:r>
            <a:endParaRPr lang="en-US" sz="900" dirty="0"/>
          </a:p>
        </p:txBody>
      </p:sp>
      <p:sp>
        <p:nvSpPr>
          <p:cNvPr id="4" name="Text 2"/>
          <p:cNvSpPr txBox="1"/>
          <p:nvPr/>
        </p:nvSpPr>
        <p:spPr>
          <a:xfrm>
            <a:off x="512064" y="1371600"/>
            <a:ext cx="3657600" cy="1920240"/>
          </a:xfrm>
          <a:prstGeom prst="rect">
            <a:avLst/>
          </a:prstGeom>
          <a:noFill/>
          <a:ln/>
        </p:spPr>
        <p:txBody>
          <a:bodyPr wrap="square" lIns="0" tIns="0" rIns="0" bIns="0" rtlCol="0" anchor="ctr"/>
          <a:lstStyle/>
          <a:p>
            <a:pPr indent="0" marL="0">
              <a:buNone/>
            </a:pPr>
            <a:r>
              <a:rPr lang="en-US" sz="12000" b="1" dirty="0">
                <a:solidFill>
                  <a:srgbClr val="3A5290"/>
                </a:solidFill>
                <a:latin typeface="Arial" pitchFamily="34" charset="0"/>
                <a:ea typeface="Arial" pitchFamily="34" charset="-122"/>
                <a:cs typeface="Arial" pitchFamily="34" charset="-120"/>
              </a:rPr>
              <a:t>02</a:t>
            </a:r>
            <a:endParaRPr lang="en-US" sz="12000" dirty="0"/>
          </a:p>
        </p:txBody>
      </p:sp>
      <p:sp>
        <p:nvSpPr>
          <p:cNvPr id="5" name="Shape 3"/>
          <p:cNvSpPr/>
          <p:nvPr/>
        </p:nvSpPr>
        <p:spPr>
          <a:xfrm>
            <a:off x="566928" y="3657600"/>
            <a:ext cx="1463040" cy="82296"/>
          </a:xfrm>
          <a:prstGeom prst="rect">
            <a:avLst/>
          </a:prstGeom>
          <a:solidFill>
            <a:srgbClr val="8CC0E4"/>
          </a:solidFill>
          <a:ln/>
        </p:spPr>
      </p:sp>
      <p:sp>
        <p:nvSpPr>
          <p:cNvPr id="6" name="Text 4"/>
          <p:cNvSpPr txBox="1"/>
          <p:nvPr/>
        </p:nvSpPr>
        <p:spPr>
          <a:xfrm>
            <a:off x="566928" y="3977640"/>
            <a:ext cx="10058400" cy="73152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PIPELINE RAG VÀ CHỐNG BỊA ĐẶT</a:t>
            </a:r>
            <a:endParaRPr lang="en-US" sz="3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FEFEE"/>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8A8F98"/>
                </a:solidFill>
                <a:latin typeface="Arial" pitchFamily="34" charset="0"/>
                <a:ea typeface="Arial" pitchFamily="34" charset="-122"/>
                <a:cs typeface="Arial" pitchFamily="34" charset="-120"/>
              </a:rPr>
              <a:t>RAG RELIABILITY PLATFORM  ·  Báo cáo đồ án môn học</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8A8F98"/>
                </a:solidFill>
                <a:latin typeface="Arial" pitchFamily="34" charset="0"/>
                <a:ea typeface="Arial" pitchFamily="34" charset="-122"/>
                <a:cs typeface="Arial" pitchFamily="34" charset="-120"/>
              </a:rPr>
              <a:t>11</a:t>
            </a:r>
            <a:endParaRPr lang="en-US" sz="900" dirty="0"/>
          </a:p>
        </p:txBody>
      </p:sp>
      <p:sp>
        <p:nvSpPr>
          <p:cNvPr id="4" name="Text 2"/>
          <p:cNvSpPr txBox="1"/>
          <p:nvPr/>
        </p:nvSpPr>
        <p:spPr>
          <a:xfrm>
            <a:off x="566928" y="384048"/>
            <a:ext cx="10881360" cy="777240"/>
          </a:xfrm>
          <a:prstGeom prst="rect">
            <a:avLst/>
          </a:prstGeom>
          <a:noFill/>
          <a:ln/>
        </p:spPr>
        <p:txBody>
          <a:bodyPr wrap="square" lIns="0" tIns="0" rIns="0" bIns="0" rtlCol="0" anchor="t"/>
          <a:lstStyle/>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ĐƯỜNG ĐI CỦA MỘT CÂU HỎI</a:t>
            </a:r>
            <a:endParaRPr lang="en-US" sz="3200" dirty="0"/>
          </a:p>
        </p:txBody>
      </p:sp>
      <p:sp>
        <p:nvSpPr>
          <p:cNvPr id="5" name="Text 3"/>
          <p:cNvSpPr txBox="1"/>
          <p:nvPr/>
        </p:nvSpPr>
        <p:spPr>
          <a:xfrm>
            <a:off x="566928" y="1234440"/>
            <a:ext cx="10881360" cy="548640"/>
          </a:xfrm>
          <a:prstGeom prst="rect">
            <a:avLst/>
          </a:prstGeom>
          <a:noFill/>
          <a:ln/>
        </p:spPr>
        <p:txBody>
          <a:bodyPr wrap="square" lIns="0" tIns="0" rIns="0" bIns="0" rtlCol="0" anchor="t"/>
          <a:lstStyle/>
          <a:p>
            <a:pPr indent="0" marL="0">
              <a:lnSpc>
                <a:spcPct val="128000"/>
              </a:lnSpc>
              <a:buNone/>
            </a:pPr>
            <a:r>
              <a:rPr lang="en-US" sz="1450" dirty="0">
                <a:solidFill>
                  <a:srgbClr val="1F3A6E"/>
                </a:solidFill>
                <a:latin typeface="Arial" pitchFamily="34" charset="0"/>
                <a:ea typeface="Arial" pitchFamily="34" charset="-122"/>
                <a:cs typeface="Arial" pitchFamily="34" charset="-120"/>
              </a:rPr>
              <a:t>Truy hồi, hợp nhất, xếp hạng lại, dựng ngữ cảnh, chặn nếu thiếu bằng chứng, sinh câu trả lời, kiểm chứng rồi mới trả về.</a:t>
            </a:r>
            <a:endParaRPr lang="en-US" sz="1450" dirty="0"/>
          </a:p>
        </p:txBody>
      </p:sp>
      <p:sp>
        <p:nvSpPr>
          <p:cNvPr id="6" name="Shape 4"/>
          <p:cNvSpPr/>
          <p:nvPr/>
        </p:nvSpPr>
        <p:spPr>
          <a:xfrm>
            <a:off x="566928" y="2148840"/>
            <a:ext cx="1345474" cy="1051560"/>
          </a:xfrm>
          <a:prstGeom prst="rect">
            <a:avLst/>
          </a:prstGeom>
          <a:solidFill>
            <a:srgbClr val="8CC0E4"/>
          </a:solidFill>
          <a:ln/>
        </p:spPr>
      </p:sp>
      <p:sp>
        <p:nvSpPr>
          <p:cNvPr id="7" name="Text 5"/>
          <p:cNvSpPr txBox="1"/>
          <p:nvPr/>
        </p:nvSpPr>
        <p:spPr>
          <a:xfrm>
            <a:off x="621792" y="2148840"/>
            <a:ext cx="1235746" cy="1051560"/>
          </a:xfrm>
          <a:prstGeom prst="rect">
            <a:avLst/>
          </a:prstGeom>
          <a:noFill/>
          <a:ln/>
        </p:spPr>
        <p:txBody>
          <a:bodyPr wrap="square" lIns="0" tIns="0" rIns="0" bIns="0" rtlCol="0" anchor="ctr"/>
          <a:lstStyle/>
          <a:p>
            <a:pPr algn="ctr" indent="0" marL="0">
              <a:lnSpc>
                <a:spcPct val="110000"/>
              </a:lnSpc>
              <a:buNone/>
            </a:pPr>
            <a:r>
              <a:rPr lang="en-US" sz="1100" b="1" dirty="0">
                <a:solidFill>
                  <a:srgbClr val="132B5E"/>
                </a:solidFill>
                <a:latin typeface="Arial" pitchFamily="34" charset="0"/>
                <a:ea typeface="Arial" pitchFamily="34" charset="-122"/>
                <a:cs typeface="Arial" pitchFamily="34" charset="-120"/>
              </a:rPr>
              <a:t>TRUY HỒI</a:t>
            </a:r>
            <a:endParaRPr lang="en-US" sz="1100" dirty="0"/>
          </a:p>
          <a:p>
            <a:pPr algn="ctr" indent="0" marL="0">
              <a:lnSpc>
                <a:spcPct val="110000"/>
              </a:lnSpc>
              <a:buNone/>
            </a:pPr>
            <a:r>
              <a:rPr lang="en-US" sz="1100" b="1" dirty="0">
                <a:solidFill>
                  <a:srgbClr val="132B5E"/>
                </a:solidFill>
                <a:latin typeface="Arial" pitchFamily="34" charset="0"/>
                <a:ea typeface="Arial" pitchFamily="34" charset="-122"/>
                <a:cs typeface="Arial" pitchFamily="34" charset="-120"/>
              </a:rPr>
              <a:t>3 nguồn</a:t>
            </a:r>
            <a:endParaRPr lang="en-US" sz="1100" dirty="0"/>
          </a:p>
        </p:txBody>
      </p:sp>
      <p:sp>
        <p:nvSpPr>
          <p:cNvPr id="8" name="Shape 6"/>
          <p:cNvSpPr/>
          <p:nvPr/>
        </p:nvSpPr>
        <p:spPr>
          <a:xfrm>
            <a:off x="1953550" y="2537460"/>
            <a:ext cx="192024" cy="274320"/>
          </a:xfrm>
          <a:prstGeom prst="rightArrow">
            <a:avLst/>
          </a:prstGeom>
          <a:solidFill>
            <a:srgbClr val="132B5E"/>
          </a:solidFill>
          <a:ln w="12700">
            <a:solidFill>
              <a:srgbClr val="132B5E"/>
            </a:solidFill>
            <a:prstDash val="solid"/>
          </a:ln>
        </p:spPr>
      </p:sp>
      <p:sp>
        <p:nvSpPr>
          <p:cNvPr id="9" name="Shape 7"/>
          <p:cNvSpPr/>
          <p:nvPr/>
        </p:nvSpPr>
        <p:spPr>
          <a:xfrm>
            <a:off x="2186722" y="2148840"/>
            <a:ext cx="1345474" cy="1051560"/>
          </a:xfrm>
          <a:prstGeom prst="rect">
            <a:avLst/>
          </a:prstGeom>
          <a:solidFill>
            <a:srgbClr val="132B5E"/>
          </a:solidFill>
          <a:ln/>
        </p:spPr>
      </p:sp>
      <p:sp>
        <p:nvSpPr>
          <p:cNvPr id="10" name="Text 8"/>
          <p:cNvSpPr txBox="1"/>
          <p:nvPr/>
        </p:nvSpPr>
        <p:spPr>
          <a:xfrm>
            <a:off x="2241586" y="2148840"/>
            <a:ext cx="1235746" cy="1051560"/>
          </a:xfrm>
          <a:prstGeom prst="rect">
            <a:avLst/>
          </a:prstGeom>
          <a:noFill/>
          <a:ln/>
        </p:spPr>
        <p:txBody>
          <a:bodyPr wrap="square" lIns="0" tIns="0" rIns="0" bIns="0" rtlCol="0" anchor="ctr"/>
          <a:lstStyle/>
          <a:p>
            <a:pPr algn="ctr" indent="0" marL="0">
              <a:lnSpc>
                <a:spcPct val="110000"/>
              </a:lnSpc>
              <a:buNone/>
            </a:pPr>
            <a:r>
              <a:rPr lang="en-US" sz="1100" b="1" dirty="0">
                <a:solidFill>
                  <a:srgbClr val="FFFFFF"/>
                </a:solidFill>
                <a:latin typeface="Arial" pitchFamily="34" charset="0"/>
                <a:ea typeface="Arial" pitchFamily="34" charset="-122"/>
                <a:cs typeface="Arial" pitchFamily="34" charset="-120"/>
              </a:rPr>
              <a:t>HỢP NHẤT</a:t>
            </a:r>
            <a:endParaRPr lang="en-US" sz="1100" dirty="0"/>
          </a:p>
          <a:p>
            <a:pPr algn="ctr" indent="0" marL="0">
              <a:lnSpc>
                <a:spcPct val="110000"/>
              </a:lnSpc>
              <a:buNone/>
            </a:pPr>
            <a:r>
              <a:rPr lang="en-US" sz="1100" b="1" dirty="0">
                <a:solidFill>
                  <a:srgbClr val="FFFFFF"/>
                </a:solidFill>
                <a:latin typeface="Arial" pitchFamily="34" charset="0"/>
                <a:ea typeface="Arial" pitchFamily="34" charset="-122"/>
                <a:cs typeface="Arial" pitchFamily="34" charset="-120"/>
              </a:rPr>
              <a:t>RRF</a:t>
            </a:r>
            <a:endParaRPr lang="en-US" sz="1100" dirty="0"/>
          </a:p>
        </p:txBody>
      </p:sp>
      <p:sp>
        <p:nvSpPr>
          <p:cNvPr id="11" name="Shape 9"/>
          <p:cNvSpPr/>
          <p:nvPr/>
        </p:nvSpPr>
        <p:spPr>
          <a:xfrm>
            <a:off x="3573345" y="2537460"/>
            <a:ext cx="192024" cy="274320"/>
          </a:xfrm>
          <a:prstGeom prst="rightArrow">
            <a:avLst/>
          </a:prstGeom>
          <a:solidFill>
            <a:srgbClr val="132B5E"/>
          </a:solidFill>
          <a:ln w="12700">
            <a:solidFill>
              <a:srgbClr val="132B5E"/>
            </a:solidFill>
            <a:prstDash val="solid"/>
          </a:ln>
        </p:spPr>
      </p:sp>
      <p:sp>
        <p:nvSpPr>
          <p:cNvPr id="12" name="Shape 10"/>
          <p:cNvSpPr/>
          <p:nvPr/>
        </p:nvSpPr>
        <p:spPr>
          <a:xfrm>
            <a:off x="3806517" y="2148840"/>
            <a:ext cx="1345474" cy="1051560"/>
          </a:xfrm>
          <a:prstGeom prst="rect">
            <a:avLst/>
          </a:prstGeom>
          <a:solidFill>
            <a:srgbClr val="8CC0E4"/>
          </a:solidFill>
          <a:ln/>
        </p:spPr>
      </p:sp>
      <p:sp>
        <p:nvSpPr>
          <p:cNvPr id="13" name="Text 11"/>
          <p:cNvSpPr txBox="1"/>
          <p:nvPr/>
        </p:nvSpPr>
        <p:spPr>
          <a:xfrm>
            <a:off x="3861381" y="2148840"/>
            <a:ext cx="1235746" cy="1051560"/>
          </a:xfrm>
          <a:prstGeom prst="rect">
            <a:avLst/>
          </a:prstGeom>
          <a:noFill/>
          <a:ln/>
        </p:spPr>
        <p:txBody>
          <a:bodyPr wrap="square" lIns="0" tIns="0" rIns="0" bIns="0" rtlCol="0" anchor="ctr"/>
          <a:lstStyle/>
          <a:p>
            <a:pPr algn="ctr" indent="0" marL="0">
              <a:lnSpc>
                <a:spcPct val="110000"/>
              </a:lnSpc>
              <a:buNone/>
            </a:pPr>
            <a:r>
              <a:rPr lang="en-US" sz="1100" b="1" dirty="0">
                <a:solidFill>
                  <a:srgbClr val="132B5E"/>
                </a:solidFill>
                <a:latin typeface="Arial" pitchFamily="34" charset="0"/>
                <a:ea typeface="Arial" pitchFamily="34" charset="-122"/>
                <a:cs typeface="Arial" pitchFamily="34" charset="-120"/>
              </a:rPr>
              <a:t>XẾP HẠNG</a:t>
            </a:r>
            <a:endParaRPr lang="en-US" sz="1100" dirty="0"/>
          </a:p>
          <a:p>
            <a:pPr algn="ctr" indent="0" marL="0">
              <a:lnSpc>
                <a:spcPct val="110000"/>
              </a:lnSpc>
              <a:buNone/>
            </a:pPr>
            <a:r>
              <a:rPr lang="en-US" sz="1100" b="1" dirty="0">
                <a:solidFill>
                  <a:srgbClr val="132B5E"/>
                </a:solidFill>
                <a:latin typeface="Arial" pitchFamily="34" charset="0"/>
                <a:ea typeface="Arial" pitchFamily="34" charset="-122"/>
                <a:cs typeface="Arial" pitchFamily="34" charset="-120"/>
              </a:rPr>
              <a:t>LẠI</a:t>
            </a:r>
            <a:endParaRPr lang="en-US" sz="1100" dirty="0"/>
          </a:p>
        </p:txBody>
      </p:sp>
      <p:sp>
        <p:nvSpPr>
          <p:cNvPr id="14" name="Shape 12"/>
          <p:cNvSpPr/>
          <p:nvPr/>
        </p:nvSpPr>
        <p:spPr>
          <a:xfrm>
            <a:off x="5193139" y="2537460"/>
            <a:ext cx="192024" cy="274320"/>
          </a:xfrm>
          <a:prstGeom prst="rightArrow">
            <a:avLst/>
          </a:prstGeom>
          <a:solidFill>
            <a:srgbClr val="132B5E"/>
          </a:solidFill>
          <a:ln w="12700">
            <a:solidFill>
              <a:srgbClr val="132B5E"/>
            </a:solidFill>
            <a:prstDash val="solid"/>
          </a:ln>
        </p:spPr>
      </p:sp>
      <p:sp>
        <p:nvSpPr>
          <p:cNvPr id="15" name="Shape 13"/>
          <p:cNvSpPr/>
          <p:nvPr/>
        </p:nvSpPr>
        <p:spPr>
          <a:xfrm>
            <a:off x="5426311" y="2148840"/>
            <a:ext cx="1345474" cy="1051560"/>
          </a:xfrm>
          <a:prstGeom prst="rect">
            <a:avLst/>
          </a:prstGeom>
          <a:solidFill>
            <a:srgbClr val="132B5E"/>
          </a:solidFill>
          <a:ln/>
        </p:spPr>
      </p:sp>
      <p:sp>
        <p:nvSpPr>
          <p:cNvPr id="16" name="Text 14"/>
          <p:cNvSpPr txBox="1"/>
          <p:nvPr/>
        </p:nvSpPr>
        <p:spPr>
          <a:xfrm>
            <a:off x="5481175" y="2148840"/>
            <a:ext cx="1235746" cy="1051560"/>
          </a:xfrm>
          <a:prstGeom prst="rect">
            <a:avLst/>
          </a:prstGeom>
          <a:noFill/>
          <a:ln/>
        </p:spPr>
        <p:txBody>
          <a:bodyPr wrap="square" lIns="0" tIns="0" rIns="0" bIns="0" rtlCol="0" anchor="ctr"/>
          <a:lstStyle/>
          <a:p>
            <a:pPr algn="ctr" indent="0" marL="0">
              <a:lnSpc>
                <a:spcPct val="110000"/>
              </a:lnSpc>
              <a:buNone/>
            </a:pPr>
            <a:r>
              <a:rPr lang="en-US" sz="1100" b="1" dirty="0">
                <a:solidFill>
                  <a:srgbClr val="FFFFFF"/>
                </a:solidFill>
                <a:latin typeface="Arial" pitchFamily="34" charset="0"/>
                <a:ea typeface="Arial" pitchFamily="34" charset="-122"/>
                <a:cs typeface="Arial" pitchFamily="34" charset="-120"/>
              </a:rPr>
              <a:t>DỰNG</a:t>
            </a:r>
            <a:endParaRPr lang="en-US" sz="1100" dirty="0"/>
          </a:p>
          <a:p>
            <a:pPr algn="ctr" indent="0" marL="0">
              <a:lnSpc>
                <a:spcPct val="110000"/>
              </a:lnSpc>
              <a:buNone/>
            </a:pPr>
            <a:r>
              <a:rPr lang="en-US" sz="1100" b="1" dirty="0">
                <a:solidFill>
                  <a:srgbClr val="FFFFFF"/>
                </a:solidFill>
                <a:latin typeface="Arial" pitchFamily="34" charset="0"/>
                <a:ea typeface="Arial" pitchFamily="34" charset="-122"/>
                <a:cs typeface="Arial" pitchFamily="34" charset="-120"/>
              </a:rPr>
              <a:t>NGỮ CẢNH</a:t>
            </a:r>
            <a:endParaRPr lang="en-US" sz="1100" dirty="0"/>
          </a:p>
        </p:txBody>
      </p:sp>
      <p:sp>
        <p:nvSpPr>
          <p:cNvPr id="17" name="Shape 15"/>
          <p:cNvSpPr/>
          <p:nvPr/>
        </p:nvSpPr>
        <p:spPr>
          <a:xfrm>
            <a:off x="6812933" y="2537460"/>
            <a:ext cx="192024" cy="274320"/>
          </a:xfrm>
          <a:prstGeom prst="rightArrow">
            <a:avLst/>
          </a:prstGeom>
          <a:solidFill>
            <a:srgbClr val="132B5E"/>
          </a:solidFill>
          <a:ln w="12700">
            <a:solidFill>
              <a:srgbClr val="132B5E"/>
            </a:solidFill>
            <a:prstDash val="solid"/>
          </a:ln>
        </p:spPr>
      </p:sp>
      <p:sp>
        <p:nvSpPr>
          <p:cNvPr id="18" name="Shape 16"/>
          <p:cNvSpPr/>
          <p:nvPr/>
        </p:nvSpPr>
        <p:spPr>
          <a:xfrm>
            <a:off x="7046105" y="2148840"/>
            <a:ext cx="1345474" cy="1051560"/>
          </a:xfrm>
          <a:prstGeom prst="rect">
            <a:avLst/>
          </a:prstGeom>
          <a:solidFill>
            <a:srgbClr val="8CC0E4"/>
          </a:solidFill>
          <a:ln/>
        </p:spPr>
      </p:sp>
      <p:sp>
        <p:nvSpPr>
          <p:cNvPr id="19" name="Text 17"/>
          <p:cNvSpPr txBox="1"/>
          <p:nvPr/>
        </p:nvSpPr>
        <p:spPr>
          <a:xfrm>
            <a:off x="7100969" y="2148840"/>
            <a:ext cx="1235746" cy="1051560"/>
          </a:xfrm>
          <a:prstGeom prst="rect">
            <a:avLst/>
          </a:prstGeom>
          <a:noFill/>
          <a:ln/>
        </p:spPr>
        <p:txBody>
          <a:bodyPr wrap="square" lIns="0" tIns="0" rIns="0" bIns="0" rtlCol="0" anchor="ctr"/>
          <a:lstStyle/>
          <a:p>
            <a:pPr algn="ctr" indent="0" marL="0">
              <a:lnSpc>
                <a:spcPct val="110000"/>
              </a:lnSpc>
              <a:buNone/>
            </a:pPr>
            <a:r>
              <a:rPr lang="en-US" sz="1100" b="1" dirty="0">
                <a:solidFill>
                  <a:srgbClr val="132B5E"/>
                </a:solidFill>
                <a:latin typeface="Arial" pitchFamily="34" charset="0"/>
                <a:ea typeface="Arial" pitchFamily="34" charset="-122"/>
                <a:cs typeface="Arial" pitchFamily="34" charset="-120"/>
              </a:rPr>
              <a:t>CỔNG</a:t>
            </a:r>
            <a:endParaRPr lang="en-US" sz="1100" dirty="0"/>
          </a:p>
          <a:p>
            <a:pPr algn="ctr" indent="0" marL="0">
              <a:lnSpc>
                <a:spcPct val="110000"/>
              </a:lnSpc>
              <a:buNone/>
            </a:pPr>
            <a:r>
              <a:rPr lang="en-US" sz="1100" b="1" dirty="0">
                <a:solidFill>
                  <a:srgbClr val="132B5E"/>
                </a:solidFill>
                <a:latin typeface="Arial" pitchFamily="34" charset="0"/>
                <a:ea typeface="Arial" pitchFamily="34" charset="-122"/>
                <a:cs typeface="Arial" pitchFamily="34" charset="-120"/>
              </a:rPr>
              <a:t>BẰNG CHỨNG</a:t>
            </a:r>
            <a:endParaRPr lang="en-US" sz="1100" dirty="0"/>
          </a:p>
        </p:txBody>
      </p:sp>
      <p:sp>
        <p:nvSpPr>
          <p:cNvPr id="20" name="Shape 18"/>
          <p:cNvSpPr/>
          <p:nvPr/>
        </p:nvSpPr>
        <p:spPr>
          <a:xfrm>
            <a:off x="8432727" y="2537460"/>
            <a:ext cx="192024" cy="274320"/>
          </a:xfrm>
          <a:prstGeom prst="rightArrow">
            <a:avLst/>
          </a:prstGeom>
          <a:solidFill>
            <a:srgbClr val="132B5E"/>
          </a:solidFill>
          <a:ln w="12700">
            <a:solidFill>
              <a:srgbClr val="132B5E"/>
            </a:solidFill>
            <a:prstDash val="solid"/>
          </a:ln>
        </p:spPr>
      </p:sp>
      <p:sp>
        <p:nvSpPr>
          <p:cNvPr id="21" name="Shape 19"/>
          <p:cNvSpPr/>
          <p:nvPr/>
        </p:nvSpPr>
        <p:spPr>
          <a:xfrm>
            <a:off x="8665899" y="2148840"/>
            <a:ext cx="1345474" cy="1051560"/>
          </a:xfrm>
          <a:prstGeom prst="rect">
            <a:avLst/>
          </a:prstGeom>
          <a:solidFill>
            <a:srgbClr val="132B5E"/>
          </a:solidFill>
          <a:ln/>
        </p:spPr>
      </p:sp>
      <p:sp>
        <p:nvSpPr>
          <p:cNvPr id="22" name="Text 20"/>
          <p:cNvSpPr txBox="1"/>
          <p:nvPr/>
        </p:nvSpPr>
        <p:spPr>
          <a:xfrm>
            <a:off x="8720763" y="2148840"/>
            <a:ext cx="1235746" cy="1051560"/>
          </a:xfrm>
          <a:prstGeom prst="rect">
            <a:avLst/>
          </a:prstGeom>
          <a:noFill/>
          <a:ln/>
        </p:spPr>
        <p:txBody>
          <a:bodyPr wrap="square" lIns="0" tIns="0" rIns="0" bIns="0" rtlCol="0" anchor="ctr"/>
          <a:lstStyle/>
          <a:p>
            <a:pPr algn="ctr" indent="0" marL="0">
              <a:lnSpc>
                <a:spcPct val="110000"/>
              </a:lnSpc>
              <a:buNone/>
            </a:pPr>
            <a:r>
              <a:rPr lang="en-US" sz="1100" b="1" dirty="0">
                <a:solidFill>
                  <a:srgbClr val="FFFFFF"/>
                </a:solidFill>
                <a:latin typeface="Arial" pitchFamily="34" charset="0"/>
                <a:ea typeface="Arial" pitchFamily="34" charset="-122"/>
                <a:cs typeface="Arial" pitchFamily="34" charset="-120"/>
              </a:rPr>
              <a:t>SINH CÂU</a:t>
            </a:r>
            <a:endParaRPr lang="en-US" sz="1100" dirty="0"/>
          </a:p>
          <a:p>
            <a:pPr algn="ctr" indent="0" marL="0">
              <a:lnSpc>
                <a:spcPct val="110000"/>
              </a:lnSpc>
              <a:buNone/>
            </a:pPr>
            <a:r>
              <a:rPr lang="en-US" sz="1100" b="1" dirty="0">
                <a:solidFill>
                  <a:srgbClr val="FFFFFF"/>
                </a:solidFill>
                <a:latin typeface="Arial" pitchFamily="34" charset="0"/>
                <a:ea typeface="Arial" pitchFamily="34" charset="-122"/>
                <a:cs typeface="Arial" pitchFamily="34" charset="-120"/>
              </a:rPr>
              <a:t>TRẢ LỜI</a:t>
            </a:r>
            <a:endParaRPr lang="en-US" sz="1100" dirty="0"/>
          </a:p>
        </p:txBody>
      </p:sp>
      <p:sp>
        <p:nvSpPr>
          <p:cNvPr id="23" name="Shape 21"/>
          <p:cNvSpPr/>
          <p:nvPr/>
        </p:nvSpPr>
        <p:spPr>
          <a:xfrm>
            <a:off x="10052522" y="2537460"/>
            <a:ext cx="192024" cy="274320"/>
          </a:xfrm>
          <a:prstGeom prst="rightArrow">
            <a:avLst/>
          </a:prstGeom>
          <a:solidFill>
            <a:srgbClr val="132B5E"/>
          </a:solidFill>
          <a:ln w="12700">
            <a:solidFill>
              <a:srgbClr val="132B5E"/>
            </a:solidFill>
            <a:prstDash val="solid"/>
          </a:ln>
        </p:spPr>
      </p:sp>
      <p:sp>
        <p:nvSpPr>
          <p:cNvPr id="24" name="Shape 22"/>
          <p:cNvSpPr/>
          <p:nvPr/>
        </p:nvSpPr>
        <p:spPr>
          <a:xfrm>
            <a:off x="10285694" y="2148840"/>
            <a:ext cx="1345474" cy="1051560"/>
          </a:xfrm>
          <a:prstGeom prst="rect">
            <a:avLst/>
          </a:prstGeom>
          <a:solidFill>
            <a:srgbClr val="8CC0E4"/>
          </a:solidFill>
          <a:ln/>
        </p:spPr>
      </p:sp>
      <p:sp>
        <p:nvSpPr>
          <p:cNvPr id="25" name="Text 23"/>
          <p:cNvSpPr txBox="1"/>
          <p:nvPr/>
        </p:nvSpPr>
        <p:spPr>
          <a:xfrm>
            <a:off x="10340558" y="2148840"/>
            <a:ext cx="1235746" cy="1051560"/>
          </a:xfrm>
          <a:prstGeom prst="rect">
            <a:avLst/>
          </a:prstGeom>
          <a:noFill/>
          <a:ln/>
        </p:spPr>
        <p:txBody>
          <a:bodyPr wrap="square" lIns="0" tIns="0" rIns="0" bIns="0" rtlCol="0" anchor="ctr"/>
          <a:lstStyle/>
          <a:p>
            <a:pPr algn="ctr" indent="0" marL="0">
              <a:lnSpc>
                <a:spcPct val="110000"/>
              </a:lnSpc>
              <a:buNone/>
            </a:pPr>
            <a:r>
              <a:rPr lang="en-US" sz="1100" b="1" dirty="0">
                <a:solidFill>
                  <a:srgbClr val="132B5E"/>
                </a:solidFill>
                <a:latin typeface="Arial" pitchFamily="34" charset="0"/>
                <a:ea typeface="Arial" pitchFamily="34" charset="-122"/>
                <a:cs typeface="Arial" pitchFamily="34" charset="-120"/>
              </a:rPr>
              <a:t>KIỂM CHỨNG</a:t>
            </a:r>
            <a:endParaRPr lang="en-US" sz="1100" dirty="0"/>
          </a:p>
          <a:p>
            <a:pPr algn="ctr" indent="0" marL="0">
              <a:lnSpc>
                <a:spcPct val="110000"/>
              </a:lnSpc>
              <a:buNone/>
            </a:pPr>
            <a:r>
              <a:rPr lang="en-US" sz="1100" b="1" dirty="0">
                <a:solidFill>
                  <a:srgbClr val="132B5E"/>
                </a:solidFill>
                <a:latin typeface="Arial" pitchFamily="34" charset="0"/>
                <a:ea typeface="Arial" pitchFamily="34" charset="-122"/>
                <a:cs typeface="Arial" pitchFamily="34" charset="-120"/>
              </a:rPr>
              <a:t>TRÍCH DẪN</a:t>
            </a:r>
            <a:endParaRPr lang="en-US" sz="1100" dirty="0"/>
          </a:p>
        </p:txBody>
      </p:sp>
      <p:sp>
        <p:nvSpPr>
          <p:cNvPr id="26" name="Text 24"/>
          <p:cNvSpPr txBox="1"/>
          <p:nvPr/>
        </p:nvSpPr>
        <p:spPr>
          <a:xfrm>
            <a:off x="566928" y="3703320"/>
            <a:ext cx="4572000" cy="320040"/>
          </a:xfrm>
          <a:prstGeom prst="rect">
            <a:avLst/>
          </a:prstGeom>
          <a:noFill/>
          <a:ln/>
        </p:spPr>
        <p:txBody>
          <a:bodyPr wrap="square" lIns="0" tIns="0" rIns="0" bIns="0" rtlCol="0" anchor="ctr"/>
          <a:lstStyle/>
          <a:p>
            <a:pPr indent="0" marL="0">
              <a:buNone/>
            </a:pPr>
            <a:r>
              <a:rPr lang="en-US" sz="1300" b="1" dirty="0">
                <a:solidFill>
                  <a:srgbClr val="132B5E"/>
                </a:solidFill>
                <a:latin typeface="Arial" pitchFamily="34" charset="0"/>
                <a:ea typeface="Arial" pitchFamily="34" charset="-122"/>
                <a:cs typeface="Arial" pitchFamily="34" charset="-120"/>
              </a:rPr>
              <a:t>Trạng thái trả về</a:t>
            </a:r>
            <a:endParaRPr lang="en-US" sz="1300" dirty="0"/>
          </a:p>
        </p:txBody>
      </p:sp>
      <p:sp>
        <p:nvSpPr>
          <p:cNvPr id="27" name="Shape 25"/>
          <p:cNvSpPr/>
          <p:nvPr/>
        </p:nvSpPr>
        <p:spPr>
          <a:xfrm>
            <a:off x="566928" y="4114800"/>
            <a:ext cx="2606040" cy="1234440"/>
          </a:xfrm>
          <a:prstGeom prst="rect">
            <a:avLst/>
          </a:prstGeom>
          <a:solidFill>
            <a:srgbClr val="8CC0E4"/>
          </a:solidFill>
          <a:ln/>
        </p:spPr>
      </p:sp>
      <p:sp>
        <p:nvSpPr>
          <p:cNvPr id="28" name="Text 26"/>
          <p:cNvSpPr txBox="1"/>
          <p:nvPr/>
        </p:nvSpPr>
        <p:spPr>
          <a:xfrm>
            <a:off x="768096" y="4114800"/>
            <a:ext cx="2203704" cy="1234440"/>
          </a:xfrm>
          <a:prstGeom prst="rect">
            <a:avLst/>
          </a:prstGeom>
          <a:noFill/>
          <a:ln/>
        </p:spPr>
        <p:txBody>
          <a:bodyPr wrap="square" lIns="0" tIns="0" rIns="0" bIns="0" rtlCol="0" anchor="ctr"/>
          <a:lstStyle/>
          <a:p>
            <a:pPr indent="0" marL="0">
              <a:lnSpc>
                <a:spcPct val="120000"/>
              </a:lnSpc>
              <a:buNone/>
            </a:pPr>
            <a:r>
              <a:rPr lang="en-US" sz="1150" b="1" dirty="0">
                <a:solidFill>
                  <a:srgbClr val="132B5E"/>
                </a:solidFill>
                <a:latin typeface="Arial" pitchFamily="34" charset="0"/>
                <a:ea typeface="Arial" pitchFamily="34" charset="-122"/>
                <a:cs typeface="Arial" pitchFamily="34" charset="-120"/>
              </a:rPr>
              <a:t>GROUNDED</a:t>
            </a:r>
            <a:endParaRPr lang="en-US" sz="1150" dirty="0"/>
          </a:p>
          <a:p>
            <a:pPr indent="0" marL="0">
              <a:lnSpc>
                <a:spcPct val="120000"/>
              </a:lnSpc>
              <a:buNone/>
            </a:pPr>
            <a:r>
              <a:rPr lang="en-US" sz="1150" dirty="0">
                <a:solidFill>
                  <a:srgbClr val="132B5E"/>
                </a:solidFill>
                <a:latin typeface="Arial" pitchFamily="34" charset="0"/>
                <a:ea typeface="Arial" pitchFamily="34" charset="-122"/>
                <a:cs typeface="Arial" pitchFamily="34" charset="-120"/>
              </a:rPr>
              <a:t>mọi khẳng định có bằng chứng</a:t>
            </a:r>
            <a:endParaRPr lang="en-US" sz="1150" dirty="0"/>
          </a:p>
        </p:txBody>
      </p:sp>
      <p:sp>
        <p:nvSpPr>
          <p:cNvPr id="29" name="Shape 27"/>
          <p:cNvSpPr/>
          <p:nvPr/>
        </p:nvSpPr>
        <p:spPr>
          <a:xfrm>
            <a:off x="3355848" y="4114800"/>
            <a:ext cx="2606040" cy="1234440"/>
          </a:xfrm>
          <a:prstGeom prst="rect">
            <a:avLst/>
          </a:prstGeom>
          <a:solidFill>
            <a:srgbClr val="8CC0E4"/>
          </a:solidFill>
          <a:ln/>
        </p:spPr>
      </p:sp>
      <p:sp>
        <p:nvSpPr>
          <p:cNvPr id="30" name="Text 28"/>
          <p:cNvSpPr txBox="1"/>
          <p:nvPr/>
        </p:nvSpPr>
        <p:spPr>
          <a:xfrm>
            <a:off x="3557016" y="4114800"/>
            <a:ext cx="2203704" cy="1234440"/>
          </a:xfrm>
          <a:prstGeom prst="rect">
            <a:avLst/>
          </a:prstGeom>
          <a:noFill/>
          <a:ln/>
        </p:spPr>
        <p:txBody>
          <a:bodyPr wrap="square" lIns="0" tIns="0" rIns="0" bIns="0" rtlCol="0" anchor="ctr"/>
          <a:lstStyle/>
          <a:p>
            <a:pPr indent="0" marL="0">
              <a:lnSpc>
                <a:spcPct val="120000"/>
              </a:lnSpc>
              <a:buNone/>
            </a:pPr>
            <a:r>
              <a:rPr lang="en-US" sz="1150" b="1" dirty="0">
                <a:solidFill>
                  <a:srgbClr val="132B5E"/>
                </a:solidFill>
                <a:latin typeface="Arial" pitchFamily="34" charset="0"/>
                <a:ea typeface="Arial" pitchFamily="34" charset="-122"/>
                <a:cs typeface="Arial" pitchFamily="34" charset="-120"/>
              </a:rPr>
              <a:t>PARTIALLY_GROUNDED</a:t>
            </a:r>
            <a:endParaRPr lang="en-US" sz="1150" dirty="0"/>
          </a:p>
          <a:p>
            <a:pPr indent="0" marL="0">
              <a:lnSpc>
                <a:spcPct val="120000"/>
              </a:lnSpc>
              <a:buNone/>
            </a:pPr>
            <a:r>
              <a:rPr lang="en-US" sz="1150" dirty="0">
                <a:solidFill>
                  <a:srgbClr val="132B5E"/>
                </a:solidFill>
                <a:latin typeface="Arial" pitchFamily="34" charset="0"/>
                <a:ea typeface="Arial" pitchFamily="34" charset="-122"/>
                <a:cs typeface="Arial" pitchFamily="34" charset="-120"/>
              </a:rPr>
              <a:t>một phần chưa đủ căn cứ</a:t>
            </a:r>
            <a:endParaRPr lang="en-US" sz="1150" dirty="0"/>
          </a:p>
        </p:txBody>
      </p:sp>
      <p:sp>
        <p:nvSpPr>
          <p:cNvPr id="31" name="Shape 29"/>
          <p:cNvSpPr/>
          <p:nvPr/>
        </p:nvSpPr>
        <p:spPr>
          <a:xfrm>
            <a:off x="6144768" y="4114800"/>
            <a:ext cx="2606040" cy="1234440"/>
          </a:xfrm>
          <a:prstGeom prst="rect">
            <a:avLst/>
          </a:prstGeom>
          <a:solidFill>
            <a:srgbClr val="132B5E"/>
          </a:solidFill>
          <a:ln/>
        </p:spPr>
      </p:sp>
      <p:sp>
        <p:nvSpPr>
          <p:cNvPr id="32" name="Text 30"/>
          <p:cNvSpPr txBox="1"/>
          <p:nvPr/>
        </p:nvSpPr>
        <p:spPr>
          <a:xfrm>
            <a:off x="6345936" y="4114800"/>
            <a:ext cx="2203704" cy="1234440"/>
          </a:xfrm>
          <a:prstGeom prst="rect">
            <a:avLst/>
          </a:prstGeom>
          <a:noFill/>
          <a:ln/>
        </p:spPr>
        <p:txBody>
          <a:bodyPr wrap="square" lIns="0" tIns="0" rIns="0" bIns="0" rtlCol="0" anchor="ctr"/>
          <a:lstStyle/>
          <a:p>
            <a:pPr indent="0" marL="0">
              <a:lnSpc>
                <a:spcPct val="120000"/>
              </a:lnSpc>
              <a:buNone/>
            </a:pPr>
            <a:r>
              <a:rPr lang="en-US" sz="1150" b="1" dirty="0">
                <a:solidFill>
                  <a:srgbClr val="FFFFFF"/>
                </a:solidFill>
                <a:latin typeface="Arial" pitchFamily="34" charset="0"/>
                <a:ea typeface="Arial" pitchFamily="34" charset="-122"/>
                <a:cs typeface="Arial" pitchFamily="34" charset="-120"/>
              </a:rPr>
              <a:t>INSUFFICIENT_EVIDENCE</a:t>
            </a:r>
            <a:endParaRPr lang="en-US" sz="1150" dirty="0"/>
          </a:p>
          <a:p>
            <a:pPr indent="0" marL="0">
              <a:lnSpc>
                <a:spcPct val="120000"/>
              </a:lnSpc>
              <a:buNone/>
            </a:pPr>
            <a:r>
              <a:rPr lang="en-US" sz="1150" dirty="0">
                <a:solidFill>
                  <a:srgbClr val="FFFFFF"/>
                </a:solidFill>
                <a:latin typeface="Arial" pitchFamily="34" charset="0"/>
                <a:ea typeface="Arial" pitchFamily="34" charset="-122"/>
                <a:cs typeface="Arial" pitchFamily="34" charset="-120"/>
              </a:rPr>
              <a:t>từ chối, không gọi mô hình</a:t>
            </a:r>
            <a:endParaRPr lang="en-US" sz="1150" dirty="0"/>
          </a:p>
        </p:txBody>
      </p:sp>
      <p:sp>
        <p:nvSpPr>
          <p:cNvPr id="33" name="Shape 31"/>
          <p:cNvSpPr/>
          <p:nvPr/>
        </p:nvSpPr>
        <p:spPr>
          <a:xfrm>
            <a:off x="8933688" y="4114800"/>
            <a:ext cx="2606040" cy="1234440"/>
          </a:xfrm>
          <a:prstGeom prst="rect">
            <a:avLst/>
          </a:prstGeom>
          <a:solidFill>
            <a:srgbClr val="8CC0E4"/>
          </a:solidFill>
          <a:ln/>
        </p:spPr>
      </p:sp>
      <p:sp>
        <p:nvSpPr>
          <p:cNvPr id="34" name="Text 32"/>
          <p:cNvSpPr txBox="1"/>
          <p:nvPr/>
        </p:nvSpPr>
        <p:spPr>
          <a:xfrm>
            <a:off x="9134856" y="4114800"/>
            <a:ext cx="2203704" cy="1234440"/>
          </a:xfrm>
          <a:prstGeom prst="rect">
            <a:avLst/>
          </a:prstGeom>
          <a:noFill/>
          <a:ln/>
        </p:spPr>
        <p:txBody>
          <a:bodyPr wrap="square" lIns="0" tIns="0" rIns="0" bIns="0" rtlCol="0" anchor="ctr"/>
          <a:lstStyle/>
          <a:p>
            <a:pPr indent="0" marL="0">
              <a:lnSpc>
                <a:spcPct val="120000"/>
              </a:lnSpc>
              <a:buNone/>
            </a:pPr>
            <a:r>
              <a:rPr lang="en-US" sz="1150" b="1" dirty="0">
                <a:solidFill>
                  <a:srgbClr val="132B5E"/>
                </a:solidFill>
                <a:latin typeface="Arial" pitchFamily="34" charset="0"/>
                <a:ea typeface="Arial" pitchFamily="34" charset="-122"/>
                <a:cs typeface="Arial" pitchFamily="34" charset="-120"/>
              </a:rPr>
              <a:t>CONFLICTING_EVIDENCE</a:t>
            </a:r>
            <a:endParaRPr lang="en-US" sz="1150" dirty="0"/>
          </a:p>
          <a:p>
            <a:pPr indent="0" marL="0">
              <a:lnSpc>
                <a:spcPct val="120000"/>
              </a:lnSpc>
              <a:buNone/>
            </a:pPr>
            <a:r>
              <a:rPr lang="en-US" sz="1150" dirty="0">
                <a:solidFill>
                  <a:srgbClr val="132B5E"/>
                </a:solidFill>
                <a:latin typeface="Arial" pitchFamily="34" charset="0"/>
                <a:ea typeface="Arial" pitchFamily="34" charset="-122"/>
                <a:cs typeface="Arial" pitchFamily="34" charset="-120"/>
              </a:rPr>
              <a:t>tài liệu mâu thuẫn nhau</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FEFEE"/>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8A8F98"/>
                </a:solidFill>
                <a:latin typeface="Arial" pitchFamily="34" charset="0"/>
                <a:ea typeface="Arial" pitchFamily="34" charset="-122"/>
                <a:cs typeface="Arial" pitchFamily="34" charset="-120"/>
              </a:rPr>
              <a:t>RAG RELIABILITY PLATFORM  ·  Báo cáo đồ án môn học</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8A8F98"/>
                </a:solidFill>
                <a:latin typeface="Arial" pitchFamily="34" charset="0"/>
                <a:ea typeface="Arial" pitchFamily="34" charset="-122"/>
                <a:cs typeface="Arial" pitchFamily="34" charset="-120"/>
              </a:rPr>
              <a:t>12</a:t>
            </a:r>
            <a:endParaRPr lang="en-US" sz="900" dirty="0"/>
          </a:p>
        </p:txBody>
      </p:sp>
      <p:sp>
        <p:nvSpPr>
          <p:cNvPr id="4" name="Text 2"/>
          <p:cNvSpPr txBox="1"/>
          <p:nvPr/>
        </p:nvSpPr>
        <p:spPr>
          <a:xfrm>
            <a:off x="566928" y="384048"/>
            <a:ext cx="10881360" cy="777240"/>
          </a:xfrm>
          <a:prstGeom prst="rect">
            <a:avLst/>
          </a:prstGeom>
          <a:noFill/>
          <a:ln/>
        </p:spPr>
        <p:txBody>
          <a:bodyPr wrap="square" lIns="0" tIns="0" rIns="0" bIns="0" rtlCol="0" anchor="t"/>
          <a:lstStyle/>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NẠP TÀI LIỆU VÀO KHO TRI THỨC</a:t>
            </a:r>
            <a:endParaRPr lang="en-US" sz="3200" dirty="0"/>
          </a:p>
        </p:txBody>
      </p:sp>
      <p:sp>
        <p:nvSpPr>
          <p:cNvPr id="5" name="Text 3"/>
          <p:cNvSpPr txBox="1"/>
          <p:nvPr/>
        </p:nvSpPr>
        <p:spPr>
          <a:xfrm>
            <a:off x="566928" y="1188720"/>
            <a:ext cx="10881360" cy="548640"/>
          </a:xfrm>
          <a:prstGeom prst="rect">
            <a:avLst/>
          </a:prstGeom>
          <a:noFill/>
          <a:ln/>
        </p:spPr>
        <p:txBody>
          <a:bodyPr wrap="square" lIns="0" tIns="0" rIns="0" bIns="0" rtlCol="0" anchor="t"/>
          <a:lstStyle/>
          <a:p>
            <a:pPr indent="0" marL="0">
              <a:lnSpc>
                <a:spcPct val="128000"/>
              </a:lnSpc>
              <a:buNone/>
            </a:pPr>
            <a:r>
              <a:rPr lang="en-US" sz="1450" dirty="0">
                <a:solidFill>
                  <a:srgbClr val="1F3A6E"/>
                </a:solidFill>
                <a:latin typeface="Arial" pitchFamily="34" charset="0"/>
                <a:ea typeface="Arial" pitchFamily="34" charset="-122"/>
                <a:cs typeface="Arial" pitchFamily="34" charset="-120"/>
              </a:rPr>
              <a:t>Chín chặng, mỗi chặng ghi một bản ghi công việc kèm trạng thái, số lần thử và số liệu đo. Hỏng ở đâu biết ngay ở đó.</a:t>
            </a:r>
            <a:endParaRPr lang="en-US" sz="1450" dirty="0"/>
          </a:p>
        </p:txBody>
      </p:sp>
      <p:sp>
        <p:nvSpPr>
          <p:cNvPr id="6" name="Shape 4"/>
          <p:cNvSpPr/>
          <p:nvPr/>
        </p:nvSpPr>
        <p:spPr>
          <a:xfrm>
            <a:off x="2718054" y="1920240"/>
            <a:ext cx="6944868" cy="4023360"/>
          </a:xfrm>
          <a:prstGeom prst="rect">
            <a:avLst/>
          </a:prstGeom>
          <a:solidFill>
            <a:srgbClr val="132B5E"/>
          </a:solidFill>
          <a:ln/>
        </p:spPr>
      </p:sp>
      <p:sp>
        <p:nvSpPr>
          <p:cNvPr id="7" name="Shape 5"/>
          <p:cNvSpPr/>
          <p:nvPr/>
        </p:nvSpPr>
        <p:spPr>
          <a:xfrm>
            <a:off x="2626614" y="1828800"/>
            <a:ext cx="6944868" cy="4023360"/>
          </a:xfrm>
          <a:prstGeom prst="rect">
            <a:avLst/>
          </a:prstGeom>
          <a:solidFill>
            <a:srgbClr val="FFFFFF"/>
          </a:solidFill>
          <a:ln w="12700">
            <a:solidFill>
              <a:srgbClr val="FFFFFF"/>
            </a:solidFill>
            <a:prstDash val="solid"/>
          </a:ln>
        </p:spPr>
      </p:sp>
      <p:pic>
        <p:nvPicPr>
          <p:cNvPr id="8" name="Image 0" descr="/private/tmp/claude-501/-Volumes-Data-Documents-rag-reliability/6db8fc1f-3028-4f02-8952-927e30b47723/scratchpad/report/img/d03-ingestion.png">    </p:cNvPr>
          <p:cNvPicPr>
            <a:picLocks noChangeAspect="1"/>
          </p:cNvPicPr>
          <p:nvPr/>
        </p:nvPicPr>
        <p:blipFill>
          <a:blip r:embed="rId1"/>
          <a:stretch>
            <a:fillRect/>
          </a:stretch>
        </p:blipFill>
        <p:spPr>
          <a:xfrm>
            <a:off x="2690622" y="1892808"/>
            <a:ext cx="6816852" cy="389534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FEFEE"/>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8A8F98"/>
                </a:solidFill>
                <a:latin typeface="Arial" pitchFamily="34" charset="0"/>
                <a:ea typeface="Arial" pitchFamily="34" charset="-122"/>
                <a:cs typeface="Arial" pitchFamily="34" charset="-120"/>
              </a:rPr>
              <a:t>RAG RELIABILITY PLATFORM  ·  Báo cáo đồ án môn học</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8A8F98"/>
                </a:solidFill>
                <a:latin typeface="Arial" pitchFamily="34" charset="0"/>
                <a:ea typeface="Arial" pitchFamily="34" charset="-122"/>
                <a:cs typeface="Arial" pitchFamily="34" charset="-120"/>
              </a:rPr>
              <a:t>13</a:t>
            </a:r>
            <a:endParaRPr lang="en-US" sz="900" dirty="0"/>
          </a:p>
        </p:txBody>
      </p:sp>
      <p:sp>
        <p:nvSpPr>
          <p:cNvPr id="4" name="Text 2"/>
          <p:cNvSpPr txBox="1"/>
          <p:nvPr/>
        </p:nvSpPr>
        <p:spPr>
          <a:xfrm>
            <a:off x="566928" y="384048"/>
            <a:ext cx="5303520" cy="1234440"/>
          </a:xfrm>
          <a:prstGeom prst="rect">
            <a:avLst/>
          </a:prstGeom>
          <a:noFill/>
          <a:ln/>
        </p:spPr>
        <p:txBody>
          <a:bodyPr wrap="square" lIns="0" tIns="0" rIns="0" bIns="0" rtlCol="0" anchor="t"/>
          <a:lstStyle/>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TRUY HỒI</a:t>
            </a:r>
            <a:endParaRPr lang="en-US" sz="3200" dirty="0"/>
          </a:p>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BA NGUỒN</a:t>
            </a:r>
            <a:endParaRPr lang="en-US" sz="3200" dirty="0"/>
          </a:p>
        </p:txBody>
      </p:sp>
      <p:sp>
        <p:nvSpPr>
          <p:cNvPr id="5" name="Shape 3"/>
          <p:cNvSpPr/>
          <p:nvPr/>
        </p:nvSpPr>
        <p:spPr>
          <a:xfrm>
            <a:off x="566928" y="1920240"/>
            <a:ext cx="5394960" cy="877824"/>
          </a:xfrm>
          <a:prstGeom prst="parallelogram">
            <a:avLst/>
          </a:prstGeom>
          <a:solidFill>
            <a:srgbClr val="8CC0E4"/>
          </a:solidFill>
          <a:ln w="12700">
            <a:solidFill>
              <a:srgbClr val="8CC0E4"/>
            </a:solidFill>
            <a:prstDash val="solid"/>
          </a:ln>
        </p:spPr>
      </p:sp>
      <p:sp>
        <p:nvSpPr>
          <p:cNvPr id="6" name="Text 4"/>
          <p:cNvSpPr txBox="1"/>
          <p:nvPr/>
        </p:nvSpPr>
        <p:spPr>
          <a:xfrm>
            <a:off x="1024128" y="1920240"/>
            <a:ext cx="4480560" cy="877824"/>
          </a:xfrm>
          <a:prstGeom prst="rect">
            <a:avLst/>
          </a:prstGeom>
          <a:noFill/>
          <a:ln/>
        </p:spPr>
        <p:txBody>
          <a:bodyPr wrap="square" lIns="0" tIns="0" rIns="0" bIns="0" rtlCol="0" anchor="ctr"/>
          <a:lstStyle/>
          <a:p>
            <a:pPr indent="0" marL="0">
              <a:lnSpc>
                <a:spcPct val="120000"/>
              </a:lnSpc>
              <a:buNone/>
            </a:pPr>
            <a:r>
              <a:rPr lang="en-US" sz="1350" b="1" dirty="0">
                <a:solidFill>
                  <a:srgbClr val="132B5E"/>
                </a:solidFill>
                <a:latin typeface="Arial" pitchFamily="34" charset="0"/>
                <a:ea typeface="Arial" pitchFamily="34" charset="-122"/>
                <a:cs typeface="Arial" pitchFamily="34" charset="-120"/>
              </a:rPr>
              <a:t>VECTOR</a:t>
            </a:r>
            <a:endParaRPr lang="en-US" sz="1350" dirty="0"/>
          </a:p>
          <a:p>
            <a:pPr indent="0" marL="0">
              <a:lnSpc>
                <a:spcPct val="120000"/>
              </a:lnSpc>
              <a:buNone/>
            </a:pPr>
            <a:r>
              <a:rPr lang="en-US" sz="1350" dirty="0">
                <a:solidFill>
                  <a:srgbClr val="132B5E"/>
                </a:solidFill>
                <a:latin typeface="Arial" pitchFamily="34" charset="0"/>
                <a:ea typeface="Arial" pitchFamily="34" charset="-122"/>
                <a:cs typeface="Arial" pitchFamily="34" charset="-120"/>
              </a:rPr>
              <a:t>hiểu cách diễn đạt khác nhau của cùng một ý</a:t>
            </a:r>
            <a:endParaRPr lang="en-US" sz="1350" dirty="0"/>
          </a:p>
        </p:txBody>
      </p:sp>
      <p:sp>
        <p:nvSpPr>
          <p:cNvPr id="7" name="Shape 5"/>
          <p:cNvSpPr/>
          <p:nvPr/>
        </p:nvSpPr>
        <p:spPr>
          <a:xfrm>
            <a:off x="566928" y="3017520"/>
            <a:ext cx="5394960" cy="877824"/>
          </a:xfrm>
          <a:prstGeom prst="parallelogram">
            <a:avLst/>
          </a:prstGeom>
          <a:solidFill>
            <a:srgbClr val="8CC0E4"/>
          </a:solidFill>
          <a:ln w="12700">
            <a:solidFill>
              <a:srgbClr val="8CC0E4"/>
            </a:solidFill>
            <a:prstDash val="solid"/>
          </a:ln>
        </p:spPr>
      </p:sp>
      <p:sp>
        <p:nvSpPr>
          <p:cNvPr id="8" name="Text 6"/>
          <p:cNvSpPr txBox="1"/>
          <p:nvPr/>
        </p:nvSpPr>
        <p:spPr>
          <a:xfrm>
            <a:off x="1024128" y="3017520"/>
            <a:ext cx="4480560" cy="877824"/>
          </a:xfrm>
          <a:prstGeom prst="rect">
            <a:avLst/>
          </a:prstGeom>
          <a:noFill/>
          <a:ln/>
        </p:spPr>
        <p:txBody>
          <a:bodyPr wrap="square" lIns="0" tIns="0" rIns="0" bIns="0" rtlCol="0" anchor="ctr"/>
          <a:lstStyle/>
          <a:p>
            <a:pPr indent="0" marL="0">
              <a:lnSpc>
                <a:spcPct val="120000"/>
              </a:lnSpc>
              <a:buNone/>
            </a:pPr>
            <a:r>
              <a:rPr lang="en-US" sz="1350" b="1" dirty="0">
                <a:solidFill>
                  <a:srgbClr val="132B5E"/>
                </a:solidFill>
                <a:latin typeface="Arial" pitchFamily="34" charset="0"/>
                <a:ea typeface="Arial" pitchFamily="34" charset="-122"/>
                <a:cs typeface="Arial" pitchFamily="34" charset="-120"/>
              </a:rPr>
              <a:t>TỪ KHOÁ</a:t>
            </a:r>
            <a:endParaRPr lang="en-US" sz="1350" dirty="0"/>
          </a:p>
          <a:p>
            <a:pPr indent="0" marL="0">
              <a:lnSpc>
                <a:spcPct val="120000"/>
              </a:lnSpc>
              <a:buNone/>
            </a:pPr>
            <a:r>
              <a:rPr lang="en-US" sz="1350" dirty="0">
                <a:solidFill>
                  <a:srgbClr val="132B5E"/>
                </a:solidFill>
                <a:latin typeface="Arial" pitchFamily="34" charset="0"/>
                <a:ea typeface="Arial" pitchFamily="34" charset="-122"/>
                <a:cs typeface="Arial" pitchFamily="34" charset="-120"/>
              </a:rPr>
              <a:t>khớp chính xác mã văn bản, số quyết định, tên riêng</a:t>
            </a:r>
            <a:endParaRPr lang="en-US" sz="1350" dirty="0"/>
          </a:p>
        </p:txBody>
      </p:sp>
      <p:sp>
        <p:nvSpPr>
          <p:cNvPr id="9" name="Shape 7"/>
          <p:cNvSpPr/>
          <p:nvPr/>
        </p:nvSpPr>
        <p:spPr>
          <a:xfrm>
            <a:off x="566928" y="4114800"/>
            <a:ext cx="5394960" cy="877824"/>
          </a:xfrm>
          <a:prstGeom prst="parallelogram">
            <a:avLst/>
          </a:prstGeom>
          <a:solidFill>
            <a:srgbClr val="8CC0E4"/>
          </a:solidFill>
          <a:ln w="12700">
            <a:solidFill>
              <a:srgbClr val="8CC0E4"/>
            </a:solidFill>
            <a:prstDash val="solid"/>
          </a:ln>
        </p:spPr>
      </p:sp>
      <p:sp>
        <p:nvSpPr>
          <p:cNvPr id="10" name="Text 8"/>
          <p:cNvSpPr txBox="1"/>
          <p:nvPr/>
        </p:nvSpPr>
        <p:spPr>
          <a:xfrm>
            <a:off x="1024128" y="4114800"/>
            <a:ext cx="4480560" cy="877824"/>
          </a:xfrm>
          <a:prstGeom prst="rect">
            <a:avLst/>
          </a:prstGeom>
          <a:noFill/>
          <a:ln/>
        </p:spPr>
        <p:txBody>
          <a:bodyPr wrap="square" lIns="0" tIns="0" rIns="0" bIns="0" rtlCol="0" anchor="ctr"/>
          <a:lstStyle/>
          <a:p>
            <a:pPr indent="0" marL="0">
              <a:lnSpc>
                <a:spcPct val="120000"/>
              </a:lnSpc>
              <a:buNone/>
            </a:pPr>
            <a:r>
              <a:rPr lang="en-US" sz="1350" b="1" dirty="0">
                <a:solidFill>
                  <a:srgbClr val="132B5E"/>
                </a:solidFill>
                <a:latin typeface="Arial" pitchFamily="34" charset="0"/>
                <a:ea typeface="Arial" pitchFamily="34" charset="-122"/>
                <a:cs typeface="Arial" pitchFamily="34" charset="-120"/>
              </a:rPr>
              <a:t>ĐỒ THỊ</a:t>
            </a:r>
            <a:endParaRPr lang="en-US" sz="1350" dirty="0"/>
          </a:p>
          <a:p>
            <a:pPr indent="0" marL="0">
              <a:lnSpc>
                <a:spcPct val="120000"/>
              </a:lnSpc>
              <a:buNone/>
            </a:pPr>
            <a:r>
              <a:rPr lang="en-US" sz="1350" dirty="0">
                <a:solidFill>
                  <a:srgbClr val="132B5E"/>
                </a:solidFill>
                <a:latin typeface="Arial" pitchFamily="34" charset="0"/>
                <a:ea typeface="Arial" pitchFamily="34" charset="-122"/>
                <a:cs typeface="Arial" pitchFamily="34" charset="-120"/>
              </a:rPr>
              <a:t>nối nhiều thực thể rải trong nhiều tài liệu</a:t>
            </a:r>
            <a:endParaRPr lang="en-US" sz="1350" dirty="0"/>
          </a:p>
        </p:txBody>
      </p:sp>
      <p:sp>
        <p:nvSpPr>
          <p:cNvPr id="11" name="Text 9"/>
          <p:cNvSpPr txBox="1"/>
          <p:nvPr/>
        </p:nvSpPr>
        <p:spPr>
          <a:xfrm>
            <a:off x="566928" y="5349240"/>
            <a:ext cx="5394960" cy="822960"/>
          </a:xfrm>
          <a:prstGeom prst="rect">
            <a:avLst/>
          </a:prstGeom>
          <a:noFill/>
          <a:ln/>
        </p:spPr>
        <p:txBody>
          <a:bodyPr wrap="square" lIns="0" tIns="0" rIns="0" bIns="0" rtlCol="0" anchor="ctr"/>
          <a:lstStyle/>
          <a:p>
            <a:pPr indent="0" marL="0">
              <a:lnSpc>
                <a:spcPct val="125000"/>
              </a:lnSpc>
              <a:buNone/>
            </a:pPr>
            <a:r>
              <a:rPr lang="en-US" sz="1250" dirty="0">
                <a:solidFill>
                  <a:srgbClr val="1F3A6E"/>
                </a:solidFill>
                <a:latin typeface="Arial" pitchFamily="34" charset="0"/>
                <a:ea typeface="Arial" pitchFamily="34" charset="-122"/>
                <a:cs typeface="Arial" pitchFamily="34" charset="-120"/>
              </a:rPr>
              <a:t>Điểm hợp nhất chuẩn hoá theo trần lý thuyết, nên một tập kết quả toàn đoạn yếu không bị đẩy lên điểm tối đa.</a:t>
            </a:r>
            <a:endParaRPr lang="en-US" sz="1250" dirty="0"/>
          </a:p>
        </p:txBody>
      </p:sp>
      <p:sp>
        <p:nvSpPr>
          <p:cNvPr id="12" name="Shape 10"/>
          <p:cNvSpPr/>
          <p:nvPr/>
        </p:nvSpPr>
        <p:spPr>
          <a:xfrm>
            <a:off x="6400800" y="1691640"/>
            <a:ext cx="5394960" cy="2481331"/>
          </a:xfrm>
          <a:prstGeom prst="rect">
            <a:avLst/>
          </a:prstGeom>
          <a:solidFill>
            <a:srgbClr val="132B5E"/>
          </a:solidFill>
          <a:ln/>
        </p:spPr>
      </p:sp>
      <p:sp>
        <p:nvSpPr>
          <p:cNvPr id="13" name="Shape 11"/>
          <p:cNvSpPr/>
          <p:nvPr/>
        </p:nvSpPr>
        <p:spPr>
          <a:xfrm>
            <a:off x="6309360" y="1600200"/>
            <a:ext cx="5394960" cy="2481331"/>
          </a:xfrm>
          <a:prstGeom prst="rect">
            <a:avLst/>
          </a:prstGeom>
          <a:solidFill>
            <a:srgbClr val="FFFFFF"/>
          </a:solidFill>
          <a:ln w="12700">
            <a:solidFill>
              <a:srgbClr val="FFFFFF"/>
            </a:solidFill>
            <a:prstDash val="solid"/>
          </a:ln>
        </p:spPr>
      </p:sp>
      <p:pic>
        <p:nvPicPr>
          <p:cNvPr id="14" name="Image 0" descr="/private/tmp/claude-501/-Volumes-Data-Documents-rag-reliability/6db8fc1f-3028-4f02-8952-927e30b47723/scratchpad/report/img/d08-fusion.png">    </p:cNvPr>
          <p:cNvPicPr>
            <a:picLocks noChangeAspect="1"/>
          </p:cNvPicPr>
          <p:nvPr/>
        </p:nvPicPr>
        <p:blipFill>
          <a:blip r:embed="rId1"/>
          <a:stretch>
            <a:fillRect/>
          </a:stretch>
        </p:blipFill>
        <p:spPr>
          <a:xfrm>
            <a:off x="6373368" y="1664208"/>
            <a:ext cx="5266944" cy="235331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FEFEE"/>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8A8F98"/>
                </a:solidFill>
                <a:latin typeface="Arial" pitchFamily="34" charset="0"/>
                <a:ea typeface="Arial" pitchFamily="34" charset="-122"/>
                <a:cs typeface="Arial" pitchFamily="34" charset="-120"/>
              </a:rPr>
              <a:t>RAG RELIABILITY PLATFORM  ·  Báo cáo đồ án môn học</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8A8F98"/>
                </a:solidFill>
                <a:latin typeface="Arial" pitchFamily="34" charset="0"/>
                <a:ea typeface="Arial" pitchFamily="34" charset="-122"/>
                <a:cs typeface="Arial" pitchFamily="34" charset="-120"/>
              </a:rPr>
              <a:t>14</a:t>
            </a:r>
            <a:endParaRPr lang="en-US" sz="900" dirty="0"/>
          </a:p>
        </p:txBody>
      </p:sp>
      <p:sp>
        <p:nvSpPr>
          <p:cNvPr id="4" name="Text 2"/>
          <p:cNvSpPr txBox="1"/>
          <p:nvPr/>
        </p:nvSpPr>
        <p:spPr>
          <a:xfrm>
            <a:off x="566928" y="384048"/>
            <a:ext cx="10881360" cy="777240"/>
          </a:xfrm>
          <a:prstGeom prst="rect">
            <a:avLst/>
          </a:prstGeom>
          <a:noFill/>
          <a:ln/>
        </p:spPr>
        <p:txBody>
          <a:bodyPr wrap="square" lIns="0" tIns="0" rIns="0" bIns="0" rtlCol="0" anchor="t"/>
          <a:lstStyle/>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CHỐT CHẶN TRƯỚC KHI GỌI MÔ HÌNH</a:t>
            </a:r>
            <a:endParaRPr lang="en-US" sz="3200" dirty="0"/>
          </a:p>
        </p:txBody>
      </p:sp>
      <p:sp>
        <p:nvSpPr>
          <p:cNvPr id="5" name="Text 3"/>
          <p:cNvSpPr txBox="1"/>
          <p:nvPr/>
        </p:nvSpPr>
        <p:spPr>
          <a:xfrm>
            <a:off x="566928" y="1188720"/>
            <a:ext cx="10881360" cy="594360"/>
          </a:xfrm>
          <a:prstGeom prst="rect">
            <a:avLst/>
          </a:prstGeom>
          <a:noFill/>
          <a:ln/>
        </p:spPr>
        <p:txBody>
          <a:bodyPr wrap="square" lIns="0" tIns="0" rIns="0" bIns="0" rtlCol="0" anchor="t"/>
          <a:lstStyle/>
          <a:p>
            <a:pPr indent="0" marL="0">
              <a:lnSpc>
                <a:spcPct val="128000"/>
              </a:lnSpc>
              <a:buNone/>
            </a:pPr>
            <a:r>
              <a:rPr lang="en-US" sz="1450" dirty="0">
                <a:solidFill>
                  <a:srgbClr val="1F3A6E"/>
                </a:solidFill>
                <a:latin typeface="Arial" pitchFamily="34" charset="0"/>
                <a:ea typeface="Arial" pitchFamily="34" charset="-122"/>
                <a:cs typeface="Arial" pitchFamily="34" charset="-120"/>
              </a:rPr>
              <a:t>Nếu số đoạn hoặc điểm liên quan không đạt ngưỡng, hệ thống trả về trạng thái từ chối và không tốn một token nào. Đây là biện pháp chống bịa rẻ nhất trong toàn hệ thống.</a:t>
            </a:r>
            <a:endParaRPr lang="en-US" sz="1450" dirty="0"/>
          </a:p>
        </p:txBody>
      </p:sp>
      <p:sp>
        <p:nvSpPr>
          <p:cNvPr id="6" name="Shape 4"/>
          <p:cNvSpPr/>
          <p:nvPr/>
        </p:nvSpPr>
        <p:spPr>
          <a:xfrm>
            <a:off x="2241642" y="2011680"/>
            <a:ext cx="7897692" cy="3931920"/>
          </a:xfrm>
          <a:prstGeom prst="rect">
            <a:avLst/>
          </a:prstGeom>
          <a:solidFill>
            <a:srgbClr val="132B5E"/>
          </a:solidFill>
          <a:ln/>
        </p:spPr>
      </p:sp>
      <p:sp>
        <p:nvSpPr>
          <p:cNvPr id="7" name="Shape 5"/>
          <p:cNvSpPr/>
          <p:nvPr/>
        </p:nvSpPr>
        <p:spPr>
          <a:xfrm>
            <a:off x="2150202" y="1920240"/>
            <a:ext cx="7897692" cy="3931920"/>
          </a:xfrm>
          <a:prstGeom prst="rect">
            <a:avLst/>
          </a:prstGeom>
          <a:solidFill>
            <a:srgbClr val="FFFFFF"/>
          </a:solidFill>
          <a:ln w="12700">
            <a:solidFill>
              <a:srgbClr val="FFFFFF"/>
            </a:solidFill>
            <a:prstDash val="solid"/>
          </a:ln>
        </p:spPr>
      </p:sp>
      <p:pic>
        <p:nvPicPr>
          <p:cNvPr id="8" name="Image 0" descr="/private/tmp/claude-501/-Volumes-Data-Documents-rag-reliability/6db8fc1f-3028-4f02-8952-927e30b47723/scratchpad/report/img/d14-status.png">    </p:cNvPr>
          <p:cNvPicPr>
            <a:picLocks noChangeAspect="1"/>
          </p:cNvPicPr>
          <p:nvPr/>
        </p:nvPicPr>
        <p:blipFill>
          <a:blip r:embed="rId1"/>
          <a:stretch>
            <a:fillRect/>
          </a:stretch>
        </p:blipFill>
        <p:spPr>
          <a:xfrm>
            <a:off x="2214210" y="1984248"/>
            <a:ext cx="7769676" cy="380390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FEFEE"/>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8A8F98"/>
                </a:solidFill>
                <a:latin typeface="Arial" pitchFamily="34" charset="0"/>
                <a:ea typeface="Arial" pitchFamily="34" charset="-122"/>
                <a:cs typeface="Arial" pitchFamily="34" charset="-120"/>
              </a:rPr>
              <a:t>RAG RELIABILITY PLATFORM  ·  Báo cáo đồ án môn học</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8A8F98"/>
                </a:solidFill>
                <a:latin typeface="Arial" pitchFamily="34" charset="0"/>
                <a:ea typeface="Arial" pitchFamily="34" charset="-122"/>
                <a:cs typeface="Arial" pitchFamily="34" charset="-120"/>
              </a:rPr>
              <a:t>15</a:t>
            </a:r>
            <a:endParaRPr lang="en-US" sz="900" dirty="0"/>
          </a:p>
        </p:txBody>
      </p:sp>
      <p:sp>
        <p:nvSpPr>
          <p:cNvPr id="4" name="Text 2"/>
          <p:cNvSpPr txBox="1"/>
          <p:nvPr/>
        </p:nvSpPr>
        <p:spPr>
          <a:xfrm>
            <a:off x="566928" y="384048"/>
            <a:ext cx="5303520" cy="1234440"/>
          </a:xfrm>
          <a:prstGeom prst="rect">
            <a:avLst/>
          </a:prstGeom>
          <a:noFill/>
          <a:ln/>
        </p:spPr>
        <p:txBody>
          <a:bodyPr wrap="square" lIns="0" tIns="0" rIns="0" bIns="0" rtlCol="0" anchor="t"/>
          <a:lstStyle/>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KIỂM CHỨNG</a:t>
            </a:r>
            <a:endParaRPr lang="en-US" sz="3200" dirty="0"/>
          </a:p>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CẤP KHẲNG ĐỊNH</a:t>
            </a:r>
            <a:endParaRPr lang="en-US" sz="3200" dirty="0"/>
          </a:p>
        </p:txBody>
      </p:sp>
      <p:sp>
        <p:nvSpPr>
          <p:cNvPr id="5" name="Shape 3"/>
          <p:cNvSpPr/>
          <p:nvPr/>
        </p:nvSpPr>
        <p:spPr>
          <a:xfrm>
            <a:off x="566928" y="1828800"/>
            <a:ext cx="420624" cy="420624"/>
          </a:xfrm>
          <a:prstGeom prst="rect">
            <a:avLst/>
          </a:prstGeom>
          <a:solidFill>
            <a:srgbClr val="8CC0E4"/>
          </a:solidFill>
          <a:ln/>
        </p:spPr>
      </p:sp>
      <p:sp>
        <p:nvSpPr>
          <p:cNvPr id="6" name="Text 4"/>
          <p:cNvSpPr txBox="1"/>
          <p:nvPr/>
        </p:nvSpPr>
        <p:spPr>
          <a:xfrm>
            <a:off x="566928" y="1828800"/>
            <a:ext cx="420624" cy="420624"/>
          </a:xfrm>
          <a:prstGeom prst="rect">
            <a:avLst/>
          </a:prstGeom>
          <a:noFill/>
          <a:ln/>
        </p:spPr>
        <p:txBody>
          <a:bodyPr wrap="square" lIns="0" tIns="0" rIns="0" bIns="0" rtlCol="0" anchor="ctr"/>
          <a:lstStyle/>
          <a:p>
            <a:pPr algn="ctr" indent="0" marL="0">
              <a:buNone/>
            </a:pPr>
            <a:r>
              <a:rPr lang="en-US" sz="1500" b="1" dirty="0">
                <a:solidFill>
                  <a:srgbClr val="132B5E"/>
                </a:solidFill>
                <a:latin typeface="Arial" pitchFamily="34" charset="0"/>
                <a:ea typeface="Arial" pitchFamily="34" charset="-122"/>
                <a:cs typeface="Arial" pitchFamily="34" charset="-120"/>
              </a:rPr>
              <a:t>1</a:t>
            </a:r>
            <a:endParaRPr lang="en-US" sz="1500" dirty="0"/>
          </a:p>
        </p:txBody>
      </p:sp>
      <p:sp>
        <p:nvSpPr>
          <p:cNvPr id="7" name="Text 5"/>
          <p:cNvSpPr txBox="1"/>
          <p:nvPr/>
        </p:nvSpPr>
        <p:spPr>
          <a:xfrm>
            <a:off x="1188720" y="1828800"/>
            <a:ext cx="5120640" cy="420624"/>
          </a:xfrm>
          <a:prstGeom prst="rect">
            <a:avLst/>
          </a:prstGeom>
          <a:noFill/>
          <a:ln/>
        </p:spPr>
        <p:txBody>
          <a:bodyPr wrap="square" lIns="0" tIns="0" rIns="0" bIns="0" rtlCol="0" anchor="ctr"/>
          <a:lstStyle/>
          <a:p>
            <a:pPr indent="0" marL="0">
              <a:buNone/>
            </a:pPr>
            <a:r>
              <a:rPr lang="en-US" sz="1350" b="1" dirty="0">
                <a:solidFill>
                  <a:srgbClr val="132B5E"/>
                </a:solidFill>
                <a:latin typeface="Arial" pitchFamily="34" charset="0"/>
                <a:ea typeface="Arial" pitchFamily="34" charset="-122"/>
                <a:cs typeface="Arial" pitchFamily="34" charset="-120"/>
              </a:rPr>
              <a:t>Tách khẳng định</a:t>
            </a:r>
            <a:pPr indent="0" marL="0">
              <a:buNone/>
            </a:pPr>
            <a:r>
              <a:rPr lang="en-US" sz="1350" dirty="0">
                <a:solidFill>
                  <a:srgbClr val="1F3A6E"/>
                </a:solidFill>
                <a:latin typeface="Arial" pitchFamily="34" charset="0"/>
                <a:ea typeface="Arial" pitchFamily="34" charset="-122"/>
                <a:cs typeface="Arial" pitchFamily="34" charset="-120"/>
              </a:rPr>
              <a:t>   mã định danh do máy chủ cấp</a:t>
            </a:r>
            <a:endParaRPr lang="en-US" sz="1350" dirty="0"/>
          </a:p>
        </p:txBody>
      </p:sp>
      <p:sp>
        <p:nvSpPr>
          <p:cNvPr id="8" name="Shape 6"/>
          <p:cNvSpPr/>
          <p:nvPr/>
        </p:nvSpPr>
        <p:spPr>
          <a:xfrm>
            <a:off x="566928" y="2670048"/>
            <a:ext cx="420624" cy="420624"/>
          </a:xfrm>
          <a:prstGeom prst="rect">
            <a:avLst/>
          </a:prstGeom>
          <a:solidFill>
            <a:srgbClr val="8CC0E4"/>
          </a:solidFill>
          <a:ln/>
        </p:spPr>
      </p:sp>
      <p:sp>
        <p:nvSpPr>
          <p:cNvPr id="9" name="Text 7"/>
          <p:cNvSpPr txBox="1"/>
          <p:nvPr/>
        </p:nvSpPr>
        <p:spPr>
          <a:xfrm>
            <a:off x="566928" y="2670048"/>
            <a:ext cx="420624" cy="420624"/>
          </a:xfrm>
          <a:prstGeom prst="rect">
            <a:avLst/>
          </a:prstGeom>
          <a:noFill/>
          <a:ln/>
        </p:spPr>
        <p:txBody>
          <a:bodyPr wrap="square" lIns="0" tIns="0" rIns="0" bIns="0" rtlCol="0" anchor="ctr"/>
          <a:lstStyle/>
          <a:p>
            <a:pPr algn="ctr" indent="0" marL="0">
              <a:buNone/>
            </a:pPr>
            <a:r>
              <a:rPr lang="en-US" sz="1500" b="1" dirty="0">
                <a:solidFill>
                  <a:srgbClr val="132B5E"/>
                </a:solidFill>
                <a:latin typeface="Arial" pitchFamily="34" charset="0"/>
                <a:ea typeface="Arial" pitchFamily="34" charset="-122"/>
                <a:cs typeface="Arial" pitchFamily="34" charset="-120"/>
              </a:rPr>
              <a:t>2</a:t>
            </a:r>
            <a:endParaRPr lang="en-US" sz="1500" dirty="0"/>
          </a:p>
        </p:txBody>
      </p:sp>
      <p:sp>
        <p:nvSpPr>
          <p:cNvPr id="10" name="Text 8"/>
          <p:cNvSpPr txBox="1"/>
          <p:nvPr/>
        </p:nvSpPr>
        <p:spPr>
          <a:xfrm>
            <a:off x="1188720" y="2670048"/>
            <a:ext cx="5120640" cy="420624"/>
          </a:xfrm>
          <a:prstGeom prst="rect">
            <a:avLst/>
          </a:prstGeom>
          <a:noFill/>
          <a:ln/>
        </p:spPr>
        <p:txBody>
          <a:bodyPr wrap="square" lIns="0" tIns="0" rIns="0" bIns="0" rtlCol="0" anchor="ctr"/>
          <a:lstStyle/>
          <a:p>
            <a:pPr indent="0" marL="0">
              <a:buNone/>
            </a:pPr>
            <a:r>
              <a:rPr lang="en-US" sz="1350" b="1" dirty="0">
                <a:solidFill>
                  <a:srgbClr val="132B5E"/>
                </a:solidFill>
                <a:latin typeface="Arial" pitchFamily="34" charset="0"/>
                <a:ea typeface="Arial" pitchFamily="34" charset="-122"/>
                <a:cs typeface="Arial" pitchFamily="34" charset="-120"/>
              </a:rPr>
              <a:t>Đối chiếu bằng chứng</a:t>
            </a:r>
            <a:pPr indent="0" marL="0">
              <a:buNone/>
            </a:pPr>
            <a:r>
              <a:rPr lang="en-US" sz="1350" dirty="0">
                <a:solidFill>
                  <a:srgbClr val="1F3A6E"/>
                </a:solidFill>
                <a:latin typeface="Arial" pitchFamily="34" charset="0"/>
                <a:ea typeface="Arial" pitchFamily="34" charset="-122"/>
                <a:cs typeface="Arial" pitchFamily="34" charset="-120"/>
              </a:rPr>
              <a:t>   hàm thuần, ngưỡng trùng token</a:t>
            </a:r>
            <a:endParaRPr lang="en-US" sz="1350" dirty="0"/>
          </a:p>
        </p:txBody>
      </p:sp>
      <p:sp>
        <p:nvSpPr>
          <p:cNvPr id="11" name="Shape 9"/>
          <p:cNvSpPr/>
          <p:nvPr/>
        </p:nvSpPr>
        <p:spPr>
          <a:xfrm>
            <a:off x="566928" y="3511296"/>
            <a:ext cx="420624" cy="420624"/>
          </a:xfrm>
          <a:prstGeom prst="rect">
            <a:avLst/>
          </a:prstGeom>
          <a:solidFill>
            <a:srgbClr val="8CC0E4"/>
          </a:solidFill>
          <a:ln/>
        </p:spPr>
      </p:sp>
      <p:sp>
        <p:nvSpPr>
          <p:cNvPr id="12" name="Text 10"/>
          <p:cNvSpPr txBox="1"/>
          <p:nvPr/>
        </p:nvSpPr>
        <p:spPr>
          <a:xfrm>
            <a:off x="566928" y="3511296"/>
            <a:ext cx="420624" cy="420624"/>
          </a:xfrm>
          <a:prstGeom prst="rect">
            <a:avLst/>
          </a:prstGeom>
          <a:noFill/>
          <a:ln/>
        </p:spPr>
        <p:txBody>
          <a:bodyPr wrap="square" lIns="0" tIns="0" rIns="0" bIns="0" rtlCol="0" anchor="ctr"/>
          <a:lstStyle/>
          <a:p>
            <a:pPr algn="ctr" indent="0" marL="0">
              <a:buNone/>
            </a:pPr>
            <a:r>
              <a:rPr lang="en-US" sz="1500" b="1" dirty="0">
                <a:solidFill>
                  <a:srgbClr val="132B5E"/>
                </a:solidFill>
                <a:latin typeface="Arial" pitchFamily="34" charset="0"/>
                <a:ea typeface="Arial" pitchFamily="34" charset="-122"/>
                <a:cs typeface="Arial" pitchFamily="34" charset="-120"/>
              </a:rPr>
              <a:t>3</a:t>
            </a:r>
            <a:endParaRPr lang="en-US" sz="1500" dirty="0"/>
          </a:p>
        </p:txBody>
      </p:sp>
      <p:sp>
        <p:nvSpPr>
          <p:cNvPr id="13" name="Text 11"/>
          <p:cNvSpPr txBox="1"/>
          <p:nvPr/>
        </p:nvSpPr>
        <p:spPr>
          <a:xfrm>
            <a:off x="1188720" y="3511296"/>
            <a:ext cx="5120640" cy="420624"/>
          </a:xfrm>
          <a:prstGeom prst="rect">
            <a:avLst/>
          </a:prstGeom>
          <a:noFill/>
          <a:ln/>
        </p:spPr>
        <p:txBody>
          <a:bodyPr wrap="square" lIns="0" tIns="0" rIns="0" bIns="0" rtlCol="0" anchor="ctr"/>
          <a:lstStyle/>
          <a:p>
            <a:pPr indent="0" marL="0">
              <a:buNone/>
            </a:pPr>
            <a:r>
              <a:rPr lang="en-US" sz="1350" b="1" dirty="0">
                <a:solidFill>
                  <a:srgbClr val="132B5E"/>
                </a:solidFill>
                <a:latin typeface="Arial" pitchFamily="34" charset="0"/>
                <a:ea typeface="Arial" pitchFamily="34" charset="-122"/>
                <a:cs typeface="Arial" pitchFamily="34" charset="-120"/>
              </a:rPr>
              <a:t>Phát hiện mâu thuẫn</a:t>
            </a:r>
            <a:pPr indent="0" marL="0">
              <a:buNone/>
            </a:pPr>
            <a:r>
              <a:rPr lang="en-US" sz="1350" dirty="0">
                <a:solidFill>
                  <a:srgbClr val="1F3A6E"/>
                </a:solidFill>
                <a:latin typeface="Arial" pitchFamily="34" charset="0"/>
                <a:ea typeface="Arial" pitchFamily="34" charset="-122"/>
                <a:cs typeface="Arial" pitchFamily="34" charset="-120"/>
              </a:rPr>
              <a:t>   cụm phủ định và số liệu</a:t>
            </a:r>
            <a:endParaRPr lang="en-US" sz="1350" dirty="0"/>
          </a:p>
        </p:txBody>
      </p:sp>
      <p:sp>
        <p:nvSpPr>
          <p:cNvPr id="14" name="Shape 12"/>
          <p:cNvSpPr/>
          <p:nvPr/>
        </p:nvSpPr>
        <p:spPr>
          <a:xfrm>
            <a:off x="566928" y="4352544"/>
            <a:ext cx="420624" cy="420624"/>
          </a:xfrm>
          <a:prstGeom prst="rect">
            <a:avLst/>
          </a:prstGeom>
          <a:solidFill>
            <a:srgbClr val="8CC0E4"/>
          </a:solidFill>
          <a:ln/>
        </p:spPr>
      </p:sp>
      <p:sp>
        <p:nvSpPr>
          <p:cNvPr id="15" name="Text 13"/>
          <p:cNvSpPr txBox="1"/>
          <p:nvPr/>
        </p:nvSpPr>
        <p:spPr>
          <a:xfrm>
            <a:off x="566928" y="4352544"/>
            <a:ext cx="420624" cy="420624"/>
          </a:xfrm>
          <a:prstGeom prst="rect">
            <a:avLst/>
          </a:prstGeom>
          <a:noFill/>
          <a:ln/>
        </p:spPr>
        <p:txBody>
          <a:bodyPr wrap="square" lIns="0" tIns="0" rIns="0" bIns="0" rtlCol="0" anchor="ctr"/>
          <a:lstStyle/>
          <a:p>
            <a:pPr algn="ctr" indent="0" marL="0">
              <a:buNone/>
            </a:pPr>
            <a:r>
              <a:rPr lang="en-US" sz="1500" b="1" dirty="0">
                <a:solidFill>
                  <a:srgbClr val="132B5E"/>
                </a:solidFill>
                <a:latin typeface="Arial" pitchFamily="34" charset="0"/>
                <a:ea typeface="Arial" pitchFamily="34" charset="-122"/>
                <a:cs typeface="Arial" pitchFamily="34" charset="-120"/>
              </a:rPr>
              <a:t>4</a:t>
            </a:r>
            <a:endParaRPr lang="en-US" sz="1500" dirty="0"/>
          </a:p>
        </p:txBody>
      </p:sp>
      <p:sp>
        <p:nvSpPr>
          <p:cNvPr id="16" name="Text 14"/>
          <p:cNvSpPr txBox="1"/>
          <p:nvPr/>
        </p:nvSpPr>
        <p:spPr>
          <a:xfrm>
            <a:off x="1188720" y="4352544"/>
            <a:ext cx="5120640" cy="420624"/>
          </a:xfrm>
          <a:prstGeom prst="rect">
            <a:avLst/>
          </a:prstGeom>
          <a:noFill/>
          <a:ln/>
        </p:spPr>
        <p:txBody>
          <a:bodyPr wrap="square" lIns="0" tIns="0" rIns="0" bIns="0" rtlCol="0" anchor="ctr"/>
          <a:lstStyle/>
          <a:p>
            <a:pPr indent="0" marL="0">
              <a:buNone/>
            </a:pPr>
            <a:r>
              <a:rPr lang="en-US" sz="1350" b="1" dirty="0">
                <a:solidFill>
                  <a:srgbClr val="132B5E"/>
                </a:solidFill>
                <a:latin typeface="Arial" pitchFamily="34" charset="0"/>
                <a:ea typeface="Arial" pitchFamily="34" charset="-122"/>
                <a:cs typeface="Arial" pitchFamily="34" charset="-120"/>
              </a:rPr>
              <a:t>Chấm điểm trung thực</a:t>
            </a:r>
            <a:pPr indent="0" marL="0">
              <a:buNone/>
            </a:pPr>
            <a:r>
              <a:rPr lang="en-US" sz="1350" dirty="0">
                <a:solidFill>
                  <a:srgbClr val="1F3A6E"/>
                </a:solidFill>
                <a:latin typeface="Arial" pitchFamily="34" charset="0"/>
                <a:ea typeface="Arial" pitchFamily="34" charset="-122"/>
                <a:cs typeface="Arial" pitchFamily="34" charset="-120"/>
              </a:rPr>
              <a:t>   phạt gấp đôi khẳng định sai</a:t>
            </a:r>
            <a:endParaRPr lang="en-US" sz="1350" dirty="0"/>
          </a:p>
        </p:txBody>
      </p:sp>
      <p:sp>
        <p:nvSpPr>
          <p:cNvPr id="17" name="Shape 15"/>
          <p:cNvSpPr/>
          <p:nvPr/>
        </p:nvSpPr>
        <p:spPr>
          <a:xfrm>
            <a:off x="566928" y="5193792"/>
            <a:ext cx="420624" cy="420624"/>
          </a:xfrm>
          <a:prstGeom prst="rect">
            <a:avLst/>
          </a:prstGeom>
          <a:solidFill>
            <a:srgbClr val="8CC0E4"/>
          </a:solidFill>
          <a:ln/>
        </p:spPr>
      </p:sp>
      <p:sp>
        <p:nvSpPr>
          <p:cNvPr id="18" name="Text 16"/>
          <p:cNvSpPr txBox="1"/>
          <p:nvPr/>
        </p:nvSpPr>
        <p:spPr>
          <a:xfrm>
            <a:off x="566928" y="5193792"/>
            <a:ext cx="420624" cy="420624"/>
          </a:xfrm>
          <a:prstGeom prst="rect">
            <a:avLst/>
          </a:prstGeom>
          <a:noFill/>
          <a:ln/>
        </p:spPr>
        <p:txBody>
          <a:bodyPr wrap="square" lIns="0" tIns="0" rIns="0" bIns="0" rtlCol="0" anchor="ctr"/>
          <a:lstStyle/>
          <a:p>
            <a:pPr algn="ctr" indent="0" marL="0">
              <a:buNone/>
            </a:pPr>
            <a:r>
              <a:rPr lang="en-US" sz="1500" b="1" dirty="0">
                <a:solidFill>
                  <a:srgbClr val="132B5E"/>
                </a:solidFill>
                <a:latin typeface="Arial" pitchFamily="34" charset="0"/>
                <a:ea typeface="Arial" pitchFamily="34" charset="-122"/>
                <a:cs typeface="Arial" pitchFamily="34" charset="-120"/>
              </a:rPr>
              <a:t>5</a:t>
            </a:r>
            <a:endParaRPr lang="en-US" sz="1500" dirty="0"/>
          </a:p>
        </p:txBody>
      </p:sp>
      <p:sp>
        <p:nvSpPr>
          <p:cNvPr id="19" name="Text 17"/>
          <p:cNvSpPr txBox="1"/>
          <p:nvPr/>
        </p:nvSpPr>
        <p:spPr>
          <a:xfrm>
            <a:off x="1188720" y="5193792"/>
            <a:ext cx="5120640" cy="420624"/>
          </a:xfrm>
          <a:prstGeom prst="rect">
            <a:avLst/>
          </a:prstGeom>
          <a:noFill/>
          <a:ln/>
        </p:spPr>
        <p:txBody>
          <a:bodyPr wrap="square" lIns="0" tIns="0" rIns="0" bIns="0" rtlCol="0" anchor="ctr"/>
          <a:lstStyle/>
          <a:p>
            <a:pPr indent="0" marL="0">
              <a:buNone/>
            </a:pPr>
            <a:r>
              <a:rPr lang="en-US" sz="1350" b="1" dirty="0">
                <a:solidFill>
                  <a:srgbClr val="132B5E"/>
                </a:solidFill>
                <a:latin typeface="Arial" pitchFamily="34" charset="0"/>
                <a:ea typeface="Arial" pitchFamily="34" charset="-122"/>
                <a:cs typeface="Arial" pitchFamily="34" charset="-120"/>
              </a:rPr>
              <a:t>Dựng trích dẫn</a:t>
            </a:r>
            <a:pPr indent="0" marL="0">
              <a:buNone/>
            </a:pPr>
            <a:r>
              <a:rPr lang="en-US" sz="1350" dirty="0">
                <a:solidFill>
                  <a:srgbClr val="1F3A6E"/>
                </a:solidFill>
                <a:latin typeface="Arial" pitchFamily="34" charset="0"/>
                <a:ea typeface="Arial" pitchFamily="34" charset="-122"/>
                <a:cs typeface="Arial" pitchFamily="34" charset="-120"/>
              </a:rPr>
              <a:t>   claim tới đoạn tới tài liệu</a:t>
            </a:r>
            <a:endParaRPr lang="en-US" sz="1350" dirty="0"/>
          </a:p>
        </p:txBody>
      </p:sp>
      <p:sp>
        <p:nvSpPr>
          <p:cNvPr id="20" name="Shape 18"/>
          <p:cNvSpPr/>
          <p:nvPr/>
        </p:nvSpPr>
        <p:spPr>
          <a:xfrm>
            <a:off x="6309360" y="1417320"/>
            <a:ext cx="5394960" cy="4206240"/>
          </a:xfrm>
          <a:prstGeom prst="rect">
            <a:avLst/>
          </a:prstGeom>
          <a:solidFill>
            <a:srgbClr val="132B5E"/>
          </a:solidFill>
          <a:ln/>
        </p:spPr>
      </p:sp>
      <p:sp>
        <p:nvSpPr>
          <p:cNvPr id="21" name="Text 19"/>
          <p:cNvSpPr txBox="1"/>
          <p:nvPr/>
        </p:nvSpPr>
        <p:spPr>
          <a:xfrm>
            <a:off x="6693408" y="1709928"/>
            <a:ext cx="4626864" cy="365760"/>
          </a:xfrm>
          <a:prstGeom prst="rect">
            <a:avLst/>
          </a:prstGeom>
          <a:noFill/>
          <a:ln/>
        </p:spPr>
        <p:txBody>
          <a:bodyPr wrap="square" lIns="0" tIns="0" rIns="0" bIns="0" rtlCol="0" anchor="ctr"/>
          <a:lstStyle/>
          <a:p>
            <a:pPr indent="0" marL="0">
              <a:buNone/>
            </a:pPr>
            <a:r>
              <a:rPr lang="en-US" sz="1500" b="1" dirty="0">
                <a:solidFill>
                  <a:srgbClr val="8CC0E4"/>
                </a:solidFill>
                <a:latin typeface="Arial" pitchFamily="34" charset="0"/>
                <a:ea typeface="Arial" pitchFamily="34" charset="-122"/>
                <a:cs typeface="Arial" pitchFamily="34" charset="-120"/>
              </a:rPr>
              <a:t>KHÔNG TIN MÔ HÌNH Ở BA CHỖ</a:t>
            </a:r>
            <a:endParaRPr lang="en-US" sz="1500" dirty="0"/>
          </a:p>
        </p:txBody>
      </p:sp>
      <p:sp>
        <p:nvSpPr>
          <p:cNvPr id="22" name="Text 20"/>
          <p:cNvSpPr txBox="1"/>
          <p:nvPr/>
        </p:nvSpPr>
        <p:spPr>
          <a:xfrm>
            <a:off x="6693408" y="2203704"/>
            <a:ext cx="4626864" cy="3108960"/>
          </a:xfrm>
          <a:prstGeom prst="rect">
            <a:avLst/>
          </a:prstGeom>
          <a:noFill/>
          <a:ln/>
        </p:spPr>
        <p:txBody>
          <a:bodyPr wrap="square" lIns="0" tIns="0" rIns="0" bIns="0" rtlCol="0" anchor="t"/>
          <a:lstStyle/>
          <a:p>
            <a:pPr indent="0" marL="0">
              <a:lnSpc>
                <a:spcPct val="120000"/>
              </a:lnSpc>
              <a:spcAft>
                <a:spcPts val="900"/>
              </a:spcAft>
              <a:buNone/>
            </a:pPr>
            <a:r>
              <a:rPr lang="en-US" sz="1350" dirty="0">
                <a:solidFill>
                  <a:srgbClr val="FFFFFF"/>
                </a:solidFill>
                <a:latin typeface="Arial" pitchFamily="34" charset="0"/>
                <a:ea typeface="Arial" pitchFamily="34" charset="-122"/>
                <a:cs typeface="Arial" pitchFamily="34" charset="-120"/>
              </a:rPr>
              <a:t>-  Nhãn khẳng định do mô hình tự đặt, backend cấp lại toàn bộ mã.</a:t>
            </a:r>
            <a:endParaRPr lang="en-US" sz="1350" dirty="0"/>
          </a:p>
          <a:p>
            <a:pPr indent="0" marL="0">
              <a:lnSpc>
                <a:spcPct val="120000"/>
              </a:lnSpc>
              <a:spcAft>
                <a:spcPts val="900"/>
              </a:spcAft>
              <a:buNone/>
            </a:pPr>
            <a:r>
              <a:rPr lang="en-US" sz="1350" dirty="0">
                <a:solidFill>
                  <a:srgbClr val="FFFFFF"/>
                </a:solidFill>
                <a:latin typeface="Arial" pitchFamily="34" charset="0"/>
                <a:ea typeface="Arial" pitchFamily="34" charset="-122"/>
                <a:cs typeface="Arial" pitchFamily="34" charset="-120"/>
              </a:rPr>
              <a:t>-  Định dạng đầu ra, luôn kiểm lại bằng lược đồ phía máy chủ.</a:t>
            </a:r>
            <a:endParaRPr lang="en-US" sz="1350" dirty="0"/>
          </a:p>
          <a:p>
            <a:pPr indent="0" marL="0">
              <a:lnSpc>
                <a:spcPct val="120000"/>
              </a:lnSpc>
              <a:spcAft>
                <a:spcPts val="900"/>
              </a:spcAft>
              <a:buNone/>
            </a:pPr>
            <a:r>
              <a:rPr lang="en-US" sz="1350" dirty="0">
                <a:solidFill>
                  <a:srgbClr val="FFFFFF"/>
                </a:solidFill>
                <a:latin typeface="Arial" pitchFamily="34" charset="0"/>
                <a:ea typeface="Arial" pitchFamily="34" charset="-122"/>
                <a:cs typeface="Arial" pitchFamily="34" charset="-120"/>
              </a:rPr>
              <a:t>-  Trích dẫn, chỉ giữ mã đoạn và mã tài liệu có thật trong kho.</a:t>
            </a:r>
            <a:endParaRPr lang="en-US" sz="1350" dirty="0"/>
          </a:p>
          <a:p>
            <a:pPr indent="0" marL="0">
              <a:lnSpc>
                <a:spcPct val="120000"/>
              </a:lnSpc>
              <a:spcAft>
                <a:spcPts val="900"/>
              </a:spcAft>
              <a:buNone/>
            </a:pPr>
            <a:r>
              <a:rPr lang="en-US" sz="1350" dirty="0">
                <a:solidFill>
                  <a:srgbClr val="FFFFFF"/>
                </a:solidFill>
                <a:latin typeface="Arial" pitchFamily="34" charset="0"/>
                <a:ea typeface="Arial" pitchFamily="34" charset="-122"/>
                <a:cs typeface="Arial" pitchFamily="34" charset="-120"/>
              </a:rPr>
              <a:t>-  Không tìm được nguồn thì đánh dấu không hợp lệ, không bịa.</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2148"/>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3A5290"/>
                </a:solidFill>
                <a:latin typeface="Arial" pitchFamily="34" charset="0"/>
                <a:ea typeface="Arial" pitchFamily="34" charset="-122"/>
                <a:cs typeface="Arial" pitchFamily="34" charset="-120"/>
              </a:rPr>
              <a:t>RAG RELIABILITY PLATFORM  ·  Báo cáo đồ án môn học</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3A5290"/>
                </a:solidFill>
                <a:latin typeface="Arial" pitchFamily="34" charset="0"/>
                <a:ea typeface="Arial" pitchFamily="34" charset="-122"/>
                <a:cs typeface="Arial" pitchFamily="34" charset="-120"/>
              </a:rPr>
              <a:t>16</a:t>
            </a:r>
            <a:endParaRPr lang="en-US" sz="900" dirty="0"/>
          </a:p>
        </p:txBody>
      </p:sp>
      <p:sp>
        <p:nvSpPr>
          <p:cNvPr id="4" name="Text 2"/>
          <p:cNvSpPr txBox="1"/>
          <p:nvPr/>
        </p:nvSpPr>
        <p:spPr>
          <a:xfrm>
            <a:off x="512064" y="1371600"/>
            <a:ext cx="3657600" cy="1920240"/>
          </a:xfrm>
          <a:prstGeom prst="rect">
            <a:avLst/>
          </a:prstGeom>
          <a:noFill/>
          <a:ln/>
        </p:spPr>
        <p:txBody>
          <a:bodyPr wrap="square" lIns="0" tIns="0" rIns="0" bIns="0" rtlCol="0" anchor="ctr"/>
          <a:lstStyle/>
          <a:p>
            <a:pPr indent="0" marL="0">
              <a:buNone/>
            </a:pPr>
            <a:r>
              <a:rPr lang="en-US" sz="12000" b="1" dirty="0">
                <a:solidFill>
                  <a:srgbClr val="3A5290"/>
                </a:solidFill>
                <a:latin typeface="Arial" pitchFamily="34" charset="0"/>
                <a:ea typeface="Arial" pitchFamily="34" charset="-122"/>
                <a:cs typeface="Arial" pitchFamily="34" charset="-120"/>
              </a:rPr>
              <a:t>03</a:t>
            </a:r>
            <a:endParaRPr lang="en-US" sz="12000" dirty="0"/>
          </a:p>
        </p:txBody>
      </p:sp>
      <p:sp>
        <p:nvSpPr>
          <p:cNvPr id="5" name="Shape 3"/>
          <p:cNvSpPr/>
          <p:nvPr/>
        </p:nvSpPr>
        <p:spPr>
          <a:xfrm>
            <a:off x="566928" y="3657600"/>
            <a:ext cx="1463040" cy="82296"/>
          </a:xfrm>
          <a:prstGeom prst="rect">
            <a:avLst/>
          </a:prstGeom>
          <a:solidFill>
            <a:srgbClr val="8CC0E4"/>
          </a:solidFill>
          <a:ln/>
        </p:spPr>
      </p:sp>
      <p:sp>
        <p:nvSpPr>
          <p:cNvPr id="6" name="Text 4"/>
          <p:cNvSpPr txBox="1"/>
          <p:nvPr/>
        </p:nvSpPr>
        <p:spPr>
          <a:xfrm>
            <a:off x="566928" y="3977640"/>
            <a:ext cx="10058400" cy="73152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NỀN TẢNG TÁC TỬ</a:t>
            </a:r>
            <a:endParaRPr lang="en-US" sz="3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FEFEE"/>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8A8F98"/>
                </a:solidFill>
                <a:latin typeface="Arial" pitchFamily="34" charset="0"/>
                <a:ea typeface="Arial" pitchFamily="34" charset="-122"/>
                <a:cs typeface="Arial" pitchFamily="34" charset="-120"/>
              </a:rPr>
              <a:t>RAG RELIABILITY PLATFORM  ·  Báo cáo đồ án môn học</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8A8F98"/>
                </a:solidFill>
                <a:latin typeface="Arial" pitchFamily="34" charset="0"/>
                <a:ea typeface="Arial" pitchFamily="34" charset="-122"/>
                <a:cs typeface="Arial" pitchFamily="34" charset="-120"/>
              </a:rPr>
              <a:t>17</a:t>
            </a:r>
            <a:endParaRPr lang="en-US" sz="900" dirty="0"/>
          </a:p>
        </p:txBody>
      </p:sp>
      <p:sp>
        <p:nvSpPr>
          <p:cNvPr id="4" name="Text 2"/>
          <p:cNvSpPr txBox="1"/>
          <p:nvPr/>
        </p:nvSpPr>
        <p:spPr>
          <a:xfrm>
            <a:off x="566928" y="384048"/>
            <a:ext cx="10881360" cy="777240"/>
          </a:xfrm>
          <a:prstGeom prst="rect">
            <a:avLst/>
          </a:prstGeom>
          <a:noFill/>
          <a:ln/>
        </p:spPr>
        <p:txBody>
          <a:bodyPr wrap="square" lIns="0" tIns="0" rIns="0" bIns="0" rtlCol="0" anchor="t"/>
          <a:lstStyle/>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VÒNG LẶP TÁC TỬ VÀ BỘ BẢO VỆ</a:t>
            </a:r>
            <a:endParaRPr lang="en-US" sz="3200" dirty="0"/>
          </a:p>
        </p:txBody>
      </p:sp>
      <p:sp>
        <p:nvSpPr>
          <p:cNvPr id="5" name="Text 3"/>
          <p:cNvSpPr txBox="1"/>
          <p:nvPr/>
        </p:nvSpPr>
        <p:spPr>
          <a:xfrm>
            <a:off x="566928" y="1188720"/>
            <a:ext cx="10881360" cy="502920"/>
          </a:xfrm>
          <a:prstGeom prst="rect">
            <a:avLst/>
          </a:prstGeom>
          <a:noFill/>
          <a:ln/>
        </p:spPr>
        <p:txBody>
          <a:bodyPr wrap="square" lIns="0" tIns="0" rIns="0" bIns="0" rtlCol="0" anchor="t"/>
          <a:lstStyle/>
          <a:p>
            <a:pPr indent="0" marL="0">
              <a:lnSpc>
                <a:spcPct val="128000"/>
              </a:lnSpc>
              <a:buNone/>
            </a:pPr>
            <a:r>
              <a:rPr lang="en-US" sz="1450" dirty="0">
                <a:solidFill>
                  <a:srgbClr val="1F3A6E"/>
                </a:solidFill>
                <a:latin typeface="Arial" pitchFamily="34" charset="0"/>
                <a:ea typeface="Arial" pitchFamily="34" charset="-122"/>
                <a:cs typeface="Arial" pitchFamily="34" charset="-120"/>
              </a:rPr>
              <a:t>Bốn nút, mọi đường đi đều bắt buộc qua nút kết thúc để kiểm chứng, kể cả khi dừng sớm.</a:t>
            </a:r>
            <a:endParaRPr lang="en-US" sz="1450" dirty="0"/>
          </a:p>
        </p:txBody>
      </p:sp>
      <p:sp>
        <p:nvSpPr>
          <p:cNvPr id="6" name="Shape 4"/>
          <p:cNvSpPr/>
          <p:nvPr/>
        </p:nvSpPr>
        <p:spPr>
          <a:xfrm>
            <a:off x="2748425" y="1874520"/>
            <a:ext cx="6884126" cy="4069080"/>
          </a:xfrm>
          <a:prstGeom prst="rect">
            <a:avLst/>
          </a:prstGeom>
          <a:solidFill>
            <a:srgbClr val="132B5E"/>
          </a:solidFill>
          <a:ln/>
        </p:spPr>
      </p:sp>
      <p:sp>
        <p:nvSpPr>
          <p:cNvPr id="7" name="Shape 5"/>
          <p:cNvSpPr/>
          <p:nvPr/>
        </p:nvSpPr>
        <p:spPr>
          <a:xfrm>
            <a:off x="2656985" y="1783080"/>
            <a:ext cx="6884126" cy="4069080"/>
          </a:xfrm>
          <a:prstGeom prst="rect">
            <a:avLst/>
          </a:prstGeom>
          <a:solidFill>
            <a:srgbClr val="FFFFFF"/>
          </a:solidFill>
          <a:ln w="12700">
            <a:solidFill>
              <a:srgbClr val="FFFFFF"/>
            </a:solidFill>
            <a:prstDash val="solid"/>
          </a:ln>
        </p:spPr>
      </p:sp>
      <p:pic>
        <p:nvPicPr>
          <p:cNvPr id="8" name="Image 0" descr="/private/tmp/claude-501/-Volumes-Data-Documents-rag-reliability/6db8fc1f-3028-4f02-8952-927e30b47723/scratchpad/report/img/d09-agent-loop.png">    </p:cNvPr>
          <p:cNvPicPr>
            <a:picLocks noChangeAspect="1"/>
          </p:cNvPicPr>
          <p:nvPr/>
        </p:nvPicPr>
        <p:blipFill>
          <a:blip r:embed="rId1"/>
          <a:stretch>
            <a:fillRect/>
          </a:stretch>
        </p:blipFill>
        <p:spPr>
          <a:xfrm>
            <a:off x="2720993" y="1847088"/>
            <a:ext cx="6756110" cy="394106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FEFEE"/>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8A8F98"/>
                </a:solidFill>
                <a:latin typeface="Arial" pitchFamily="34" charset="0"/>
                <a:ea typeface="Arial" pitchFamily="34" charset="-122"/>
                <a:cs typeface="Arial" pitchFamily="34" charset="-120"/>
              </a:rPr>
              <a:t>RAG RELIABILITY PLATFORM  ·  Báo cáo đồ án môn học</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8A8F98"/>
                </a:solidFill>
                <a:latin typeface="Arial" pitchFamily="34" charset="0"/>
                <a:ea typeface="Arial" pitchFamily="34" charset="-122"/>
                <a:cs typeface="Arial" pitchFamily="34" charset="-120"/>
              </a:rPr>
              <a:t>18</a:t>
            </a:r>
            <a:endParaRPr lang="en-US" sz="900" dirty="0"/>
          </a:p>
        </p:txBody>
      </p:sp>
      <p:sp>
        <p:nvSpPr>
          <p:cNvPr id="4" name="Text 2"/>
          <p:cNvSpPr txBox="1"/>
          <p:nvPr/>
        </p:nvSpPr>
        <p:spPr>
          <a:xfrm>
            <a:off x="566928" y="384048"/>
            <a:ext cx="10881360" cy="777240"/>
          </a:xfrm>
          <a:prstGeom prst="rect">
            <a:avLst/>
          </a:prstGeom>
          <a:noFill/>
          <a:ln/>
        </p:spPr>
        <p:txBody>
          <a:bodyPr wrap="square" lIns="0" tIns="0" rIns="0" bIns="0" rtlCol="0" anchor="t"/>
          <a:lstStyle/>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CÔNG CỤ VÀ NHÀ CUNG CẤP</a:t>
            </a:r>
            <a:endParaRPr lang="en-US" sz="3200" dirty="0"/>
          </a:p>
        </p:txBody>
      </p:sp>
      <p:sp>
        <p:nvSpPr>
          <p:cNvPr id="5" name="Text 3"/>
          <p:cNvSpPr txBox="1"/>
          <p:nvPr/>
        </p:nvSpPr>
        <p:spPr>
          <a:xfrm>
            <a:off x="566928" y="1188720"/>
            <a:ext cx="10881360" cy="548640"/>
          </a:xfrm>
          <a:prstGeom prst="rect">
            <a:avLst/>
          </a:prstGeom>
          <a:noFill/>
          <a:ln/>
        </p:spPr>
        <p:txBody>
          <a:bodyPr wrap="square" lIns="0" tIns="0" rIns="0" bIns="0" rtlCol="0" anchor="t"/>
          <a:lstStyle/>
          <a:p>
            <a:pPr indent="0" marL="0">
              <a:lnSpc>
                <a:spcPct val="128000"/>
              </a:lnSpc>
              <a:buNone/>
            </a:pPr>
            <a:r>
              <a:rPr lang="en-US" sz="1450" dirty="0">
                <a:solidFill>
                  <a:srgbClr val="1F3A6E"/>
                </a:solidFill>
                <a:latin typeface="Arial" pitchFamily="34" charset="0"/>
                <a:ea typeface="Arial" pitchFamily="34" charset="-122"/>
                <a:cs typeface="Arial" pitchFamily="34" charset="-120"/>
              </a:rPr>
              <a:t>Lõi điều phối chỉ biết hợp đồng công cụ. Thêm một công cụ nội bộ hay một máy chủ bên ngoài không sửa dòng nào trong lõi.</a:t>
            </a:r>
            <a:endParaRPr lang="en-US" sz="1450" dirty="0"/>
          </a:p>
        </p:txBody>
      </p:sp>
      <p:sp>
        <p:nvSpPr>
          <p:cNvPr id="6" name="Shape 4"/>
          <p:cNvSpPr/>
          <p:nvPr/>
        </p:nvSpPr>
        <p:spPr>
          <a:xfrm>
            <a:off x="2605688" y="1920240"/>
            <a:ext cx="7169599" cy="4023360"/>
          </a:xfrm>
          <a:prstGeom prst="rect">
            <a:avLst/>
          </a:prstGeom>
          <a:solidFill>
            <a:srgbClr val="132B5E"/>
          </a:solidFill>
          <a:ln/>
        </p:spPr>
      </p:sp>
      <p:sp>
        <p:nvSpPr>
          <p:cNvPr id="7" name="Shape 5"/>
          <p:cNvSpPr/>
          <p:nvPr/>
        </p:nvSpPr>
        <p:spPr>
          <a:xfrm>
            <a:off x="2514248" y="1828800"/>
            <a:ext cx="7169599" cy="4023360"/>
          </a:xfrm>
          <a:prstGeom prst="rect">
            <a:avLst/>
          </a:prstGeom>
          <a:solidFill>
            <a:srgbClr val="FFFFFF"/>
          </a:solidFill>
          <a:ln w="12700">
            <a:solidFill>
              <a:srgbClr val="FFFFFF"/>
            </a:solidFill>
            <a:prstDash val="solid"/>
          </a:ln>
        </p:spPr>
      </p:sp>
      <p:pic>
        <p:nvPicPr>
          <p:cNvPr id="8" name="Image 0" descr="/private/tmp/claude-501/-Volumes-Data-Documents-rag-reliability/6db8fc1f-3028-4f02-8952-927e30b47723/scratchpad/report/img/d10-tool-runtime.png">    </p:cNvPr>
          <p:cNvPicPr>
            <a:picLocks noChangeAspect="1"/>
          </p:cNvPicPr>
          <p:nvPr/>
        </p:nvPicPr>
        <p:blipFill>
          <a:blip r:embed="rId1"/>
          <a:stretch>
            <a:fillRect/>
          </a:stretch>
        </p:blipFill>
        <p:spPr>
          <a:xfrm>
            <a:off x="2578256" y="1892808"/>
            <a:ext cx="7041583" cy="389534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FEFEE"/>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8A8F98"/>
                </a:solidFill>
                <a:latin typeface="Arial" pitchFamily="34" charset="0"/>
                <a:ea typeface="Arial" pitchFamily="34" charset="-122"/>
                <a:cs typeface="Arial" pitchFamily="34" charset="-120"/>
              </a:rPr>
              <a:t>RAG RELIABILITY PLATFORM  ·  Báo cáo đồ án môn học</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8A8F98"/>
                </a:solidFill>
                <a:latin typeface="Arial" pitchFamily="34" charset="0"/>
                <a:ea typeface="Arial" pitchFamily="34" charset="-122"/>
                <a:cs typeface="Arial" pitchFamily="34" charset="-120"/>
              </a:rPr>
              <a:t>19</a:t>
            </a:r>
            <a:endParaRPr lang="en-US" sz="900" dirty="0"/>
          </a:p>
        </p:txBody>
      </p:sp>
      <p:sp>
        <p:nvSpPr>
          <p:cNvPr id="4" name="Text 2"/>
          <p:cNvSpPr txBox="1"/>
          <p:nvPr/>
        </p:nvSpPr>
        <p:spPr>
          <a:xfrm>
            <a:off x="566928" y="384048"/>
            <a:ext cx="5303520" cy="1234440"/>
          </a:xfrm>
          <a:prstGeom prst="rect">
            <a:avLst/>
          </a:prstGeom>
          <a:noFill/>
          <a:ln/>
        </p:spPr>
        <p:txBody>
          <a:bodyPr wrap="square" lIns="0" tIns="0" rIns="0" bIns="0" rtlCol="0" anchor="t"/>
          <a:lstStyle/>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TÍCH HỢP MÁY CHỦ</a:t>
            </a:r>
            <a:endParaRPr lang="en-US" sz="3200" dirty="0"/>
          </a:p>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CÔNG CỤ BÊN NGOÀI</a:t>
            </a:r>
            <a:endParaRPr lang="en-US" sz="3200" dirty="0"/>
          </a:p>
        </p:txBody>
      </p:sp>
      <p:sp>
        <p:nvSpPr>
          <p:cNvPr id="5" name="Shape 3"/>
          <p:cNvSpPr/>
          <p:nvPr/>
        </p:nvSpPr>
        <p:spPr>
          <a:xfrm>
            <a:off x="6217920" y="1508760"/>
            <a:ext cx="5577840" cy="2739390"/>
          </a:xfrm>
          <a:prstGeom prst="rect">
            <a:avLst/>
          </a:prstGeom>
          <a:solidFill>
            <a:srgbClr val="132B5E"/>
          </a:solidFill>
          <a:ln/>
        </p:spPr>
      </p:sp>
      <p:sp>
        <p:nvSpPr>
          <p:cNvPr id="6" name="Shape 4"/>
          <p:cNvSpPr/>
          <p:nvPr/>
        </p:nvSpPr>
        <p:spPr>
          <a:xfrm>
            <a:off x="6126480" y="1417320"/>
            <a:ext cx="5577840" cy="2739390"/>
          </a:xfrm>
          <a:prstGeom prst="rect">
            <a:avLst/>
          </a:prstGeom>
          <a:solidFill>
            <a:srgbClr val="FFFFFF"/>
          </a:solidFill>
          <a:ln w="12700">
            <a:solidFill>
              <a:srgbClr val="FFFFFF"/>
            </a:solidFill>
            <a:prstDash val="solid"/>
          </a:ln>
        </p:spPr>
      </p:sp>
      <p:pic>
        <p:nvPicPr>
          <p:cNvPr id="7" name="Image 0" descr="/private/tmp/claude-501/-Volumes-Data-Documents-rag-reliability/6db8fc1f-3028-4f02-8952-927e30b47723/scratchpad/report/img/d11-mcp.png">    </p:cNvPr>
          <p:cNvPicPr>
            <a:picLocks noChangeAspect="1"/>
          </p:cNvPicPr>
          <p:nvPr/>
        </p:nvPicPr>
        <p:blipFill>
          <a:blip r:embed="rId1"/>
          <a:stretch>
            <a:fillRect/>
          </a:stretch>
        </p:blipFill>
        <p:spPr>
          <a:xfrm>
            <a:off x="6190488" y="1481328"/>
            <a:ext cx="5449824" cy="2611374"/>
          </a:xfrm>
          <a:prstGeom prst="rect">
            <a:avLst/>
          </a:prstGeom>
        </p:spPr>
      </p:pic>
      <p:sp>
        <p:nvSpPr>
          <p:cNvPr id="8" name="Shape 5"/>
          <p:cNvSpPr/>
          <p:nvPr/>
        </p:nvSpPr>
        <p:spPr>
          <a:xfrm>
            <a:off x="566928" y="2011680"/>
            <a:ext cx="5120640" cy="3566160"/>
          </a:xfrm>
          <a:prstGeom prst="rect">
            <a:avLst/>
          </a:prstGeom>
          <a:solidFill>
            <a:srgbClr val="132B5E"/>
          </a:solidFill>
          <a:ln/>
        </p:spPr>
      </p:sp>
      <p:sp>
        <p:nvSpPr>
          <p:cNvPr id="9" name="Text 6"/>
          <p:cNvSpPr txBox="1"/>
          <p:nvPr/>
        </p:nvSpPr>
        <p:spPr>
          <a:xfrm>
            <a:off x="950976" y="2304288"/>
            <a:ext cx="4352544" cy="365760"/>
          </a:xfrm>
          <a:prstGeom prst="rect">
            <a:avLst/>
          </a:prstGeom>
          <a:noFill/>
          <a:ln/>
        </p:spPr>
        <p:txBody>
          <a:bodyPr wrap="square" lIns="0" tIns="0" rIns="0" bIns="0" rtlCol="0" anchor="ctr"/>
          <a:lstStyle/>
          <a:p>
            <a:pPr indent="0" marL="0">
              <a:buNone/>
            </a:pPr>
            <a:r>
              <a:rPr lang="en-US" sz="1500" b="1" dirty="0">
                <a:solidFill>
                  <a:srgbClr val="8CC0E4"/>
                </a:solidFill>
                <a:latin typeface="Arial" pitchFamily="34" charset="0"/>
                <a:ea typeface="Arial" pitchFamily="34" charset="-122"/>
                <a:cs typeface="Arial" pitchFamily="34" charset="-120"/>
              </a:rPr>
              <a:t>BA QUY ƯỚC AN TOÀN</a:t>
            </a:r>
            <a:endParaRPr lang="en-US" sz="1500" dirty="0"/>
          </a:p>
        </p:txBody>
      </p:sp>
      <p:sp>
        <p:nvSpPr>
          <p:cNvPr id="10" name="Text 7"/>
          <p:cNvSpPr txBox="1"/>
          <p:nvPr/>
        </p:nvSpPr>
        <p:spPr>
          <a:xfrm>
            <a:off x="950976" y="2798064"/>
            <a:ext cx="4352544" cy="2468880"/>
          </a:xfrm>
          <a:prstGeom prst="rect">
            <a:avLst/>
          </a:prstGeom>
          <a:noFill/>
          <a:ln/>
        </p:spPr>
        <p:txBody>
          <a:bodyPr wrap="square" lIns="0" tIns="0" rIns="0" bIns="0" rtlCol="0" anchor="t"/>
          <a:lstStyle/>
          <a:p>
            <a:pPr indent="0" marL="0">
              <a:lnSpc>
                <a:spcPct val="120000"/>
              </a:lnSpc>
              <a:spcAft>
                <a:spcPts val="900"/>
              </a:spcAft>
              <a:buNone/>
            </a:pPr>
            <a:r>
              <a:rPr lang="en-US" sz="1300" dirty="0">
                <a:solidFill>
                  <a:srgbClr val="FFFFFF"/>
                </a:solidFill>
                <a:latin typeface="Arial" pitchFamily="34" charset="0"/>
                <a:ea typeface="Arial" pitchFamily="34" charset="-122"/>
                <a:cs typeface="Arial" pitchFamily="34" charset="-120"/>
              </a:rPr>
              <a:t>-  Kết quả trả về luôn bị đánh dấu không tin cậy trước khi vào ngữ cảnh.</a:t>
            </a:r>
            <a:endParaRPr lang="en-US" sz="1300" dirty="0"/>
          </a:p>
          <a:p>
            <a:pPr indent="0" marL="0">
              <a:lnSpc>
                <a:spcPct val="120000"/>
              </a:lnSpc>
              <a:spcAft>
                <a:spcPts val="900"/>
              </a:spcAft>
              <a:buNone/>
            </a:pPr>
            <a:r>
              <a:rPr lang="en-US" sz="1300" dirty="0">
                <a:solidFill>
                  <a:srgbClr val="FFFFFF"/>
                </a:solidFill>
                <a:latin typeface="Arial" pitchFamily="34" charset="0"/>
                <a:ea typeface="Arial" pitchFamily="34" charset="-122"/>
                <a:cs typeface="Arial" pitchFamily="34" charset="-120"/>
              </a:rPr>
              <a:t>-  Mức rủi ro lấy theo cấu hình phía hệ thống, không theo lời khai của máy chủ.</a:t>
            </a:r>
            <a:endParaRPr lang="en-US" sz="1300" dirty="0"/>
          </a:p>
          <a:p>
            <a:pPr indent="0" marL="0">
              <a:lnSpc>
                <a:spcPct val="120000"/>
              </a:lnSpc>
              <a:spcAft>
                <a:spcPts val="900"/>
              </a:spcAft>
              <a:buNone/>
            </a:pPr>
            <a:r>
              <a:rPr lang="en-US" sz="1300" dirty="0">
                <a:solidFill>
                  <a:srgbClr val="FFFFFF"/>
                </a:solidFill>
                <a:latin typeface="Arial" pitchFamily="34" charset="0"/>
                <a:ea typeface="Arial" pitchFamily="34" charset="-122"/>
                <a:cs typeface="Arial" pitchFamily="34" charset="-120"/>
              </a:rPr>
              <a:t>-  Công cụ rủi ro cao bị từ chối vì chưa có luồng phê duyệt của con người.</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2148"/>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3A5290"/>
                </a:solidFill>
                <a:latin typeface="Arial" pitchFamily="34" charset="0"/>
                <a:ea typeface="Arial" pitchFamily="34" charset="-122"/>
                <a:cs typeface="Arial" pitchFamily="34" charset="-120"/>
              </a:rPr>
              <a:t>RAG RELIABILITY PLATFORM  ·  Báo cáo đồ án môn học</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3A5290"/>
                </a:solidFill>
                <a:latin typeface="Arial" pitchFamily="34" charset="0"/>
                <a:ea typeface="Arial" pitchFamily="34" charset="-122"/>
                <a:cs typeface="Arial" pitchFamily="34" charset="-120"/>
              </a:rPr>
              <a:t>20</a:t>
            </a:r>
            <a:endParaRPr lang="en-US" sz="900" dirty="0"/>
          </a:p>
        </p:txBody>
      </p:sp>
      <p:sp>
        <p:nvSpPr>
          <p:cNvPr id="4" name="Text 2"/>
          <p:cNvSpPr txBox="1"/>
          <p:nvPr/>
        </p:nvSpPr>
        <p:spPr>
          <a:xfrm>
            <a:off x="512064" y="1371600"/>
            <a:ext cx="3657600" cy="1920240"/>
          </a:xfrm>
          <a:prstGeom prst="rect">
            <a:avLst/>
          </a:prstGeom>
          <a:noFill/>
          <a:ln/>
        </p:spPr>
        <p:txBody>
          <a:bodyPr wrap="square" lIns="0" tIns="0" rIns="0" bIns="0" rtlCol="0" anchor="ctr"/>
          <a:lstStyle/>
          <a:p>
            <a:pPr indent="0" marL="0">
              <a:buNone/>
            </a:pPr>
            <a:r>
              <a:rPr lang="en-US" sz="12000" b="1" dirty="0">
                <a:solidFill>
                  <a:srgbClr val="3A5290"/>
                </a:solidFill>
                <a:latin typeface="Arial" pitchFamily="34" charset="0"/>
                <a:ea typeface="Arial" pitchFamily="34" charset="-122"/>
                <a:cs typeface="Arial" pitchFamily="34" charset="-120"/>
              </a:rPr>
              <a:t>04</a:t>
            </a:r>
            <a:endParaRPr lang="en-US" sz="12000" dirty="0"/>
          </a:p>
        </p:txBody>
      </p:sp>
      <p:sp>
        <p:nvSpPr>
          <p:cNvPr id="5" name="Shape 3"/>
          <p:cNvSpPr/>
          <p:nvPr/>
        </p:nvSpPr>
        <p:spPr>
          <a:xfrm>
            <a:off x="566928" y="3657600"/>
            <a:ext cx="1463040" cy="82296"/>
          </a:xfrm>
          <a:prstGeom prst="rect">
            <a:avLst/>
          </a:prstGeom>
          <a:solidFill>
            <a:srgbClr val="8CC0E4"/>
          </a:solidFill>
          <a:ln/>
        </p:spPr>
      </p:sp>
      <p:sp>
        <p:nvSpPr>
          <p:cNvPr id="6" name="Text 4"/>
          <p:cNvSpPr txBox="1"/>
          <p:nvPr/>
        </p:nvSpPr>
        <p:spPr>
          <a:xfrm>
            <a:off x="566928" y="3977640"/>
            <a:ext cx="10058400" cy="73152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KẾT QUẢ THỰC NGHIỆM</a:t>
            </a:r>
            <a:endParaRPr lang="en-US" sz="3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FEFEE"/>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8A8F98"/>
                </a:solidFill>
                <a:latin typeface="Arial" pitchFamily="34" charset="0"/>
                <a:ea typeface="Arial" pitchFamily="34" charset="-122"/>
                <a:cs typeface="Arial" pitchFamily="34" charset="-120"/>
              </a:rPr>
              <a:t>RAG RELIABILITY PLATFORM  ·  Báo cáo đồ án môn học</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8A8F98"/>
                </a:solidFill>
                <a:latin typeface="Arial" pitchFamily="34" charset="0"/>
                <a:ea typeface="Arial" pitchFamily="34" charset="-122"/>
                <a:cs typeface="Arial" pitchFamily="34" charset="-120"/>
              </a:rPr>
              <a:t>21</a:t>
            </a:r>
            <a:endParaRPr lang="en-US" sz="900" dirty="0"/>
          </a:p>
        </p:txBody>
      </p:sp>
      <p:sp>
        <p:nvSpPr>
          <p:cNvPr id="4" name="Text 2"/>
          <p:cNvSpPr txBox="1"/>
          <p:nvPr/>
        </p:nvSpPr>
        <p:spPr>
          <a:xfrm>
            <a:off x="566928" y="384048"/>
            <a:ext cx="5303520" cy="1234440"/>
          </a:xfrm>
          <a:prstGeom prst="rect">
            <a:avLst/>
          </a:prstGeom>
          <a:noFill/>
          <a:ln/>
        </p:spPr>
        <p:txBody>
          <a:bodyPr wrap="square" lIns="0" tIns="0" rIns="0" bIns="0" rtlCol="0" anchor="t"/>
          <a:lstStyle/>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BỘ DỮ LIỆU</a:t>
            </a:r>
            <a:endParaRPr lang="en-US" sz="3200" dirty="0"/>
          </a:p>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VÀNG</a:t>
            </a:r>
            <a:endParaRPr lang="en-US" sz="3200" dirty="0"/>
          </a:p>
        </p:txBody>
      </p:sp>
      <p:sp>
        <p:nvSpPr>
          <p:cNvPr id="5" name="Text 3"/>
          <p:cNvSpPr txBox="1"/>
          <p:nvPr/>
        </p:nvSpPr>
        <p:spPr>
          <a:xfrm>
            <a:off x="566928" y="1965960"/>
            <a:ext cx="4480560" cy="1097280"/>
          </a:xfrm>
          <a:prstGeom prst="rect">
            <a:avLst/>
          </a:prstGeom>
          <a:noFill/>
          <a:ln/>
        </p:spPr>
        <p:txBody>
          <a:bodyPr wrap="square" lIns="0" tIns="0" rIns="0" bIns="0" rtlCol="0" anchor="t"/>
          <a:lstStyle/>
          <a:p>
            <a:pPr indent="0" marL="0">
              <a:lnSpc>
                <a:spcPct val="128000"/>
              </a:lnSpc>
              <a:buNone/>
            </a:pPr>
            <a:r>
              <a:rPr lang="en-US" sz="1450" dirty="0">
                <a:solidFill>
                  <a:srgbClr val="1F3A6E"/>
                </a:solidFill>
                <a:latin typeface="Arial" pitchFamily="34" charset="0"/>
                <a:ea typeface="Arial" pitchFamily="34" charset="-122"/>
                <a:cs typeface="Arial" pitchFamily="34" charset="-120"/>
              </a:rPr>
              <a:t>Bộ dữ liệu không gom cho nhiều câu hỏi, mà thiết kế để mỗi nhóm cô lập được một tầng có thể hỏng trong đường ống.</a:t>
            </a:r>
            <a:endParaRPr lang="en-US" sz="1450" dirty="0"/>
          </a:p>
        </p:txBody>
      </p:sp>
      <p:sp>
        <p:nvSpPr>
          <p:cNvPr id="6" name="Text 4"/>
          <p:cNvSpPr txBox="1"/>
          <p:nvPr/>
        </p:nvSpPr>
        <p:spPr>
          <a:xfrm>
            <a:off x="566928" y="3566160"/>
            <a:ext cx="2103120" cy="566928"/>
          </a:xfrm>
          <a:prstGeom prst="rect">
            <a:avLst/>
          </a:prstGeom>
          <a:noFill/>
          <a:ln/>
        </p:spPr>
        <p:txBody>
          <a:bodyPr wrap="square" lIns="0" tIns="0" rIns="0" bIns="0" rtlCol="0" anchor="ctr"/>
          <a:lstStyle/>
          <a:p>
            <a:pPr indent="0" marL="0">
              <a:buNone/>
            </a:pPr>
            <a:r>
              <a:rPr lang="en-US" sz="3400" b="1" dirty="0">
                <a:solidFill>
                  <a:srgbClr val="132B5E"/>
                </a:solidFill>
                <a:latin typeface="Arial" pitchFamily="34" charset="0"/>
                <a:ea typeface="Arial" pitchFamily="34" charset="-122"/>
                <a:cs typeface="Arial" pitchFamily="34" charset="-120"/>
              </a:rPr>
              <a:t>210</a:t>
            </a:r>
            <a:endParaRPr lang="en-US" sz="3400" dirty="0"/>
          </a:p>
        </p:txBody>
      </p:sp>
      <p:sp>
        <p:nvSpPr>
          <p:cNvPr id="7" name="Text 5"/>
          <p:cNvSpPr txBox="1"/>
          <p:nvPr/>
        </p:nvSpPr>
        <p:spPr>
          <a:xfrm>
            <a:off x="566928" y="4114800"/>
            <a:ext cx="2103120" cy="384048"/>
          </a:xfrm>
          <a:prstGeom prst="rect">
            <a:avLst/>
          </a:prstGeom>
          <a:noFill/>
          <a:ln/>
        </p:spPr>
        <p:txBody>
          <a:bodyPr wrap="square" lIns="0" tIns="0" rIns="0" bIns="0" rtlCol="0" anchor="t"/>
          <a:lstStyle/>
          <a:p>
            <a:pPr indent="0" marL="0">
              <a:lnSpc>
                <a:spcPct val="110000"/>
              </a:lnSpc>
              <a:buNone/>
            </a:pPr>
            <a:r>
              <a:rPr lang="en-US" sz="1150" dirty="0">
                <a:solidFill>
                  <a:srgbClr val="1F3A6E"/>
                </a:solidFill>
                <a:latin typeface="Arial" pitchFamily="34" charset="0"/>
                <a:ea typeface="Arial" pitchFamily="34" charset="-122"/>
                <a:cs typeface="Arial" pitchFamily="34" charset="-120"/>
              </a:rPr>
              <a:t>case đánh giá</a:t>
            </a:r>
            <a:endParaRPr lang="en-US" sz="1150" dirty="0"/>
          </a:p>
        </p:txBody>
      </p:sp>
      <p:sp>
        <p:nvSpPr>
          <p:cNvPr id="8" name="Text 6"/>
          <p:cNvSpPr txBox="1"/>
          <p:nvPr/>
        </p:nvSpPr>
        <p:spPr>
          <a:xfrm>
            <a:off x="2743200" y="3566160"/>
            <a:ext cx="2103120" cy="566928"/>
          </a:xfrm>
          <a:prstGeom prst="rect">
            <a:avLst/>
          </a:prstGeom>
          <a:noFill/>
          <a:ln/>
        </p:spPr>
        <p:txBody>
          <a:bodyPr wrap="square" lIns="0" tIns="0" rIns="0" bIns="0" rtlCol="0" anchor="ctr"/>
          <a:lstStyle/>
          <a:p>
            <a:pPr indent="0" marL="0">
              <a:buNone/>
            </a:pPr>
            <a:r>
              <a:rPr lang="en-US" sz="3400" b="1" dirty="0">
                <a:solidFill>
                  <a:srgbClr val="132B5E"/>
                </a:solidFill>
                <a:latin typeface="Arial" pitchFamily="34" charset="0"/>
                <a:ea typeface="Arial" pitchFamily="34" charset="-122"/>
                <a:cs typeface="Arial" pitchFamily="34" charset="-120"/>
              </a:rPr>
              <a:t>13</a:t>
            </a:r>
            <a:endParaRPr lang="en-US" sz="3400" dirty="0"/>
          </a:p>
        </p:txBody>
      </p:sp>
      <p:sp>
        <p:nvSpPr>
          <p:cNvPr id="9" name="Text 7"/>
          <p:cNvSpPr txBox="1"/>
          <p:nvPr/>
        </p:nvSpPr>
        <p:spPr>
          <a:xfrm>
            <a:off x="2743200" y="4114800"/>
            <a:ext cx="2103120" cy="384048"/>
          </a:xfrm>
          <a:prstGeom prst="rect">
            <a:avLst/>
          </a:prstGeom>
          <a:noFill/>
          <a:ln/>
        </p:spPr>
        <p:txBody>
          <a:bodyPr wrap="square" lIns="0" tIns="0" rIns="0" bIns="0" rtlCol="0" anchor="t"/>
          <a:lstStyle/>
          <a:p>
            <a:pPr indent="0" marL="0">
              <a:lnSpc>
                <a:spcPct val="110000"/>
              </a:lnSpc>
              <a:buNone/>
            </a:pPr>
            <a:r>
              <a:rPr lang="en-US" sz="1150" dirty="0">
                <a:solidFill>
                  <a:srgbClr val="1F3A6E"/>
                </a:solidFill>
                <a:latin typeface="Arial" pitchFamily="34" charset="0"/>
                <a:ea typeface="Arial" pitchFamily="34" charset="-122"/>
                <a:cs typeface="Arial" pitchFamily="34" charset="-120"/>
              </a:rPr>
              <a:t>nhóm theo tầng lỗi</a:t>
            </a:r>
            <a:endParaRPr lang="en-US" sz="1150" dirty="0"/>
          </a:p>
        </p:txBody>
      </p:sp>
      <p:sp>
        <p:nvSpPr>
          <p:cNvPr id="10" name="Text 8"/>
          <p:cNvSpPr txBox="1"/>
          <p:nvPr/>
        </p:nvSpPr>
        <p:spPr>
          <a:xfrm>
            <a:off x="566928" y="4709160"/>
            <a:ext cx="2103120" cy="566928"/>
          </a:xfrm>
          <a:prstGeom prst="rect">
            <a:avLst/>
          </a:prstGeom>
          <a:noFill/>
          <a:ln/>
        </p:spPr>
        <p:txBody>
          <a:bodyPr wrap="square" lIns="0" tIns="0" rIns="0" bIns="0" rtlCol="0" anchor="ctr"/>
          <a:lstStyle/>
          <a:p>
            <a:pPr indent="0" marL="0">
              <a:buNone/>
            </a:pPr>
            <a:r>
              <a:rPr lang="en-US" sz="3400" b="1" dirty="0">
                <a:solidFill>
                  <a:srgbClr val="132B5E"/>
                </a:solidFill>
                <a:latin typeface="Arial" pitchFamily="34" charset="0"/>
                <a:ea typeface="Arial" pitchFamily="34" charset="-122"/>
                <a:cs typeface="Arial" pitchFamily="34" charset="-120"/>
              </a:rPr>
              <a:t>39</a:t>
            </a:r>
            <a:endParaRPr lang="en-US" sz="3400" dirty="0"/>
          </a:p>
        </p:txBody>
      </p:sp>
      <p:sp>
        <p:nvSpPr>
          <p:cNvPr id="11" name="Text 9"/>
          <p:cNvSpPr txBox="1"/>
          <p:nvPr/>
        </p:nvSpPr>
        <p:spPr>
          <a:xfrm>
            <a:off x="566928" y="5257800"/>
            <a:ext cx="2103120" cy="384048"/>
          </a:xfrm>
          <a:prstGeom prst="rect">
            <a:avLst/>
          </a:prstGeom>
          <a:noFill/>
          <a:ln/>
        </p:spPr>
        <p:txBody>
          <a:bodyPr wrap="square" lIns="0" tIns="0" rIns="0" bIns="0" rtlCol="0" anchor="t"/>
          <a:lstStyle/>
          <a:p>
            <a:pPr indent="0" marL="0">
              <a:lnSpc>
                <a:spcPct val="110000"/>
              </a:lnSpc>
              <a:buNone/>
            </a:pPr>
            <a:r>
              <a:rPr lang="en-US" sz="1150" dirty="0">
                <a:solidFill>
                  <a:srgbClr val="1F3A6E"/>
                </a:solidFill>
                <a:latin typeface="Arial" pitchFamily="34" charset="0"/>
                <a:ea typeface="Arial" pitchFamily="34" charset="-122"/>
                <a:cs typeface="Arial" pitchFamily="34" charset="-120"/>
              </a:rPr>
              <a:t>tài liệu corpus</a:t>
            </a:r>
            <a:endParaRPr lang="en-US" sz="1150" dirty="0"/>
          </a:p>
        </p:txBody>
      </p:sp>
      <p:sp>
        <p:nvSpPr>
          <p:cNvPr id="12" name="Text 10"/>
          <p:cNvSpPr txBox="1"/>
          <p:nvPr/>
        </p:nvSpPr>
        <p:spPr>
          <a:xfrm>
            <a:off x="2743200" y="4709160"/>
            <a:ext cx="2103120" cy="566928"/>
          </a:xfrm>
          <a:prstGeom prst="rect">
            <a:avLst/>
          </a:prstGeom>
          <a:noFill/>
          <a:ln/>
        </p:spPr>
        <p:txBody>
          <a:bodyPr wrap="square" lIns="0" tIns="0" rIns="0" bIns="0" rtlCol="0" anchor="ctr"/>
          <a:lstStyle/>
          <a:p>
            <a:pPr indent="0" marL="0">
              <a:buNone/>
            </a:pPr>
            <a:r>
              <a:rPr lang="en-US" sz="3400" b="1" dirty="0">
                <a:solidFill>
                  <a:srgbClr val="132B5E"/>
                </a:solidFill>
                <a:latin typeface="Arial" pitchFamily="34" charset="0"/>
                <a:ea typeface="Arial" pitchFamily="34" charset="-122"/>
                <a:cs typeface="Arial" pitchFamily="34" charset="-120"/>
              </a:rPr>
              <a:t>24</a:t>
            </a:r>
            <a:endParaRPr lang="en-US" sz="3400" dirty="0"/>
          </a:p>
        </p:txBody>
      </p:sp>
      <p:sp>
        <p:nvSpPr>
          <p:cNvPr id="13" name="Text 11"/>
          <p:cNvSpPr txBox="1"/>
          <p:nvPr/>
        </p:nvSpPr>
        <p:spPr>
          <a:xfrm>
            <a:off x="2743200" y="5257800"/>
            <a:ext cx="2103120" cy="384048"/>
          </a:xfrm>
          <a:prstGeom prst="rect">
            <a:avLst/>
          </a:prstGeom>
          <a:noFill/>
          <a:ln/>
        </p:spPr>
        <p:txBody>
          <a:bodyPr wrap="square" lIns="0" tIns="0" rIns="0" bIns="0" rtlCol="0" anchor="t"/>
          <a:lstStyle/>
          <a:p>
            <a:pPr indent="0" marL="0">
              <a:lnSpc>
                <a:spcPct val="110000"/>
              </a:lnSpc>
              <a:buNone/>
            </a:pPr>
            <a:r>
              <a:rPr lang="en-US" sz="1150" dirty="0">
                <a:solidFill>
                  <a:srgbClr val="1F3A6E"/>
                </a:solidFill>
                <a:latin typeface="Arial" pitchFamily="34" charset="0"/>
                <a:ea typeface="Arial" pitchFamily="34" charset="-122"/>
                <a:cs typeface="Arial" pitchFamily="34" charset="-120"/>
              </a:rPr>
              <a:t>case đo tác tử</a:t>
            </a:r>
            <a:endParaRPr lang="en-US" sz="1150" dirty="0"/>
          </a:p>
        </p:txBody>
      </p:sp>
      <p:sp>
        <p:nvSpPr>
          <p:cNvPr id="14" name="Shape 12"/>
          <p:cNvSpPr/>
          <p:nvPr/>
        </p:nvSpPr>
        <p:spPr>
          <a:xfrm>
            <a:off x="6080760" y="1417320"/>
            <a:ext cx="5715000" cy="3376263"/>
          </a:xfrm>
          <a:prstGeom prst="rect">
            <a:avLst/>
          </a:prstGeom>
          <a:solidFill>
            <a:srgbClr val="132B5E"/>
          </a:solidFill>
          <a:ln/>
        </p:spPr>
      </p:sp>
      <p:sp>
        <p:nvSpPr>
          <p:cNvPr id="15" name="Shape 13"/>
          <p:cNvSpPr/>
          <p:nvPr/>
        </p:nvSpPr>
        <p:spPr>
          <a:xfrm>
            <a:off x="5989320" y="1325880"/>
            <a:ext cx="5715000" cy="3376263"/>
          </a:xfrm>
          <a:prstGeom prst="rect">
            <a:avLst/>
          </a:prstGeom>
          <a:solidFill>
            <a:srgbClr val="FFFFFF"/>
          </a:solidFill>
          <a:ln w="12700">
            <a:solidFill>
              <a:srgbClr val="FFFFFF"/>
            </a:solidFill>
            <a:prstDash val="solid"/>
          </a:ln>
        </p:spPr>
      </p:sp>
      <p:pic>
        <p:nvPicPr>
          <p:cNvPr id="16" name="Image 0" descr="/private/tmp/claude-501/-Volumes-Data-Documents-rag-reliability/6db8fc1f-3028-4f02-8952-927e30b47723/scratchpad/report/img/c05-dataset.png">    </p:cNvPr>
          <p:cNvPicPr>
            <a:picLocks noChangeAspect="1"/>
          </p:cNvPicPr>
          <p:nvPr/>
        </p:nvPicPr>
        <p:blipFill>
          <a:blip r:embed="rId1"/>
          <a:stretch>
            <a:fillRect/>
          </a:stretch>
        </p:blipFill>
        <p:spPr>
          <a:xfrm>
            <a:off x="6053328" y="1389888"/>
            <a:ext cx="5586984" cy="3248247"/>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FEFEE"/>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8A8F98"/>
                </a:solidFill>
                <a:latin typeface="Arial" pitchFamily="34" charset="0"/>
                <a:ea typeface="Arial" pitchFamily="34" charset="-122"/>
                <a:cs typeface="Arial" pitchFamily="34" charset="-120"/>
              </a:rPr>
              <a:t>RAG RELIABILITY PLATFORM  ·  Báo cáo đồ án môn học</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8A8F98"/>
                </a:solidFill>
                <a:latin typeface="Arial" pitchFamily="34" charset="0"/>
                <a:ea typeface="Arial" pitchFamily="34" charset="-122"/>
                <a:cs typeface="Arial" pitchFamily="34" charset="-120"/>
              </a:rPr>
              <a:t>22</a:t>
            </a:r>
            <a:endParaRPr lang="en-US" sz="900" dirty="0"/>
          </a:p>
        </p:txBody>
      </p:sp>
      <p:sp>
        <p:nvSpPr>
          <p:cNvPr id="4" name="Text 2"/>
          <p:cNvSpPr txBox="1"/>
          <p:nvPr/>
        </p:nvSpPr>
        <p:spPr>
          <a:xfrm>
            <a:off x="566928" y="384048"/>
            <a:ext cx="10881360" cy="777240"/>
          </a:xfrm>
          <a:prstGeom prst="rect">
            <a:avLst/>
          </a:prstGeom>
          <a:noFill/>
          <a:ln/>
        </p:spPr>
        <p:txBody>
          <a:bodyPr wrap="square" lIns="0" tIns="0" rIns="0" bIns="0" rtlCol="0" anchor="t"/>
          <a:lstStyle/>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KẾT QUẢ TRÊN ĐƯỜNG ỐNG TRUY VẤN</a:t>
            </a:r>
            <a:endParaRPr lang="en-US" sz="3200" dirty="0"/>
          </a:p>
        </p:txBody>
      </p:sp>
      <p:sp>
        <p:nvSpPr>
          <p:cNvPr id="5" name="Text 3"/>
          <p:cNvSpPr txBox="1"/>
          <p:nvPr/>
        </p:nvSpPr>
        <p:spPr>
          <a:xfrm>
            <a:off x="566928" y="1170432"/>
            <a:ext cx="10881360" cy="457200"/>
          </a:xfrm>
          <a:prstGeom prst="rect">
            <a:avLst/>
          </a:prstGeom>
          <a:noFill/>
          <a:ln/>
        </p:spPr>
        <p:txBody>
          <a:bodyPr wrap="square" lIns="0" tIns="0" rIns="0" bIns="0" rtlCol="0" anchor="t"/>
          <a:lstStyle/>
          <a:p>
            <a:pPr indent="0" marL="0">
              <a:lnSpc>
                <a:spcPct val="128000"/>
              </a:lnSpc>
              <a:buNone/>
            </a:pPr>
            <a:r>
              <a:rPr lang="en-US" sz="1450" dirty="0">
                <a:solidFill>
                  <a:srgbClr val="1F3A6E"/>
                </a:solidFill>
                <a:latin typeface="Arial" pitchFamily="34" charset="0"/>
                <a:ea typeface="Arial" pitchFamily="34" charset="-122"/>
                <a:cs typeface="Arial" pitchFamily="34" charset="-120"/>
              </a:rPr>
              <a:t>Đo trên 111 case của năm bộ dữ liệu, mô hình sinh câu trả lời chạy cục bộ ở quy mô bảy tỉ tham số.</a:t>
            </a:r>
            <a:endParaRPr lang="en-US" sz="1450" dirty="0"/>
          </a:p>
        </p:txBody>
      </p:sp>
      <p:sp>
        <p:nvSpPr>
          <p:cNvPr id="6" name="Shape 4"/>
          <p:cNvSpPr/>
          <p:nvPr/>
        </p:nvSpPr>
        <p:spPr>
          <a:xfrm>
            <a:off x="658368" y="1874520"/>
            <a:ext cx="6766560" cy="3164797"/>
          </a:xfrm>
          <a:prstGeom prst="rect">
            <a:avLst/>
          </a:prstGeom>
          <a:solidFill>
            <a:srgbClr val="132B5E"/>
          </a:solidFill>
          <a:ln/>
        </p:spPr>
      </p:sp>
      <p:sp>
        <p:nvSpPr>
          <p:cNvPr id="7" name="Shape 5"/>
          <p:cNvSpPr/>
          <p:nvPr/>
        </p:nvSpPr>
        <p:spPr>
          <a:xfrm>
            <a:off x="566928" y="1783080"/>
            <a:ext cx="6766560" cy="3164797"/>
          </a:xfrm>
          <a:prstGeom prst="rect">
            <a:avLst/>
          </a:prstGeom>
          <a:solidFill>
            <a:srgbClr val="FFFFFF"/>
          </a:solidFill>
          <a:ln w="12700">
            <a:solidFill>
              <a:srgbClr val="FFFFFF"/>
            </a:solidFill>
            <a:prstDash val="solid"/>
          </a:ln>
        </p:spPr>
      </p:sp>
      <p:pic>
        <p:nvPicPr>
          <p:cNvPr id="8" name="Image 0" descr="/private/tmp/claude-501/-Volumes-Data-Documents-rag-reliability/6db8fc1f-3028-4f02-8952-927e30b47723/scratchpad/report/img/c01-passrate.png">    </p:cNvPr>
          <p:cNvPicPr>
            <a:picLocks noChangeAspect="1"/>
          </p:cNvPicPr>
          <p:nvPr/>
        </p:nvPicPr>
        <p:blipFill>
          <a:blip r:embed="rId1"/>
          <a:stretch>
            <a:fillRect/>
          </a:stretch>
        </p:blipFill>
        <p:spPr>
          <a:xfrm>
            <a:off x="630936" y="1847088"/>
            <a:ext cx="6638544" cy="3036781"/>
          </a:xfrm>
          <a:prstGeom prst="rect">
            <a:avLst/>
          </a:prstGeom>
        </p:spPr>
      </p:pic>
      <p:sp>
        <p:nvSpPr>
          <p:cNvPr id="9" name="Shape 6"/>
          <p:cNvSpPr/>
          <p:nvPr/>
        </p:nvSpPr>
        <p:spPr>
          <a:xfrm>
            <a:off x="7635240" y="1783080"/>
            <a:ext cx="4069080" cy="4114800"/>
          </a:xfrm>
          <a:prstGeom prst="rect">
            <a:avLst/>
          </a:prstGeom>
          <a:solidFill>
            <a:srgbClr val="132B5E"/>
          </a:solidFill>
          <a:ln/>
        </p:spPr>
      </p:sp>
      <p:sp>
        <p:nvSpPr>
          <p:cNvPr id="10" name="Text 7"/>
          <p:cNvSpPr txBox="1"/>
          <p:nvPr/>
        </p:nvSpPr>
        <p:spPr>
          <a:xfrm>
            <a:off x="8001000" y="2011680"/>
            <a:ext cx="3383280" cy="566928"/>
          </a:xfrm>
          <a:prstGeom prst="rect">
            <a:avLst/>
          </a:prstGeom>
          <a:noFill/>
          <a:ln/>
        </p:spPr>
        <p:txBody>
          <a:bodyPr wrap="square" lIns="0" tIns="0" rIns="0" bIns="0" rtlCol="0" anchor="ctr"/>
          <a:lstStyle/>
          <a:p>
            <a:pPr indent="0" marL="0">
              <a:buNone/>
            </a:pPr>
            <a:r>
              <a:rPr lang="en-US" sz="2600" b="1" dirty="0">
                <a:solidFill>
                  <a:srgbClr val="8CC0E4"/>
                </a:solidFill>
                <a:latin typeface="Arial" pitchFamily="34" charset="0"/>
                <a:ea typeface="Arial" pitchFamily="34" charset="-122"/>
                <a:cs typeface="Arial" pitchFamily="34" charset="-120"/>
              </a:rPr>
              <a:t>1,00</a:t>
            </a:r>
            <a:endParaRPr lang="en-US" sz="2600" dirty="0"/>
          </a:p>
        </p:txBody>
      </p:sp>
      <p:sp>
        <p:nvSpPr>
          <p:cNvPr id="11" name="Text 8"/>
          <p:cNvSpPr txBox="1"/>
          <p:nvPr/>
        </p:nvSpPr>
        <p:spPr>
          <a:xfrm>
            <a:off x="8001000" y="2560320"/>
            <a:ext cx="3383280" cy="384048"/>
          </a:xfrm>
          <a:prstGeom prst="rect">
            <a:avLst/>
          </a:prstGeom>
          <a:noFill/>
          <a:ln/>
        </p:spPr>
        <p:txBody>
          <a:bodyPr wrap="square" lIns="0" tIns="0" rIns="0" bIns="0" rtlCol="0" anchor="t"/>
          <a:lstStyle/>
          <a:p>
            <a:pPr indent="0" marL="0">
              <a:lnSpc>
                <a:spcPct val="110000"/>
              </a:lnSpc>
              <a:buNone/>
            </a:pPr>
            <a:r>
              <a:rPr lang="en-US" sz="1150" dirty="0">
                <a:solidFill>
                  <a:srgbClr val="FFFFFF"/>
                </a:solidFill>
                <a:latin typeface="Arial" pitchFamily="34" charset="0"/>
                <a:ea typeface="Arial" pitchFamily="34" charset="-122"/>
                <a:cs typeface="Arial" pitchFamily="34" charset="-120"/>
              </a:rPr>
              <a:t>tỉ lệ từ chối đúng</a:t>
            </a:r>
            <a:endParaRPr lang="en-US" sz="1150" dirty="0"/>
          </a:p>
          <a:p>
            <a:pPr indent="0" marL="0">
              <a:lnSpc>
                <a:spcPct val="110000"/>
              </a:lnSpc>
              <a:buNone/>
            </a:pPr>
            <a:r>
              <a:rPr lang="en-US" sz="1150" dirty="0">
                <a:solidFill>
                  <a:srgbClr val="FFFFFF"/>
                </a:solidFill>
                <a:latin typeface="Arial" pitchFamily="34" charset="0"/>
                <a:ea typeface="Arial" pitchFamily="34" charset="-122"/>
                <a:cs typeface="Arial" pitchFamily="34" charset="-120"/>
              </a:rPr>
              <a:t>trên câu hỏi ngoài phạm vi</a:t>
            </a:r>
            <a:endParaRPr lang="en-US" sz="1150" dirty="0"/>
          </a:p>
        </p:txBody>
      </p:sp>
      <p:sp>
        <p:nvSpPr>
          <p:cNvPr id="12" name="Text 9"/>
          <p:cNvSpPr txBox="1"/>
          <p:nvPr/>
        </p:nvSpPr>
        <p:spPr>
          <a:xfrm>
            <a:off x="8001000" y="3017520"/>
            <a:ext cx="3383280" cy="566928"/>
          </a:xfrm>
          <a:prstGeom prst="rect">
            <a:avLst/>
          </a:prstGeom>
          <a:noFill/>
          <a:ln/>
        </p:spPr>
        <p:txBody>
          <a:bodyPr wrap="square" lIns="0" tIns="0" rIns="0" bIns="0" rtlCol="0" anchor="ctr"/>
          <a:lstStyle/>
          <a:p>
            <a:pPr indent="0" marL="0">
              <a:buNone/>
            </a:pPr>
            <a:r>
              <a:rPr lang="en-US" sz="2600" b="1" dirty="0">
                <a:solidFill>
                  <a:srgbClr val="8CC0E4"/>
                </a:solidFill>
                <a:latin typeface="Arial" pitchFamily="34" charset="0"/>
                <a:ea typeface="Arial" pitchFamily="34" charset="-122"/>
                <a:cs typeface="Arial" pitchFamily="34" charset="-120"/>
              </a:rPr>
              <a:t>0,991</a:t>
            </a:r>
            <a:endParaRPr lang="en-US" sz="2600" dirty="0"/>
          </a:p>
        </p:txBody>
      </p:sp>
      <p:sp>
        <p:nvSpPr>
          <p:cNvPr id="13" name="Text 10"/>
          <p:cNvSpPr txBox="1"/>
          <p:nvPr/>
        </p:nvSpPr>
        <p:spPr>
          <a:xfrm>
            <a:off x="8001000" y="3566160"/>
            <a:ext cx="3383280" cy="384048"/>
          </a:xfrm>
          <a:prstGeom prst="rect">
            <a:avLst/>
          </a:prstGeom>
          <a:noFill/>
          <a:ln/>
        </p:spPr>
        <p:txBody>
          <a:bodyPr wrap="square" lIns="0" tIns="0" rIns="0" bIns="0" rtlCol="0" anchor="t"/>
          <a:lstStyle/>
          <a:p>
            <a:pPr indent="0" marL="0">
              <a:lnSpc>
                <a:spcPct val="110000"/>
              </a:lnSpc>
              <a:buNone/>
            </a:pPr>
            <a:r>
              <a:rPr lang="en-US" sz="1150" dirty="0">
                <a:solidFill>
                  <a:srgbClr val="FFFFFF"/>
                </a:solidFill>
                <a:latin typeface="Arial" pitchFamily="34" charset="0"/>
                <a:ea typeface="Arial" pitchFamily="34" charset="-122"/>
                <a:cs typeface="Arial" pitchFamily="34" charset="-120"/>
              </a:rPr>
              <a:t>độ bao phủ khi truy hồi</a:t>
            </a:r>
            <a:endParaRPr lang="en-US" sz="1150" dirty="0"/>
          </a:p>
          <a:p>
            <a:pPr indent="0" marL="0">
              <a:lnSpc>
                <a:spcPct val="110000"/>
              </a:lnSpc>
              <a:buNone/>
            </a:pPr>
            <a:r>
              <a:rPr lang="en-US" sz="1150" dirty="0">
                <a:solidFill>
                  <a:srgbClr val="FFFFFF"/>
                </a:solidFill>
                <a:latin typeface="Arial" pitchFamily="34" charset="0"/>
                <a:ea typeface="Arial" pitchFamily="34" charset="-122"/>
                <a:cs typeface="Arial" pitchFamily="34" charset="-120"/>
              </a:rPr>
              <a:t>trên nhóm answerable</a:t>
            </a:r>
            <a:endParaRPr lang="en-US" sz="1150" dirty="0"/>
          </a:p>
        </p:txBody>
      </p:sp>
      <p:sp>
        <p:nvSpPr>
          <p:cNvPr id="14" name="Text 11"/>
          <p:cNvSpPr txBox="1"/>
          <p:nvPr/>
        </p:nvSpPr>
        <p:spPr>
          <a:xfrm>
            <a:off x="8001000" y="4023360"/>
            <a:ext cx="3383280" cy="566928"/>
          </a:xfrm>
          <a:prstGeom prst="rect">
            <a:avLst/>
          </a:prstGeom>
          <a:noFill/>
          <a:ln/>
        </p:spPr>
        <p:txBody>
          <a:bodyPr wrap="square" lIns="0" tIns="0" rIns="0" bIns="0" rtlCol="0" anchor="ctr"/>
          <a:lstStyle/>
          <a:p>
            <a:pPr indent="0" marL="0">
              <a:buNone/>
            </a:pPr>
            <a:r>
              <a:rPr lang="en-US" sz="2600" b="1" dirty="0">
                <a:solidFill>
                  <a:srgbClr val="8CC0E4"/>
                </a:solidFill>
                <a:latin typeface="Arial" pitchFamily="34" charset="0"/>
                <a:ea typeface="Arial" pitchFamily="34" charset="-122"/>
                <a:cs typeface="Arial" pitchFamily="34" charset="-120"/>
              </a:rPr>
              <a:t>0,983</a:t>
            </a:r>
            <a:endParaRPr lang="en-US" sz="2600" dirty="0"/>
          </a:p>
        </p:txBody>
      </p:sp>
      <p:sp>
        <p:nvSpPr>
          <p:cNvPr id="15" name="Text 12"/>
          <p:cNvSpPr txBox="1"/>
          <p:nvPr/>
        </p:nvSpPr>
        <p:spPr>
          <a:xfrm>
            <a:off x="8001000" y="4572000"/>
            <a:ext cx="3383280" cy="384048"/>
          </a:xfrm>
          <a:prstGeom prst="rect">
            <a:avLst/>
          </a:prstGeom>
          <a:noFill/>
          <a:ln/>
        </p:spPr>
        <p:txBody>
          <a:bodyPr wrap="square" lIns="0" tIns="0" rIns="0" bIns="0" rtlCol="0" anchor="t"/>
          <a:lstStyle/>
          <a:p>
            <a:pPr indent="0" marL="0">
              <a:lnSpc>
                <a:spcPct val="110000"/>
              </a:lnSpc>
              <a:buNone/>
            </a:pPr>
            <a:r>
              <a:rPr lang="en-US" sz="1150" dirty="0">
                <a:solidFill>
                  <a:srgbClr val="FFFFFF"/>
                </a:solidFill>
                <a:latin typeface="Arial" pitchFamily="34" charset="0"/>
                <a:ea typeface="Arial" pitchFamily="34" charset="-122"/>
                <a:cs typeface="Arial" pitchFamily="34" charset="-120"/>
              </a:rPr>
              <a:t>độ trung thực</a:t>
            </a:r>
            <a:endParaRPr lang="en-US" sz="1150" dirty="0"/>
          </a:p>
          <a:p>
            <a:pPr indent="0" marL="0">
              <a:lnSpc>
                <a:spcPct val="110000"/>
              </a:lnSpc>
              <a:buNone/>
            </a:pPr>
            <a:r>
              <a:rPr lang="en-US" sz="1150" dirty="0">
                <a:solidFill>
                  <a:srgbClr val="FFFFFF"/>
                </a:solidFill>
                <a:latin typeface="Arial" pitchFamily="34" charset="0"/>
                <a:ea typeface="Arial" pitchFamily="34" charset="-122"/>
                <a:cs typeface="Arial" pitchFamily="34" charset="-120"/>
              </a:rPr>
              <a:t>trên nhóm answerable</a:t>
            </a:r>
            <a:endParaRPr lang="en-US" sz="1150" dirty="0"/>
          </a:p>
        </p:txBody>
      </p:sp>
      <p:sp>
        <p:nvSpPr>
          <p:cNvPr id="16" name="Text 13"/>
          <p:cNvSpPr txBox="1"/>
          <p:nvPr/>
        </p:nvSpPr>
        <p:spPr>
          <a:xfrm>
            <a:off x="8001000" y="5029200"/>
            <a:ext cx="3383280" cy="566928"/>
          </a:xfrm>
          <a:prstGeom prst="rect">
            <a:avLst/>
          </a:prstGeom>
          <a:noFill/>
          <a:ln/>
        </p:spPr>
        <p:txBody>
          <a:bodyPr wrap="square" lIns="0" tIns="0" rIns="0" bIns="0" rtlCol="0" anchor="ctr"/>
          <a:lstStyle/>
          <a:p>
            <a:pPr indent="0" marL="0">
              <a:buNone/>
            </a:pPr>
            <a:r>
              <a:rPr lang="en-US" sz="2600" b="1" dirty="0">
                <a:solidFill>
                  <a:srgbClr val="8CC0E4"/>
                </a:solidFill>
                <a:latin typeface="Arial" pitchFamily="34" charset="0"/>
                <a:ea typeface="Arial" pitchFamily="34" charset="-122"/>
                <a:cs typeface="Arial" pitchFamily="34" charset="-120"/>
              </a:rPr>
              <a:t>0,018</a:t>
            </a:r>
            <a:endParaRPr lang="en-US" sz="2600" dirty="0"/>
          </a:p>
        </p:txBody>
      </p:sp>
      <p:sp>
        <p:nvSpPr>
          <p:cNvPr id="17" name="Text 14"/>
          <p:cNvSpPr txBox="1"/>
          <p:nvPr/>
        </p:nvSpPr>
        <p:spPr>
          <a:xfrm>
            <a:off x="8001000" y="5577840"/>
            <a:ext cx="3383280" cy="384048"/>
          </a:xfrm>
          <a:prstGeom prst="rect">
            <a:avLst/>
          </a:prstGeom>
          <a:noFill/>
          <a:ln/>
        </p:spPr>
        <p:txBody>
          <a:bodyPr wrap="square" lIns="0" tIns="0" rIns="0" bIns="0" rtlCol="0" anchor="t"/>
          <a:lstStyle/>
          <a:p>
            <a:pPr indent="0" marL="0">
              <a:lnSpc>
                <a:spcPct val="110000"/>
              </a:lnSpc>
              <a:buNone/>
            </a:pPr>
            <a:r>
              <a:rPr lang="en-US" sz="1150" dirty="0">
                <a:solidFill>
                  <a:srgbClr val="FFFFFF"/>
                </a:solidFill>
                <a:latin typeface="Arial" pitchFamily="34" charset="0"/>
                <a:ea typeface="Arial" pitchFamily="34" charset="-122"/>
                <a:cs typeface="Arial" pitchFamily="34" charset="-120"/>
              </a:rPr>
              <a:t>tỉ lệ bịa ở cấp khẳng định</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FEFEE"/>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8A8F98"/>
                </a:solidFill>
                <a:latin typeface="Arial" pitchFamily="34" charset="0"/>
                <a:ea typeface="Arial" pitchFamily="34" charset="-122"/>
                <a:cs typeface="Arial" pitchFamily="34" charset="-120"/>
              </a:rPr>
              <a:t>RAG RELIABILITY PLATFORM  ·  Báo cáo đồ án môn học</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8A8F98"/>
                </a:solidFill>
                <a:latin typeface="Arial" pitchFamily="34" charset="0"/>
                <a:ea typeface="Arial" pitchFamily="34" charset="-122"/>
                <a:cs typeface="Arial" pitchFamily="34" charset="-120"/>
              </a:rPr>
              <a:t>23</a:t>
            </a:r>
            <a:endParaRPr lang="en-US" sz="900" dirty="0"/>
          </a:p>
        </p:txBody>
      </p:sp>
      <p:sp>
        <p:nvSpPr>
          <p:cNvPr id="4" name="Text 2"/>
          <p:cNvSpPr txBox="1"/>
          <p:nvPr/>
        </p:nvSpPr>
        <p:spPr>
          <a:xfrm>
            <a:off x="566928" y="384048"/>
            <a:ext cx="10881360" cy="777240"/>
          </a:xfrm>
          <a:prstGeom prst="rect">
            <a:avLst/>
          </a:prstGeom>
          <a:noFill/>
          <a:ln/>
        </p:spPr>
        <p:txBody>
          <a:bodyPr wrap="square" lIns="0" tIns="0" rIns="0" bIns="0" rtlCol="0" anchor="t"/>
          <a:lstStyle/>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ĐIỂM YẾU CÒN LẠI VÀ NGUYÊN NHÂN</a:t>
            </a:r>
            <a:endParaRPr lang="en-US" sz="3200" dirty="0"/>
          </a:p>
        </p:txBody>
      </p:sp>
      <p:sp>
        <p:nvSpPr>
          <p:cNvPr id="5" name="Text 3"/>
          <p:cNvSpPr txBox="1"/>
          <p:nvPr/>
        </p:nvSpPr>
        <p:spPr>
          <a:xfrm>
            <a:off x="566928" y="1188720"/>
            <a:ext cx="10881360" cy="548640"/>
          </a:xfrm>
          <a:prstGeom prst="rect">
            <a:avLst/>
          </a:prstGeom>
          <a:noFill/>
          <a:ln/>
        </p:spPr>
        <p:txBody>
          <a:bodyPr wrap="square" lIns="0" tIns="0" rIns="0" bIns="0" rtlCol="0" anchor="t"/>
          <a:lstStyle/>
          <a:p>
            <a:pPr indent="0" marL="0">
              <a:lnSpc>
                <a:spcPct val="128000"/>
              </a:lnSpc>
              <a:buNone/>
            </a:pPr>
            <a:r>
              <a:rPr lang="en-US" sz="1450" dirty="0">
                <a:solidFill>
                  <a:srgbClr val="1F3A6E"/>
                </a:solidFill>
                <a:latin typeface="Arial" pitchFamily="34" charset="0"/>
                <a:ea typeface="Arial" pitchFamily="34" charset="-122"/>
                <a:cs typeface="Arial" pitchFamily="34" charset="-120"/>
              </a:rPr>
              <a:t>Nhóm câu hỏi nhiều chặng chỉ đạt tỉ lệ 0,44 trong khi độ bao phủ khi truy hồi vẫn là 0,926. Chênh lệch đó cho biết lỗi không nằm ở tầng truy hồi.</a:t>
            </a:r>
            <a:endParaRPr lang="en-US" sz="1450" dirty="0"/>
          </a:p>
        </p:txBody>
      </p:sp>
      <p:sp>
        <p:nvSpPr>
          <p:cNvPr id="6" name="Shape 4"/>
          <p:cNvSpPr/>
          <p:nvPr/>
        </p:nvSpPr>
        <p:spPr>
          <a:xfrm>
            <a:off x="658368" y="1965960"/>
            <a:ext cx="6035040" cy="3153565"/>
          </a:xfrm>
          <a:prstGeom prst="rect">
            <a:avLst/>
          </a:prstGeom>
          <a:solidFill>
            <a:srgbClr val="132B5E"/>
          </a:solidFill>
          <a:ln/>
        </p:spPr>
      </p:sp>
      <p:sp>
        <p:nvSpPr>
          <p:cNvPr id="7" name="Shape 5"/>
          <p:cNvSpPr/>
          <p:nvPr/>
        </p:nvSpPr>
        <p:spPr>
          <a:xfrm>
            <a:off x="566928" y="1874520"/>
            <a:ext cx="6035040" cy="3153565"/>
          </a:xfrm>
          <a:prstGeom prst="rect">
            <a:avLst/>
          </a:prstGeom>
          <a:solidFill>
            <a:srgbClr val="FFFFFF"/>
          </a:solidFill>
          <a:ln w="12700">
            <a:solidFill>
              <a:srgbClr val="FFFFFF"/>
            </a:solidFill>
            <a:prstDash val="solid"/>
          </a:ln>
        </p:spPr>
      </p:sp>
      <p:pic>
        <p:nvPicPr>
          <p:cNvPr id="8" name="Image 0" descr="/private/tmp/claude-501/-Volumes-Data-Documents-rag-reliability/6db8fc1f-3028-4f02-8952-927e30b47723/scratchpad/report/img/c02-retrieval.png">    </p:cNvPr>
          <p:cNvPicPr>
            <a:picLocks noChangeAspect="1"/>
          </p:cNvPicPr>
          <p:nvPr/>
        </p:nvPicPr>
        <p:blipFill>
          <a:blip r:embed="rId1"/>
          <a:stretch>
            <a:fillRect/>
          </a:stretch>
        </p:blipFill>
        <p:spPr>
          <a:xfrm>
            <a:off x="630936" y="1938528"/>
            <a:ext cx="5907024" cy="3025549"/>
          </a:xfrm>
          <a:prstGeom prst="rect">
            <a:avLst/>
          </a:prstGeom>
        </p:spPr>
      </p:pic>
      <p:sp>
        <p:nvSpPr>
          <p:cNvPr id="9" name="Shape 6"/>
          <p:cNvSpPr/>
          <p:nvPr/>
        </p:nvSpPr>
        <p:spPr>
          <a:xfrm>
            <a:off x="6903720" y="1874520"/>
            <a:ext cx="4800600" cy="3657600"/>
          </a:xfrm>
          <a:prstGeom prst="rect">
            <a:avLst/>
          </a:prstGeom>
          <a:solidFill>
            <a:srgbClr val="132B5E"/>
          </a:solidFill>
          <a:ln/>
        </p:spPr>
      </p:sp>
      <p:sp>
        <p:nvSpPr>
          <p:cNvPr id="10" name="Text 7"/>
          <p:cNvSpPr txBox="1"/>
          <p:nvPr/>
        </p:nvSpPr>
        <p:spPr>
          <a:xfrm>
            <a:off x="7287768" y="2167128"/>
            <a:ext cx="4032504" cy="365760"/>
          </a:xfrm>
          <a:prstGeom prst="rect">
            <a:avLst/>
          </a:prstGeom>
          <a:noFill/>
          <a:ln/>
        </p:spPr>
        <p:txBody>
          <a:bodyPr wrap="square" lIns="0" tIns="0" rIns="0" bIns="0" rtlCol="0" anchor="ctr"/>
          <a:lstStyle/>
          <a:p>
            <a:pPr indent="0" marL="0">
              <a:buNone/>
            </a:pPr>
            <a:r>
              <a:rPr lang="en-US" sz="1500" b="1" dirty="0">
                <a:solidFill>
                  <a:srgbClr val="8CC0E4"/>
                </a:solidFill>
                <a:latin typeface="Arial" pitchFamily="34" charset="0"/>
                <a:ea typeface="Arial" pitchFamily="34" charset="-122"/>
                <a:cs typeface="Arial" pitchFamily="34" charset="-120"/>
              </a:rPr>
              <a:t>ĐỌC ĐÚNG CON SỐ</a:t>
            </a:r>
            <a:endParaRPr lang="en-US" sz="1500" dirty="0"/>
          </a:p>
        </p:txBody>
      </p:sp>
      <p:sp>
        <p:nvSpPr>
          <p:cNvPr id="11" name="Text 8"/>
          <p:cNvSpPr txBox="1"/>
          <p:nvPr/>
        </p:nvSpPr>
        <p:spPr>
          <a:xfrm>
            <a:off x="7287768" y="2660904"/>
            <a:ext cx="4032504" cy="2560320"/>
          </a:xfrm>
          <a:prstGeom prst="rect">
            <a:avLst/>
          </a:prstGeom>
          <a:noFill/>
          <a:ln/>
        </p:spPr>
        <p:txBody>
          <a:bodyPr wrap="square" lIns="0" tIns="0" rIns="0" bIns="0" rtlCol="0" anchor="t"/>
          <a:lstStyle/>
          <a:p>
            <a:pPr indent="0" marL="0">
              <a:lnSpc>
                <a:spcPct val="120000"/>
              </a:lnSpc>
              <a:spcAft>
                <a:spcPts val="900"/>
              </a:spcAft>
              <a:buNone/>
            </a:pPr>
            <a:r>
              <a:rPr lang="en-US" sz="1250" dirty="0">
                <a:solidFill>
                  <a:srgbClr val="FFFFFF"/>
                </a:solidFill>
                <a:latin typeface="Arial" pitchFamily="34" charset="0"/>
                <a:ea typeface="Arial" pitchFamily="34" charset="-122"/>
                <a:cs typeface="Arial" pitchFamily="34" charset="-120"/>
              </a:rPr>
              <a:t>-  Bằng chứng đã lấy về đúng, mô hình bảy tỉ tham số không nối được hai tới ba mắt xích suy luận.</a:t>
            </a:r>
            <a:endParaRPr lang="en-US" sz="1250" dirty="0"/>
          </a:p>
          <a:p>
            <a:pPr indent="0" marL="0">
              <a:lnSpc>
                <a:spcPct val="120000"/>
              </a:lnSpc>
              <a:spcAft>
                <a:spcPts val="900"/>
              </a:spcAft>
              <a:buNone/>
            </a:pPr>
            <a:r>
              <a:rPr lang="en-US" sz="1250" dirty="0">
                <a:solidFill>
                  <a:srgbClr val="FFFFFF"/>
                </a:solidFill>
                <a:latin typeface="Arial" pitchFamily="34" charset="0"/>
                <a:ea typeface="Arial" pitchFamily="34" charset="-122"/>
                <a:cs typeface="Arial" pitchFamily="34" charset="-120"/>
              </a:rPr>
              <a:t>-  Đây là giới hạn năng lực mô hình, không phải lỗi cài đặt.</a:t>
            </a:r>
            <a:endParaRPr lang="en-US" sz="1250" dirty="0"/>
          </a:p>
          <a:p>
            <a:pPr indent="0" marL="0">
              <a:lnSpc>
                <a:spcPct val="120000"/>
              </a:lnSpc>
              <a:spcAft>
                <a:spcPts val="900"/>
              </a:spcAft>
              <a:buNone/>
            </a:pPr>
            <a:r>
              <a:rPr lang="en-US" sz="1250" dirty="0">
                <a:solidFill>
                  <a:srgbClr val="FFFFFF"/>
                </a:solidFill>
                <a:latin typeface="Arial" pitchFamily="34" charset="0"/>
                <a:ea typeface="Arial" pitchFamily="34" charset="-122"/>
                <a:cs typeface="Arial" pitchFamily="34" charset="-120"/>
              </a:rPr>
              <a:t>-  Độ chính xác trích dẫn 0,67 phần lớn do đoạn đúng nội dung nhưng khác tài liệu gold.</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FEFEE"/>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8A8F98"/>
                </a:solidFill>
                <a:latin typeface="Arial" pitchFamily="34" charset="0"/>
                <a:ea typeface="Arial" pitchFamily="34" charset="-122"/>
                <a:cs typeface="Arial" pitchFamily="34" charset="-120"/>
              </a:rPr>
              <a:t>RAG RELIABILITY PLATFORM  ·  Báo cáo đồ án môn học</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8A8F98"/>
                </a:solidFill>
                <a:latin typeface="Arial" pitchFamily="34" charset="0"/>
                <a:ea typeface="Arial" pitchFamily="34" charset="-122"/>
                <a:cs typeface="Arial" pitchFamily="34" charset="-120"/>
              </a:rPr>
              <a:t>24</a:t>
            </a:r>
            <a:endParaRPr lang="en-US" sz="900" dirty="0"/>
          </a:p>
        </p:txBody>
      </p:sp>
      <p:sp>
        <p:nvSpPr>
          <p:cNvPr id="4" name="Text 2"/>
          <p:cNvSpPr txBox="1"/>
          <p:nvPr/>
        </p:nvSpPr>
        <p:spPr>
          <a:xfrm>
            <a:off x="566928" y="384048"/>
            <a:ext cx="10881360" cy="777240"/>
          </a:xfrm>
          <a:prstGeom prst="rect">
            <a:avLst/>
          </a:prstGeom>
          <a:noFill/>
          <a:ln/>
        </p:spPr>
        <p:txBody>
          <a:bodyPr wrap="square" lIns="0" tIns="0" rIns="0" bIns="0" rtlCol="0" anchor="t"/>
          <a:lstStyle/>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KIỂM TOÁN ĐỘC LẬP VÀ KẾT QUẢ KHẮC PHỤC</a:t>
            </a:r>
            <a:endParaRPr lang="en-US" sz="3200" dirty="0"/>
          </a:p>
        </p:txBody>
      </p:sp>
      <p:sp>
        <p:nvSpPr>
          <p:cNvPr id="5" name="Text 3"/>
          <p:cNvSpPr txBox="1"/>
          <p:nvPr/>
        </p:nvSpPr>
        <p:spPr>
          <a:xfrm>
            <a:off x="566928" y="1170432"/>
            <a:ext cx="10881360" cy="502920"/>
          </a:xfrm>
          <a:prstGeom prst="rect">
            <a:avLst/>
          </a:prstGeom>
          <a:noFill/>
          <a:ln/>
        </p:spPr>
        <p:txBody>
          <a:bodyPr wrap="square" lIns="0" tIns="0" rIns="0" bIns="0" rtlCol="0" anchor="t"/>
          <a:lstStyle/>
          <a:p>
            <a:pPr indent="0" marL="0">
              <a:lnSpc>
                <a:spcPct val="128000"/>
              </a:lnSpc>
              <a:buNone/>
            </a:pPr>
            <a:r>
              <a:rPr lang="en-US" sz="1450" dirty="0">
                <a:solidFill>
                  <a:srgbClr val="1F3A6E"/>
                </a:solidFill>
                <a:latin typeface="Arial" pitchFamily="34" charset="0"/>
                <a:ea typeface="Arial" pitchFamily="34" charset="-122"/>
                <a:cs typeface="Arial" pitchFamily="34" charset="-120"/>
              </a:rPr>
              <a:t>Một vòng rà soát độc lập theo mười khía cạnh chỉ ra ba lỗi chặn. Sau khi sửa, các chỉ số được đo lại trên cùng bộ dữ liệu.</a:t>
            </a:r>
            <a:endParaRPr lang="en-US" sz="1450" dirty="0"/>
          </a:p>
        </p:txBody>
      </p:sp>
      <p:sp>
        <p:nvSpPr>
          <p:cNvPr id="6" name="Shape 4"/>
          <p:cNvSpPr/>
          <p:nvPr/>
        </p:nvSpPr>
        <p:spPr>
          <a:xfrm>
            <a:off x="2718320" y="1874520"/>
            <a:ext cx="6944336" cy="3246120"/>
          </a:xfrm>
          <a:prstGeom prst="rect">
            <a:avLst/>
          </a:prstGeom>
          <a:solidFill>
            <a:srgbClr val="132B5E"/>
          </a:solidFill>
          <a:ln/>
        </p:spPr>
      </p:sp>
      <p:sp>
        <p:nvSpPr>
          <p:cNvPr id="7" name="Shape 5"/>
          <p:cNvSpPr/>
          <p:nvPr/>
        </p:nvSpPr>
        <p:spPr>
          <a:xfrm>
            <a:off x="2626880" y="1783080"/>
            <a:ext cx="6944336" cy="3246120"/>
          </a:xfrm>
          <a:prstGeom prst="rect">
            <a:avLst/>
          </a:prstGeom>
          <a:solidFill>
            <a:srgbClr val="FFFFFF"/>
          </a:solidFill>
          <a:ln w="12700">
            <a:solidFill>
              <a:srgbClr val="FFFFFF"/>
            </a:solidFill>
            <a:prstDash val="solid"/>
          </a:ln>
        </p:spPr>
      </p:sp>
      <p:pic>
        <p:nvPicPr>
          <p:cNvPr id="8" name="Image 0" descr="/private/tmp/claude-501/-Volumes-Data-Documents-rag-reliability/6db8fc1f-3028-4f02-8952-927e30b47723/scratchpad/report/img/c03-remediation.png">    </p:cNvPr>
          <p:cNvPicPr>
            <a:picLocks noChangeAspect="1"/>
          </p:cNvPicPr>
          <p:nvPr/>
        </p:nvPicPr>
        <p:blipFill>
          <a:blip r:embed="rId1"/>
          <a:stretch>
            <a:fillRect/>
          </a:stretch>
        </p:blipFill>
        <p:spPr>
          <a:xfrm>
            <a:off x="2690888" y="1847088"/>
            <a:ext cx="6816320" cy="3118104"/>
          </a:xfrm>
          <a:prstGeom prst="rect">
            <a:avLst/>
          </a:prstGeom>
        </p:spPr>
      </p:pic>
      <p:sp>
        <p:nvSpPr>
          <p:cNvPr id="9" name="Text 6"/>
          <p:cNvSpPr txBox="1"/>
          <p:nvPr/>
        </p:nvSpPr>
        <p:spPr>
          <a:xfrm>
            <a:off x="566928" y="5212080"/>
            <a:ext cx="10881360" cy="1097280"/>
          </a:xfrm>
          <a:prstGeom prst="rect">
            <a:avLst/>
          </a:prstGeom>
          <a:noFill/>
          <a:ln/>
        </p:spPr>
        <p:txBody>
          <a:bodyPr wrap="square" lIns="0" tIns="0" rIns="0" bIns="0" rtlCol="0" anchor="t"/>
          <a:lstStyle/>
          <a:p>
            <a:pPr indent="0" marL="0">
              <a:lnSpc>
                <a:spcPct val="120000"/>
              </a:lnSpc>
              <a:spcAft>
                <a:spcPts val="400"/>
              </a:spcAft>
              <a:buNone/>
            </a:pPr>
            <a:r>
              <a:rPr lang="en-US" sz="1250" dirty="0">
                <a:solidFill>
                  <a:srgbClr val="1F3A6E"/>
                </a:solidFill>
                <a:latin typeface="Arial" pitchFamily="34" charset="0"/>
                <a:ea typeface="Arial" pitchFamily="34" charset="-122"/>
                <a:cs typeface="Arial" pitchFamily="34" charset="-120"/>
              </a:rPr>
              <a:t>-  Bộ phát hiện mâu thuẫn báo nhầm, kéo độ trung thực đo được xuống 0,0.</a:t>
            </a:r>
            <a:endParaRPr lang="en-US" sz="1250" dirty="0"/>
          </a:p>
          <a:p>
            <a:pPr indent="0" marL="0">
              <a:lnSpc>
                <a:spcPct val="120000"/>
              </a:lnSpc>
              <a:spcAft>
                <a:spcPts val="400"/>
              </a:spcAft>
              <a:buNone/>
            </a:pPr>
            <a:r>
              <a:rPr lang="en-US" sz="1250" dirty="0">
                <a:solidFill>
                  <a:srgbClr val="1F3A6E"/>
                </a:solidFill>
                <a:latin typeface="Arial" pitchFamily="34" charset="0"/>
                <a:ea typeface="Arial" pitchFamily="34" charset="-122"/>
                <a:cs typeface="Arial" pitchFamily="34" charset="-120"/>
              </a:rPr>
              <a:t>-  Bế tắc khử trùng lặp khoá vĩnh viễn việc nạp lại một tài liệu.</a:t>
            </a:r>
            <a:endParaRPr lang="en-US" sz="1250" dirty="0"/>
          </a:p>
          <a:p>
            <a:pPr indent="0" marL="0">
              <a:lnSpc>
                <a:spcPct val="120000"/>
              </a:lnSpc>
              <a:spcAft>
                <a:spcPts val="400"/>
              </a:spcAft>
              <a:buNone/>
            </a:pPr>
            <a:r>
              <a:rPr lang="en-US" sz="1250" dirty="0">
                <a:solidFill>
                  <a:srgbClr val="1F3A6E"/>
                </a:solidFill>
                <a:latin typeface="Arial" pitchFamily="34" charset="0"/>
                <a:ea typeface="Arial" pitchFamily="34" charset="-122"/>
                <a:cs typeface="Arial" pitchFamily="34" charset="-120"/>
              </a:rPr>
              <a:t>-  Biểu thức tìm kiếm toàn văn ép phép và, câu hỏi tự nhiên trả về rỗng.</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FEFEE"/>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8A8F98"/>
                </a:solidFill>
                <a:latin typeface="Arial" pitchFamily="34" charset="0"/>
                <a:ea typeface="Arial" pitchFamily="34" charset="-122"/>
                <a:cs typeface="Arial" pitchFamily="34" charset="-120"/>
              </a:rPr>
              <a:t>RAG RELIABILITY PLATFORM  ·  Báo cáo đồ án môn học</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8A8F98"/>
                </a:solidFill>
                <a:latin typeface="Arial" pitchFamily="34" charset="0"/>
                <a:ea typeface="Arial" pitchFamily="34" charset="-122"/>
                <a:cs typeface="Arial" pitchFamily="34" charset="-120"/>
              </a:rPr>
              <a:t>25</a:t>
            </a:r>
            <a:endParaRPr lang="en-US" sz="900" dirty="0"/>
          </a:p>
        </p:txBody>
      </p:sp>
      <p:sp>
        <p:nvSpPr>
          <p:cNvPr id="4" name="Text 2"/>
          <p:cNvSpPr txBox="1"/>
          <p:nvPr/>
        </p:nvSpPr>
        <p:spPr>
          <a:xfrm>
            <a:off x="566928" y="384048"/>
            <a:ext cx="10881360" cy="777240"/>
          </a:xfrm>
          <a:prstGeom prst="rect">
            <a:avLst/>
          </a:prstGeom>
          <a:noFill/>
          <a:ln/>
        </p:spPr>
        <p:txBody>
          <a:bodyPr wrap="square" lIns="0" tIns="0" rIns="0" bIns="0" rtlCol="0" anchor="t"/>
          <a:lstStyle/>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KẾT QUẢ CỦA NỀN TẢNG TÁC TỬ</a:t>
            </a:r>
            <a:endParaRPr lang="en-US" sz="3200" dirty="0"/>
          </a:p>
        </p:txBody>
      </p:sp>
      <p:sp>
        <p:nvSpPr>
          <p:cNvPr id="5" name="Text 3"/>
          <p:cNvSpPr txBox="1"/>
          <p:nvPr/>
        </p:nvSpPr>
        <p:spPr>
          <a:xfrm>
            <a:off x="566928" y="1170432"/>
            <a:ext cx="10881360" cy="457200"/>
          </a:xfrm>
          <a:prstGeom prst="rect">
            <a:avLst/>
          </a:prstGeom>
          <a:noFill/>
          <a:ln/>
        </p:spPr>
        <p:txBody>
          <a:bodyPr wrap="square" lIns="0" tIns="0" rIns="0" bIns="0" rtlCol="0" anchor="t"/>
          <a:lstStyle/>
          <a:p>
            <a:pPr indent="0" marL="0">
              <a:lnSpc>
                <a:spcPct val="128000"/>
              </a:lnSpc>
              <a:buNone/>
            </a:pPr>
            <a:r>
              <a:rPr lang="en-US" sz="1450" dirty="0">
                <a:solidFill>
                  <a:srgbClr val="1F3A6E"/>
                </a:solidFill>
                <a:latin typeface="Arial" pitchFamily="34" charset="0"/>
                <a:ea typeface="Arial" pitchFamily="34" charset="-122"/>
                <a:cs typeface="Arial" pitchFamily="34" charset="-120"/>
              </a:rPr>
              <a:t>Đo trên 24 case chia 14 nhóm, môi trường công cụ giả lập hoàn toàn nên kết quả tất định và lặp lại được.</a:t>
            </a:r>
            <a:endParaRPr lang="en-US" sz="1450" dirty="0"/>
          </a:p>
        </p:txBody>
      </p:sp>
      <p:sp>
        <p:nvSpPr>
          <p:cNvPr id="6" name="Shape 4"/>
          <p:cNvSpPr/>
          <p:nvPr/>
        </p:nvSpPr>
        <p:spPr>
          <a:xfrm>
            <a:off x="658368" y="1874520"/>
            <a:ext cx="6858000" cy="3187100"/>
          </a:xfrm>
          <a:prstGeom prst="rect">
            <a:avLst/>
          </a:prstGeom>
          <a:solidFill>
            <a:srgbClr val="132B5E"/>
          </a:solidFill>
          <a:ln/>
        </p:spPr>
      </p:sp>
      <p:sp>
        <p:nvSpPr>
          <p:cNvPr id="7" name="Shape 5"/>
          <p:cNvSpPr/>
          <p:nvPr/>
        </p:nvSpPr>
        <p:spPr>
          <a:xfrm>
            <a:off x="566928" y="1783080"/>
            <a:ext cx="6858000" cy="3187100"/>
          </a:xfrm>
          <a:prstGeom prst="rect">
            <a:avLst/>
          </a:prstGeom>
          <a:solidFill>
            <a:srgbClr val="FFFFFF"/>
          </a:solidFill>
          <a:ln w="12700">
            <a:solidFill>
              <a:srgbClr val="FFFFFF"/>
            </a:solidFill>
            <a:prstDash val="solid"/>
          </a:ln>
        </p:spPr>
      </p:sp>
      <p:pic>
        <p:nvPicPr>
          <p:cNvPr id="8" name="Image 0" descr="/private/tmp/claude-501/-Volumes-Data-Documents-rag-reliability/6db8fc1f-3028-4f02-8952-927e30b47723/scratchpad/report/img/c06-agent-metrics.png">    </p:cNvPr>
          <p:cNvPicPr>
            <a:picLocks noChangeAspect="1"/>
          </p:cNvPicPr>
          <p:nvPr/>
        </p:nvPicPr>
        <p:blipFill>
          <a:blip r:embed="rId1"/>
          <a:stretch>
            <a:fillRect/>
          </a:stretch>
        </p:blipFill>
        <p:spPr>
          <a:xfrm>
            <a:off x="630936" y="1847088"/>
            <a:ext cx="6729984" cy="3059084"/>
          </a:xfrm>
          <a:prstGeom prst="rect">
            <a:avLst/>
          </a:prstGeom>
        </p:spPr>
      </p:pic>
      <p:sp>
        <p:nvSpPr>
          <p:cNvPr id="9" name="Shape 6"/>
          <p:cNvSpPr/>
          <p:nvPr/>
        </p:nvSpPr>
        <p:spPr>
          <a:xfrm>
            <a:off x="7726680" y="1783080"/>
            <a:ext cx="3977640" cy="3931920"/>
          </a:xfrm>
          <a:prstGeom prst="rect">
            <a:avLst/>
          </a:prstGeom>
          <a:solidFill>
            <a:srgbClr val="132B5E"/>
          </a:solidFill>
          <a:ln/>
        </p:spPr>
      </p:sp>
      <p:sp>
        <p:nvSpPr>
          <p:cNvPr id="10" name="Text 7"/>
          <p:cNvSpPr txBox="1"/>
          <p:nvPr/>
        </p:nvSpPr>
        <p:spPr>
          <a:xfrm>
            <a:off x="8110728" y="2075688"/>
            <a:ext cx="3209544" cy="365760"/>
          </a:xfrm>
          <a:prstGeom prst="rect">
            <a:avLst/>
          </a:prstGeom>
          <a:noFill/>
          <a:ln/>
        </p:spPr>
        <p:txBody>
          <a:bodyPr wrap="square" lIns="0" tIns="0" rIns="0" bIns="0" rtlCol="0" anchor="ctr"/>
          <a:lstStyle/>
          <a:p>
            <a:pPr indent="0" marL="0">
              <a:buNone/>
            </a:pPr>
            <a:r>
              <a:rPr lang="en-US" sz="1500" b="1" dirty="0">
                <a:solidFill>
                  <a:srgbClr val="8CC0E4"/>
                </a:solidFill>
                <a:latin typeface="Arial" pitchFamily="34" charset="0"/>
                <a:ea typeface="Arial" pitchFamily="34" charset="-122"/>
                <a:cs typeface="Arial" pitchFamily="34" charset="-120"/>
              </a:rPr>
              <a:t>ĐỌC KẾT QUẢ</a:t>
            </a:r>
            <a:endParaRPr lang="en-US" sz="1500" dirty="0"/>
          </a:p>
        </p:txBody>
      </p:sp>
      <p:sp>
        <p:nvSpPr>
          <p:cNvPr id="11" name="Text 8"/>
          <p:cNvSpPr txBox="1"/>
          <p:nvPr/>
        </p:nvSpPr>
        <p:spPr>
          <a:xfrm>
            <a:off x="8110728" y="2569464"/>
            <a:ext cx="3209544" cy="2834640"/>
          </a:xfrm>
          <a:prstGeom prst="rect">
            <a:avLst/>
          </a:prstGeom>
          <a:noFill/>
          <a:ln/>
        </p:spPr>
        <p:txBody>
          <a:bodyPr wrap="square" lIns="0" tIns="0" rIns="0" bIns="0" rtlCol="0" anchor="t"/>
          <a:lstStyle/>
          <a:p>
            <a:pPr indent="0" marL="0">
              <a:lnSpc>
                <a:spcPct val="120000"/>
              </a:lnSpc>
              <a:spcAft>
                <a:spcPts val="900"/>
              </a:spcAft>
              <a:buNone/>
            </a:pPr>
            <a:r>
              <a:rPr lang="en-US" sz="1250" dirty="0">
                <a:solidFill>
                  <a:srgbClr val="FFFFFF"/>
                </a:solidFill>
                <a:latin typeface="Arial" pitchFamily="34" charset="0"/>
                <a:ea typeface="Arial" pitchFamily="34" charset="-122"/>
                <a:cs typeface="Arial" pitchFamily="34" charset="-120"/>
              </a:rPr>
              <a:t>-  Chọn công cụ và sinh tham số đạt tuyệt đối.</a:t>
            </a:r>
            <a:endParaRPr lang="en-US" sz="1250" dirty="0"/>
          </a:p>
          <a:p>
            <a:pPr indent="0" marL="0">
              <a:lnSpc>
                <a:spcPct val="120000"/>
              </a:lnSpc>
              <a:spcAft>
                <a:spcPts val="900"/>
              </a:spcAft>
              <a:buNone/>
            </a:pPr>
            <a:r>
              <a:rPr lang="en-US" sz="1250" dirty="0">
                <a:solidFill>
                  <a:srgbClr val="FFFFFF"/>
                </a:solidFill>
                <a:latin typeface="Arial" pitchFamily="34" charset="0"/>
                <a:ea typeface="Arial" pitchFamily="34" charset="-122"/>
                <a:cs typeface="Arial" pitchFamily="34" charset="-120"/>
              </a:rPr>
              <a:t>-  Phục hồi sau lỗi và an toàn đạt tuyệt đối.</a:t>
            </a:r>
            <a:endParaRPr lang="en-US" sz="1250" dirty="0"/>
          </a:p>
          <a:p>
            <a:pPr indent="0" marL="0">
              <a:lnSpc>
                <a:spcPct val="120000"/>
              </a:lnSpc>
              <a:spcAft>
                <a:spcPts val="900"/>
              </a:spcAft>
              <a:buNone/>
            </a:pPr>
            <a:r>
              <a:rPr lang="en-US" sz="1250" dirty="0">
                <a:solidFill>
                  <a:srgbClr val="FFFFFF"/>
                </a:solidFill>
                <a:latin typeface="Arial" pitchFamily="34" charset="0"/>
                <a:ea typeface="Arial" pitchFamily="34" charset="-122"/>
                <a:cs typeface="Arial" pitchFamily="34" charset="-120"/>
              </a:rPr>
              <a:t>-  Bốn case không đạt đều rớt ở bám bằng chứng và trích dẫn.</a:t>
            </a:r>
            <a:endParaRPr lang="en-US" sz="1250" dirty="0"/>
          </a:p>
          <a:p>
            <a:pPr indent="0" marL="0">
              <a:lnSpc>
                <a:spcPct val="120000"/>
              </a:lnSpc>
              <a:spcAft>
                <a:spcPts val="900"/>
              </a:spcAft>
              <a:buNone/>
            </a:pPr>
            <a:r>
              <a:rPr lang="en-US" sz="1250" dirty="0">
                <a:solidFill>
                  <a:srgbClr val="FFFFFF"/>
                </a:solidFill>
                <a:latin typeface="Arial" pitchFamily="34" charset="0"/>
                <a:ea typeface="Arial" pitchFamily="34" charset="-122"/>
                <a:cs typeface="Arial" pitchFamily="34" charset="-120"/>
              </a:rPr>
              <a:t>-  Nguyên nhân là mô hình yếu ở khâu tách khẳng định.</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FEFEE"/>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8A8F98"/>
                </a:solidFill>
                <a:latin typeface="Arial" pitchFamily="34" charset="0"/>
                <a:ea typeface="Arial" pitchFamily="34" charset="-122"/>
                <a:cs typeface="Arial" pitchFamily="34" charset="-120"/>
              </a:rPr>
              <a:t>RAG RELIABILITY PLATFORM  ·  Báo cáo đồ án môn học</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8A8F98"/>
                </a:solidFill>
                <a:latin typeface="Arial" pitchFamily="34" charset="0"/>
                <a:ea typeface="Arial" pitchFamily="34" charset="-122"/>
                <a:cs typeface="Arial" pitchFamily="34" charset="-120"/>
              </a:rPr>
              <a:t>26</a:t>
            </a:r>
            <a:endParaRPr lang="en-US" sz="900" dirty="0"/>
          </a:p>
        </p:txBody>
      </p:sp>
      <p:sp>
        <p:nvSpPr>
          <p:cNvPr id="4" name="Text 2"/>
          <p:cNvSpPr txBox="1"/>
          <p:nvPr/>
        </p:nvSpPr>
        <p:spPr>
          <a:xfrm>
            <a:off x="566928" y="384048"/>
            <a:ext cx="10881360" cy="777240"/>
          </a:xfrm>
          <a:prstGeom prst="rect">
            <a:avLst/>
          </a:prstGeom>
          <a:noFill/>
          <a:ln/>
        </p:spPr>
        <p:txBody>
          <a:bodyPr wrap="square" lIns="0" tIns="0" rIns="0" bIns="0" rtlCol="0" anchor="t"/>
          <a:lstStyle/>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KIỂM THỬ VÀ CỔNG CHẶN HỒI QUY</a:t>
            </a:r>
            <a:endParaRPr lang="en-US" sz="3200" dirty="0"/>
          </a:p>
        </p:txBody>
      </p:sp>
      <p:sp>
        <p:nvSpPr>
          <p:cNvPr id="5" name="Shape 3"/>
          <p:cNvSpPr/>
          <p:nvPr/>
        </p:nvSpPr>
        <p:spPr>
          <a:xfrm>
            <a:off x="566928" y="1554480"/>
            <a:ext cx="384048" cy="384048"/>
          </a:xfrm>
          <a:prstGeom prst="rect">
            <a:avLst/>
          </a:prstGeom>
          <a:solidFill>
            <a:srgbClr val="8CC0E4"/>
          </a:solidFill>
          <a:ln/>
        </p:spPr>
      </p:sp>
      <p:sp>
        <p:nvSpPr>
          <p:cNvPr id="6" name="Text 4"/>
          <p:cNvSpPr txBox="1"/>
          <p:nvPr/>
        </p:nvSpPr>
        <p:spPr>
          <a:xfrm>
            <a:off x="566928" y="1554480"/>
            <a:ext cx="384048" cy="384048"/>
          </a:xfrm>
          <a:prstGeom prst="rect">
            <a:avLst/>
          </a:prstGeom>
          <a:noFill/>
          <a:ln/>
        </p:spPr>
        <p:txBody>
          <a:bodyPr wrap="square" lIns="0" tIns="0" rIns="0" bIns="0" rtlCol="0" anchor="ctr"/>
          <a:lstStyle/>
          <a:p>
            <a:pPr algn="ctr" indent="0" marL="0">
              <a:buNone/>
            </a:pPr>
            <a:r>
              <a:rPr lang="en-US" sz="1500" b="1" dirty="0">
                <a:solidFill>
                  <a:srgbClr val="132B5E"/>
                </a:solidFill>
                <a:latin typeface="Calibri" pitchFamily="34" charset="0"/>
                <a:ea typeface="Calibri" pitchFamily="34" charset="-122"/>
                <a:cs typeface="Calibri" pitchFamily="34" charset="-120"/>
              </a:rPr>
              <a:t>v</a:t>
            </a:r>
            <a:endParaRPr lang="en-US" sz="1500" dirty="0"/>
          </a:p>
        </p:txBody>
      </p:sp>
      <p:sp>
        <p:nvSpPr>
          <p:cNvPr id="7" name="Text 5"/>
          <p:cNvSpPr txBox="1"/>
          <p:nvPr/>
        </p:nvSpPr>
        <p:spPr>
          <a:xfrm>
            <a:off x="1133856" y="1554480"/>
            <a:ext cx="10515600" cy="384048"/>
          </a:xfrm>
          <a:prstGeom prst="rect">
            <a:avLst/>
          </a:prstGeom>
          <a:noFill/>
          <a:ln/>
        </p:spPr>
        <p:txBody>
          <a:bodyPr wrap="square" lIns="0" tIns="0" rIns="0" bIns="0" rtlCol="0" anchor="ctr"/>
          <a:lstStyle/>
          <a:p>
            <a:pPr indent="0" marL="0">
              <a:buNone/>
            </a:pPr>
            <a:r>
              <a:rPr lang="en-US" sz="1350" b="1" dirty="0">
                <a:solidFill>
                  <a:srgbClr val="132B5E"/>
                </a:solidFill>
                <a:latin typeface="Arial" pitchFamily="34" charset="0"/>
                <a:ea typeface="Arial" pitchFamily="34" charset="-122"/>
                <a:cs typeface="Arial" pitchFamily="34" charset="-120"/>
              </a:rPr>
              <a:t>91 bộ kiểm thử đơn vị</a:t>
            </a:r>
            <a:pPr indent="0" marL="0">
              <a:buNone/>
            </a:pPr>
            <a:r>
              <a:rPr lang="en-US" sz="1350" dirty="0">
                <a:solidFill>
                  <a:srgbClr val="7C8798"/>
                </a:solidFill>
                <a:latin typeface="Arial" pitchFamily="34" charset="0"/>
                <a:ea typeface="Arial" pitchFamily="34" charset="-122"/>
                <a:cs typeface="Arial" pitchFamily="34" charset="-120"/>
              </a:rPr>
              <a:t>   ·  toàn bộ đạt, chạy khoảng 7,4 giây, không gọi mạng</a:t>
            </a:r>
            <a:endParaRPr lang="en-US" sz="1350" dirty="0"/>
          </a:p>
        </p:txBody>
      </p:sp>
      <p:sp>
        <p:nvSpPr>
          <p:cNvPr id="8" name="Shape 6"/>
          <p:cNvSpPr/>
          <p:nvPr/>
        </p:nvSpPr>
        <p:spPr>
          <a:xfrm>
            <a:off x="566928" y="2331720"/>
            <a:ext cx="384048" cy="384048"/>
          </a:xfrm>
          <a:prstGeom prst="rect">
            <a:avLst/>
          </a:prstGeom>
          <a:solidFill>
            <a:srgbClr val="8CC0E4"/>
          </a:solidFill>
          <a:ln/>
        </p:spPr>
      </p:sp>
      <p:sp>
        <p:nvSpPr>
          <p:cNvPr id="9" name="Text 7"/>
          <p:cNvSpPr txBox="1"/>
          <p:nvPr/>
        </p:nvSpPr>
        <p:spPr>
          <a:xfrm>
            <a:off x="566928" y="2331720"/>
            <a:ext cx="384048" cy="384048"/>
          </a:xfrm>
          <a:prstGeom prst="rect">
            <a:avLst/>
          </a:prstGeom>
          <a:noFill/>
          <a:ln/>
        </p:spPr>
        <p:txBody>
          <a:bodyPr wrap="square" lIns="0" tIns="0" rIns="0" bIns="0" rtlCol="0" anchor="ctr"/>
          <a:lstStyle/>
          <a:p>
            <a:pPr algn="ctr" indent="0" marL="0">
              <a:buNone/>
            </a:pPr>
            <a:r>
              <a:rPr lang="en-US" sz="1500" b="1" dirty="0">
                <a:solidFill>
                  <a:srgbClr val="132B5E"/>
                </a:solidFill>
                <a:latin typeface="Calibri" pitchFamily="34" charset="0"/>
                <a:ea typeface="Calibri" pitchFamily="34" charset="-122"/>
                <a:cs typeface="Calibri" pitchFamily="34" charset="-120"/>
              </a:rPr>
              <a:t>v</a:t>
            </a:r>
            <a:endParaRPr lang="en-US" sz="1500" dirty="0"/>
          </a:p>
        </p:txBody>
      </p:sp>
      <p:sp>
        <p:nvSpPr>
          <p:cNvPr id="10" name="Text 8"/>
          <p:cNvSpPr txBox="1"/>
          <p:nvPr/>
        </p:nvSpPr>
        <p:spPr>
          <a:xfrm>
            <a:off x="1133856" y="2331720"/>
            <a:ext cx="10515600" cy="384048"/>
          </a:xfrm>
          <a:prstGeom prst="rect">
            <a:avLst/>
          </a:prstGeom>
          <a:noFill/>
          <a:ln/>
        </p:spPr>
        <p:txBody>
          <a:bodyPr wrap="square" lIns="0" tIns="0" rIns="0" bIns="0" rtlCol="0" anchor="ctr"/>
          <a:lstStyle/>
          <a:p>
            <a:pPr indent="0" marL="0">
              <a:buNone/>
            </a:pPr>
            <a:r>
              <a:rPr lang="en-US" sz="1350" b="1" dirty="0">
                <a:solidFill>
                  <a:srgbClr val="132B5E"/>
                </a:solidFill>
                <a:latin typeface="Arial" pitchFamily="34" charset="0"/>
                <a:ea typeface="Arial" pitchFamily="34" charset="-122"/>
                <a:cs typeface="Arial" pitchFamily="34" charset="-120"/>
              </a:rPr>
              <a:t>706 trường hợp kiểm thử</a:t>
            </a:r>
            <a:pPr indent="0" marL="0">
              <a:buNone/>
            </a:pPr>
            <a:r>
              <a:rPr lang="en-US" sz="1350" dirty="0">
                <a:solidFill>
                  <a:srgbClr val="7C8798"/>
                </a:solidFill>
                <a:latin typeface="Arial" pitchFamily="34" charset="0"/>
                <a:ea typeface="Arial" pitchFamily="34" charset="-122"/>
                <a:cs typeface="Arial" pitchFamily="34" charset="-120"/>
              </a:rPr>
              <a:t>   ·  phủ hàm hợp nhất, phát hiện mâu thuẫn, sổ đăng ký công cụ</a:t>
            </a:r>
            <a:endParaRPr lang="en-US" sz="1350" dirty="0"/>
          </a:p>
        </p:txBody>
      </p:sp>
      <p:sp>
        <p:nvSpPr>
          <p:cNvPr id="11" name="Shape 9"/>
          <p:cNvSpPr/>
          <p:nvPr/>
        </p:nvSpPr>
        <p:spPr>
          <a:xfrm>
            <a:off x="566928" y="3108960"/>
            <a:ext cx="384048" cy="384048"/>
          </a:xfrm>
          <a:prstGeom prst="rect">
            <a:avLst/>
          </a:prstGeom>
          <a:solidFill>
            <a:srgbClr val="8CC0E4"/>
          </a:solidFill>
          <a:ln/>
        </p:spPr>
      </p:sp>
      <p:sp>
        <p:nvSpPr>
          <p:cNvPr id="12" name="Text 10"/>
          <p:cNvSpPr txBox="1"/>
          <p:nvPr/>
        </p:nvSpPr>
        <p:spPr>
          <a:xfrm>
            <a:off x="566928" y="3108960"/>
            <a:ext cx="384048" cy="384048"/>
          </a:xfrm>
          <a:prstGeom prst="rect">
            <a:avLst/>
          </a:prstGeom>
          <a:noFill/>
          <a:ln/>
        </p:spPr>
        <p:txBody>
          <a:bodyPr wrap="square" lIns="0" tIns="0" rIns="0" bIns="0" rtlCol="0" anchor="ctr"/>
          <a:lstStyle/>
          <a:p>
            <a:pPr algn="ctr" indent="0" marL="0">
              <a:buNone/>
            </a:pPr>
            <a:r>
              <a:rPr lang="en-US" sz="1500" b="1" dirty="0">
                <a:solidFill>
                  <a:srgbClr val="132B5E"/>
                </a:solidFill>
                <a:latin typeface="Calibri" pitchFamily="34" charset="0"/>
                <a:ea typeface="Calibri" pitchFamily="34" charset="-122"/>
                <a:cs typeface="Calibri" pitchFamily="34" charset="-120"/>
              </a:rPr>
              <a:t>v</a:t>
            </a:r>
            <a:endParaRPr lang="en-US" sz="1500" dirty="0"/>
          </a:p>
        </p:txBody>
      </p:sp>
      <p:sp>
        <p:nvSpPr>
          <p:cNvPr id="13" name="Text 11"/>
          <p:cNvSpPr txBox="1"/>
          <p:nvPr/>
        </p:nvSpPr>
        <p:spPr>
          <a:xfrm>
            <a:off x="1133856" y="3108960"/>
            <a:ext cx="10515600" cy="384048"/>
          </a:xfrm>
          <a:prstGeom prst="rect">
            <a:avLst/>
          </a:prstGeom>
          <a:noFill/>
          <a:ln/>
        </p:spPr>
        <p:txBody>
          <a:bodyPr wrap="square" lIns="0" tIns="0" rIns="0" bIns="0" rtlCol="0" anchor="ctr"/>
          <a:lstStyle/>
          <a:p>
            <a:pPr indent="0" marL="0">
              <a:buNone/>
            </a:pPr>
            <a:r>
              <a:rPr lang="en-US" sz="1350" b="1" dirty="0">
                <a:solidFill>
                  <a:srgbClr val="132B5E"/>
                </a:solidFill>
                <a:latin typeface="Arial" pitchFamily="34" charset="0"/>
                <a:ea typeface="Arial" pitchFamily="34" charset="-122"/>
                <a:cs typeface="Arial" pitchFamily="34" charset="-120"/>
              </a:rPr>
              <a:t>Bao phủ 67,4 phần trăm câu lệnh</a:t>
            </a:r>
            <a:pPr indent="0" marL="0">
              <a:buNone/>
            </a:pPr>
            <a:r>
              <a:rPr lang="en-US" sz="1350" dirty="0">
                <a:solidFill>
                  <a:srgbClr val="7C8798"/>
                </a:solidFill>
                <a:latin typeface="Arial" pitchFamily="34" charset="0"/>
                <a:ea typeface="Arial" pitchFamily="34" charset="-122"/>
                <a:cs typeface="Arial" pitchFamily="34" charset="-120"/>
              </a:rPr>
              <a:t>   ·  60,0 phần trăm nhánh trên phần mã nghiệp vụ</a:t>
            </a:r>
            <a:endParaRPr lang="en-US" sz="1350" dirty="0"/>
          </a:p>
        </p:txBody>
      </p:sp>
      <p:sp>
        <p:nvSpPr>
          <p:cNvPr id="14" name="Shape 12"/>
          <p:cNvSpPr/>
          <p:nvPr/>
        </p:nvSpPr>
        <p:spPr>
          <a:xfrm>
            <a:off x="566928" y="3886200"/>
            <a:ext cx="384048" cy="384048"/>
          </a:xfrm>
          <a:prstGeom prst="rect">
            <a:avLst/>
          </a:prstGeom>
          <a:solidFill>
            <a:srgbClr val="8CC0E4"/>
          </a:solidFill>
          <a:ln/>
        </p:spPr>
      </p:sp>
      <p:sp>
        <p:nvSpPr>
          <p:cNvPr id="15" name="Text 13"/>
          <p:cNvSpPr txBox="1"/>
          <p:nvPr/>
        </p:nvSpPr>
        <p:spPr>
          <a:xfrm>
            <a:off x="566928" y="3886200"/>
            <a:ext cx="384048" cy="384048"/>
          </a:xfrm>
          <a:prstGeom prst="rect">
            <a:avLst/>
          </a:prstGeom>
          <a:noFill/>
          <a:ln/>
        </p:spPr>
        <p:txBody>
          <a:bodyPr wrap="square" lIns="0" tIns="0" rIns="0" bIns="0" rtlCol="0" anchor="ctr"/>
          <a:lstStyle/>
          <a:p>
            <a:pPr algn="ctr" indent="0" marL="0">
              <a:buNone/>
            </a:pPr>
            <a:r>
              <a:rPr lang="en-US" sz="1500" b="1" dirty="0">
                <a:solidFill>
                  <a:srgbClr val="132B5E"/>
                </a:solidFill>
                <a:latin typeface="Calibri" pitchFamily="34" charset="0"/>
                <a:ea typeface="Calibri" pitchFamily="34" charset="-122"/>
                <a:cs typeface="Calibri" pitchFamily="34" charset="-120"/>
              </a:rPr>
              <a:t>v</a:t>
            </a:r>
            <a:endParaRPr lang="en-US" sz="1500" dirty="0"/>
          </a:p>
        </p:txBody>
      </p:sp>
      <p:sp>
        <p:nvSpPr>
          <p:cNvPr id="16" name="Text 14"/>
          <p:cNvSpPr txBox="1"/>
          <p:nvPr/>
        </p:nvSpPr>
        <p:spPr>
          <a:xfrm>
            <a:off x="1133856" y="3886200"/>
            <a:ext cx="10515600" cy="384048"/>
          </a:xfrm>
          <a:prstGeom prst="rect">
            <a:avLst/>
          </a:prstGeom>
          <a:noFill/>
          <a:ln/>
        </p:spPr>
        <p:txBody>
          <a:bodyPr wrap="square" lIns="0" tIns="0" rIns="0" bIns="0" rtlCol="0" anchor="ctr"/>
          <a:lstStyle/>
          <a:p>
            <a:pPr indent="0" marL="0">
              <a:buNone/>
            </a:pPr>
            <a:r>
              <a:rPr lang="en-US" sz="1350" b="1" dirty="0">
                <a:solidFill>
                  <a:srgbClr val="132B5E"/>
                </a:solidFill>
                <a:latin typeface="Arial" pitchFamily="34" charset="0"/>
                <a:ea typeface="Arial" pitchFamily="34" charset="-122"/>
                <a:cs typeface="Arial" pitchFamily="34" charset="-120"/>
              </a:rPr>
              <a:t>13 tệp kiểm thử đầu cuối</a:t>
            </a:r>
            <a:pPr indent="0" marL="0">
              <a:buNone/>
            </a:pPr>
            <a:r>
              <a:rPr lang="en-US" sz="1350" dirty="0">
                <a:solidFill>
                  <a:srgbClr val="7C8798"/>
                </a:solidFill>
                <a:latin typeface="Arial" pitchFamily="34" charset="0"/>
                <a:ea typeface="Arial" pitchFamily="34" charset="-122"/>
                <a:cs typeface="Arial" pitchFamily="34" charset="-120"/>
              </a:rPr>
              <a:t>   ·  tài liệu, truy vấn, tác tử, đồ thị và đánh giá</a:t>
            </a:r>
            <a:endParaRPr lang="en-US" sz="1350" dirty="0"/>
          </a:p>
        </p:txBody>
      </p:sp>
      <p:sp>
        <p:nvSpPr>
          <p:cNvPr id="17" name="Shape 15"/>
          <p:cNvSpPr/>
          <p:nvPr/>
        </p:nvSpPr>
        <p:spPr>
          <a:xfrm>
            <a:off x="566928" y="4663440"/>
            <a:ext cx="384048" cy="384048"/>
          </a:xfrm>
          <a:prstGeom prst="rect">
            <a:avLst/>
          </a:prstGeom>
          <a:solidFill>
            <a:srgbClr val="8CC0E4"/>
          </a:solidFill>
          <a:ln/>
        </p:spPr>
      </p:sp>
      <p:sp>
        <p:nvSpPr>
          <p:cNvPr id="18" name="Text 16"/>
          <p:cNvSpPr txBox="1"/>
          <p:nvPr/>
        </p:nvSpPr>
        <p:spPr>
          <a:xfrm>
            <a:off x="566928" y="4663440"/>
            <a:ext cx="384048" cy="384048"/>
          </a:xfrm>
          <a:prstGeom prst="rect">
            <a:avLst/>
          </a:prstGeom>
          <a:noFill/>
          <a:ln/>
        </p:spPr>
        <p:txBody>
          <a:bodyPr wrap="square" lIns="0" tIns="0" rIns="0" bIns="0" rtlCol="0" anchor="ctr"/>
          <a:lstStyle/>
          <a:p>
            <a:pPr algn="ctr" indent="0" marL="0">
              <a:buNone/>
            </a:pPr>
            <a:r>
              <a:rPr lang="en-US" sz="1500" b="1" dirty="0">
                <a:solidFill>
                  <a:srgbClr val="132B5E"/>
                </a:solidFill>
                <a:latin typeface="Calibri" pitchFamily="34" charset="0"/>
                <a:ea typeface="Calibri" pitchFamily="34" charset="-122"/>
                <a:cs typeface="Calibri" pitchFamily="34" charset="-120"/>
              </a:rPr>
              <a:t>v</a:t>
            </a:r>
            <a:endParaRPr lang="en-US" sz="1500" dirty="0"/>
          </a:p>
        </p:txBody>
      </p:sp>
      <p:sp>
        <p:nvSpPr>
          <p:cNvPr id="19" name="Text 17"/>
          <p:cNvSpPr txBox="1"/>
          <p:nvPr/>
        </p:nvSpPr>
        <p:spPr>
          <a:xfrm>
            <a:off x="1133856" y="4663440"/>
            <a:ext cx="10515600" cy="384048"/>
          </a:xfrm>
          <a:prstGeom prst="rect">
            <a:avLst/>
          </a:prstGeom>
          <a:noFill/>
          <a:ln/>
        </p:spPr>
        <p:txBody>
          <a:bodyPr wrap="square" lIns="0" tIns="0" rIns="0" bIns="0" rtlCol="0" anchor="ctr"/>
          <a:lstStyle/>
          <a:p>
            <a:pPr indent="0" marL="0">
              <a:buNone/>
            </a:pPr>
            <a:r>
              <a:rPr lang="en-US" sz="1350" b="1" dirty="0">
                <a:solidFill>
                  <a:srgbClr val="132B5E"/>
                </a:solidFill>
                <a:latin typeface="Arial" pitchFamily="34" charset="0"/>
                <a:ea typeface="Arial" pitchFamily="34" charset="-122"/>
                <a:cs typeface="Arial" pitchFamily="34" charset="-120"/>
              </a:rPr>
              <a:t>Cổng chặn tự động</a:t>
            </a:r>
            <a:pPr indent="0" marL="0">
              <a:buNone/>
            </a:pPr>
            <a:r>
              <a:rPr lang="en-US" sz="1350" dirty="0">
                <a:solidFill>
                  <a:srgbClr val="7C8798"/>
                </a:solidFill>
                <a:latin typeface="Arial" pitchFamily="34" charset="0"/>
                <a:ea typeface="Arial" pitchFamily="34" charset="-122"/>
                <a:cs typeface="Arial" pitchFamily="34" charset="-120"/>
              </a:rPr>
              <a:t>   ·  độ bao phủ giảm quá 5 phần trăm thì trả mã thoát khác không</a:t>
            </a:r>
            <a:endParaRPr lang="en-US" sz="1350" dirty="0"/>
          </a:p>
        </p:txBody>
      </p:sp>
      <p:sp>
        <p:nvSpPr>
          <p:cNvPr id="20" name="Shape 18"/>
          <p:cNvSpPr/>
          <p:nvPr/>
        </p:nvSpPr>
        <p:spPr>
          <a:xfrm>
            <a:off x="566928" y="5440680"/>
            <a:ext cx="384048" cy="384048"/>
          </a:xfrm>
          <a:prstGeom prst="rect">
            <a:avLst/>
          </a:prstGeom>
          <a:solidFill>
            <a:srgbClr val="8CC0E4"/>
          </a:solidFill>
          <a:ln/>
        </p:spPr>
      </p:sp>
      <p:sp>
        <p:nvSpPr>
          <p:cNvPr id="21" name="Text 19"/>
          <p:cNvSpPr txBox="1"/>
          <p:nvPr/>
        </p:nvSpPr>
        <p:spPr>
          <a:xfrm>
            <a:off x="566928" y="5440680"/>
            <a:ext cx="384048" cy="384048"/>
          </a:xfrm>
          <a:prstGeom prst="rect">
            <a:avLst/>
          </a:prstGeom>
          <a:noFill/>
          <a:ln/>
        </p:spPr>
        <p:txBody>
          <a:bodyPr wrap="square" lIns="0" tIns="0" rIns="0" bIns="0" rtlCol="0" anchor="ctr"/>
          <a:lstStyle/>
          <a:p>
            <a:pPr algn="ctr" indent="0" marL="0">
              <a:buNone/>
            </a:pPr>
            <a:r>
              <a:rPr lang="en-US" sz="1500" b="1" dirty="0">
                <a:solidFill>
                  <a:srgbClr val="132B5E"/>
                </a:solidFill>
                <a:latin typeface="Calibri" pitchFamily="34" charset="0"/>
                <a:ea typeface="Calibri" pitchFamily="34" charset="-122"/>
                <a:cs typeface="Calibri" pitchFamily="34" charset="-120"/>
              </a:rPr>
              <a:t>v</a:t>
            </a:r>
            <a:endParaRPr lang="en-US" sz="1500" dirty="0"/>
          </a:p>
        </p:txBody>
      </p:sp>
      <p:sp>
        <p:nvSpPr>
          <p:cNvPr id="22" name="Text 20"/>
          <p:cNvSpPr txBox="1"/>
          <p:nvPr/>
        </p:nvSpPr>
        <p:spPr>
          <a:xfrm>
            <a:off x="1133856" y="5440680"/>
            <a:ext cx="10515600" cy="384048"/>
          </a:xfrm>
          <a:prstGeom prst="rect">
            <a:avLst/>
          </a:prstGeom>
          <a:noFill/>
          <a:ln/>
        </p:spPr>
        <p:txBody>
          <a:bodyPr wrap="square" lIns="0" tIns="0" rIns="0" bIns="0" rtlCol="0" anchor="ctr"/>
          <a:lstStyle/>
          <a:p>
            <a:pPr indent="0" marL="0">
              <a:buNone/>
            </a:pPr>
            <a:r>
              <a:rPr lang="en-US" sz="1350" b="1" dirty="0">
                <a:solidFill>
                  <a:srgbClr val="132B5E"/>
                </a:solidFill>
                <a:latin typeface="Arial" pitchFamily="34" charset="0"/>
                <a:ea typeface="Arial" pitchFamily="34" charset="-122"/>
                <a:cs typeface="Arial" pitchFamily="34" charset="-120"/>
              </a:rPr>
              <a:t>Nhà cung cấp giả lập</a:t>
            </a:r>
            <a:pPr indent="0" marL="0">
              <a:buNone/>
            </a:pPr>
            <a:r>
              <a:rPr lang="en-US" sz="1350" dirty="0">
                <a:solidFill>
                  <a:srgbClr val="7C8798"/>
                </a:solidFill>
                <a:latin typeface="Arial" pitchFamily="34" charset="0"/>
                <a:ea typeface="Arial" pitchFamily="34" charset="-122"/>
                <a:cs typeface="Arial" pitchFamily="34" charset="-120"/>
              </a:rPr>
              <a:t>   ·  sinh kết quả theo băm đầu vào nên kiểm thử tất định</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FEFEE"/>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8A8F98"/>
                </a:solidFill>
                <a:latin typeface="Arial" pitchFamily="34" charset="0"/>
                <a:ea typeface="Arial" pitchFamily="34" charset="-122"/>
                <a:cs typeface="Arial" pitchFamily="34" charset="-120"/>
              </a:rPr>
              <a:t>RAG RELIABILITY PLATFORM  ·  Báo cáo đồ án môn học</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8A8F98"/>
                </a:solidFill>
                <a:latin typeface="Arial" pitchFamily="34" charset="0"/>
                <a:ea typeface="Arial" pitchFamily="34" charset="-122"/>
                <a:cs typeface="Arial" pitchFamily="34" charset="-120"/>
              </a:rPr>
              <a:t>27</a:t>
            </a:r>
            <a:endParaRPr lang="en-US" sz="900" dirty="0"/>
          </a:p>
        </p:txBody>
      </p:sp>
      <p:sp>
        <p:nvSpPr>
          <p:cNvPr id="4" name="Text 2"/>
          <p:cNvSpPr txBox="1"/>
          <p:nvPr/>
        </p:nvSpPr>
        <p:spPr>
          <a:xfrm>
            <a:off x="566928" y="384048"/>
            <a:ext cx="10881360" cy="777240"/>
          </a:xfrm>
          <a:prstGeom prst="rect">
            <a:avLst/>
          </a:prstGeom>
          <a:noFill/>
          <a:ln/>
        </p:spPr>
        <p:txBody>
          <a:bodyPr wrap="square" lIns="0" tIns="0" rIns="0" bIns="0" rtlCol="0" anchor="t"/>
          <a:lstStyle/>
          <a:p>
            <a:pPr indent="0" marL="0">
              <a:lnSpc>
                <a:spcPct val="108000"/>
              </a:lnSpc>
              <a:buNone/>
            </a:pPr>
            <a:r>
              <a:rPr lang="en-US" sz="3200" b="1" dirty="0">
                <a:solidFill>
                  <a:srgbClr val="132B5E"/>
                </a:solidFill>
                <a:latin typeface="Arial" pitchFamily="34" charset="0"/>
                <a:ea typeface="Arial" pitchFamily="34" charset="-122"/>
                <a:cs typeface="Arial" pitchFamily="34" charset="-120"/>
              </a:rPr>
              <a:t>TỔNG KẾT VÀ HƯỚNG PHÁT TRIỂN</a:t>
            </a:r>
            <a:endParaRPr lang="en-US" sz="3200" dirty="0"/>
          </a:p>
        </p:txBody>
      </p:sp>
      <p:sp>
        <p:nvSpPr>
          <p:cNvPr id="5" name="Text 3"/>
          <p:cNvSpPr txBox="1"/>
          <p:nvPr/>
        </p:nvSpPr>
        <p:spPr>
          <a:xfrm>
            <a:off x="566928" y="1463040"/>
            <a:ext cx="5120640" cy="365760"/>
          </a:xfrm>
          <a:prstGeom prst="rect">
            <a:avLst/>
          </a:prstGeom>
          <a:noFill/>
          <a:ln/>
        </p:spPr>
        <p:txBody>
          <a:bodyPr wrap="square" lIns="0" tIns="0" rIns="0" bIns="0" rtlCol="0" anchor="ctr"/>
          <a:lstStyle/>
          <a:p>
            <a:pPr indent="0" marL="0">
              <a:buNone/>
            </a:pPr>
            <a:r>
              <a:rPr lang="en-US" sz="1500" b="1" dirty="0">
                <a:solidFill>
                  <a:srgbClr val="132B5E"/>
                </a:solidFill>
                <a:latin typeface="Arial" pitchFamily="34" charset="0"/>
                <a:ea typeface="Arial" pitchFamily="34" charset="-122"/>
                <a:cs typeface="Arial" pitchFamily="34" charset="-120"/>
              </a:rPr>
              <a:t>ĐÃ HOÀN THÀNH</a:t>
            </a:r>
            <a:endParaRPr lang="en-US" sz="1500" dirty="0"/>
          </a:p>
        </p:txBody>
      </p:sp>
      <p:sp>
        <p:nvSpPr>
          <p:cNvPr id="6" name="Text 4"/>
          <p:cNvSpPr txBox="1"/>
          <p:nvPr/>
        </p:nvSpPr>
        <p:spPr>
          <a:xfrm>
            <a:off x="566928" y="1965960"/>
            <a:ext cx="5212080" cy="3657600"/>
          </a:xfrm>
          <a:prstGeom prst="rect">
            <a:avLst/>
          </a:prstGeom>
          <a:noFill/>
          <a:ln/>
        </p:spPr>
        <p:txBody>
          <a:bodyPr wrap="square" lIns="0" tIns="0" rIns="0" bIns="0" rtlCol="0" anchor="t"/>
          <a:lstStyle/>
          <a:p>
            <a:pPr indent="0" marL="0">
              <a:lnSpc>
                <a:spcPct val="120000"/>
              </a:lnSpc>
              <a:spcAft>
                <a:spcPts val="700"/>
              </a:spcAft>
              <a:buNone/>
            </a:pPr>
            <a:r>
              <a:rPr lang="en-US" sz="1250" dirty="0">
                <a:solidFill>
                  <a:srgbClr val="1F3A6E"/>
                </a:solidFill>
                <a:latin typeface="Arial" pitchFamily="34" charset="0"/>
                <a:ea typeface="Arial" pitchFamily="34" charset="-122"/>
                <a:cs typeface="Arial" pitchFamily="34" charset="-120"/>
              </a:rPr>
              <a:t>-  Đường ống truy hồi và sinh câu trả lời có kiểm chứng, từ chối là hành vi mặc định.</a:t>
            </a:r>
            <a:endParaRPr lang="en-US" sz="1250" dirty="0"/>
          </a:p>
          <a:p>
            <a:pPr indent="0" marL="0">
              <a:lnSpc>
                <a:spcPct val="120000"/>
              </a:lnSpc>
              <a:spcAft>
                <a:spcPts val="700"/>
              </a:spcAft>
              <a:buNone/>
            </a:pPr>
            <a:r>
              <a:rPr lang="en-US" sz="1250" dirty="0">
                <a:solidFill>
                  <a:srgbClr val="1F3A6E"/>
                </a:solidFill>
                <a:latin typeface="Arial" pitchFamily="34" charset="0"/>
                <a:ea typeface="Arial" pitchFamily="34" charset="-122"/>
                <a:cs typeface="Arial" pitchFamily="34" charset="-120"/>
              </a:rPr>
              <a:t>-  Trích dẫn cấp khẳng định và chấm điểm trung thực, phân loại bảy tầng nguyên nhân.</a:t>
            </a:r>
            <a:endParaRPr lang="en-US" sz="1250" dirty="0"/>
          </a:p>
          <a:p>
            <a:pPr indent="0" marL="0">
              <a:lnSpc>
                <a:spcPct val="120000"/>
              </a:lnSpc>
              <a:spcAft>
                <a:spcPts val="700"/>
              </a:spcAft>
              <a:buNone/>
            </a:pPr>
            <a:r>
              <a:rPr lang="en-US" sz="1250" dirty="0">
                <a:solidFill>
                  <a:srgbClr val="1F3A6E"/>
                </a:solidFill>
                <a:latin typeface="Arial" pitchFamily="34" charset="0"/>
                <a:ea typeface="Arial" pitchFamily="34" charset="-122"/>
                <a:cs typeface="Arial" pitchFamily="34" charset="-120"/>
              </a:rPr>
              <a:t>-  Khung đánh giá 210 case kèm mốc chuẩn và cổng chặn hồi quy.</a:t>
            </a:r>
            <a:endParaRPr lang="en-US" sz="1250" dirty="0"/>
          </a:p>
          <a:p>
            <a:pPr indent="0" marL="0">
              <a:lnSpc>
                <a:spcPct val="120000"/>
              </a:lnSpc>
              <a:spcAft>
                <a:spcPts val="700"/>
              </a:spcAft>
              <a:buNone/>
            </a:pPr>
            <a:r>
              <a:rPr lang="en-US" sz="1250" dirty="0">
                <a:solidFill>
                  <a:srgbClr val="1F3A6E"/>
                </a:solidFill>
                <a:latin typeface="Arial" pitchFamily="34" charset="0"/>
                <a:ea typeface="Arial" pitchFamily="34" charset="-122"/>
                <a:cs typeface="Arial" pitchFamily="34" charset="-120"/>
              </a:rPr>
              <a:t>-  Nền tảng tác tử với sổ đăng ký công cụ, tích hợp máy chủ ngoài và phát lại phiên chạy.</a:t>
            </a:r>
            <a:endParaRPr lang="en-US" sz="1250" dirty="0"/>
          </a:p>
          <a:p>
            <a:pPr indent="0" marL="0">
              <a:lnSpc>
                <a:spcPct val="120000"/>
              </a:lnSpc>
              <a:spcAft>
                <a:spcPts val="700"/>
              </a:spcAft>
              <a:buNone/>
            </a:pPr>
            <a:r>
              <a:rPr lang="en-US" sz="1250" dirty="0">
                <a:solidFill>
                  <a:srgbClr val="1F3A6E"/>
                </a:solidFill>
                <a:latin typeface="Arial" pitchFamily="34" charset="0"/>
                <a:ea typeface="Arial" pitchFamily="34" charset="-122"/>
                <a:cs typeface="Arial" pitchFamily="34" charset="-120"/>
              </a:rPr>
              <a:t>-  Chuyển toàn bộ suy luận về chạy cục bộ, chi phí mỗi truy vấn bằng không.</a:t>
            </a:r>
            <a:endParaRPr lang="en-US" sz="1250" dirty="0"/>
          </a:p>
        </p:txBody>
      </p:sp>
      <p:sp>
        <p:nvSpPr>
          <p:cNvPr id="7" name="Shape 5"/>
          <p:cNvSpPr/>
          <p:nvPr/>
        </p:nvSpPr>
        <p:spPr>
          <a:xfrm>
            <a:off x="6355080" y="1463040"/>
            <a:ext cx="5349240" cy="4206240"/>
          </a:xfrm>
          <a:prstGeom prst="rect">
            <a:avLst/>
          </a:prstGeom>
          <a:solidFill>
            <a:srgbClr val="132B5E"/>
          </a:solidFill>
          <a:ln/>
        </p:spPr>
      </p:sp>
      <p:sp>
        <p:nvSpPr>
          <p:cNvPr id="8" name="Text 6"/>
          <p:cNvSpPr txBox="1"/>
          <p:nvPr/>
        </p:nvSpPr>
        <p:spPr>
          <a:xfrm>
            <a:off x="6739128" y="1755648"/>
            <a:ext cx="4581144" cy="365760"/>
          </a:xfrm>
          <a:prstGeom prst="rect">
            <a:avLst/>
          </a:prstGeom>
          <a:noFill/>
          <a:ln/>
        </p:spPr>
        <p:txBody>
          <a:bodyPr wrap="square" lIns="0" tIns="0" rIns="0" bIns="0" rtlCol="0" anchor="ctr"/>
          <a:lstStyle/>
          <a:p>
            <a:pPr indent="0" marL="0">
              <a:buNone/>
            </a:pPr>
            <a:r>
              <a:rPr lang="en-US" sz="1500" b="1" dirty="0">
                <a:solidFill>
                  <a:srgbClr val="8CC0E4"/>
                </a:solidFill>
                <a:latin typeface="Arial" pitchFamily="34" charset="0"/>
                <a:ea typeface="Arial" pitchFamily="34" charset="-122"/>
                <a:cs typeface="Arial" pitchFamily="34" charset="-120"/>
              </a:rPr>
              <a:t>TIẾP THEO</a:t>
            </a:r>
            <a:endParaRPr lang="en-US" sz="1500" dirty="0"/>
          </a:p>
        </p:txBody>
      </p:sp>
      <p:sp>
        <p:nvSpPr>
          <p:cNvPr id="9" name="Text 7"/>
          <p:cNvSpPr txBox="1"/>
          <p:nvPr/>
        </p:nvSpPr>
        <p:spPr>
          <a:xfrm>
            <a:off x="6739128" y="2249424"/>
            <a:ext cx="4581144" cy="3108960"/>
          </a:xfrm>
          <a:prstGeom prst="rect">
            <a:avLst/>
          </a:prstGeom>
          <a:noFill/>
          <a:ln/>
        </p:spPr>
        <p:txBody>
          <a:bodyPr wrap="square" lIns="0" tIns="0" rIns="0" bIns="0" rtlCol="0" anchor="t"/>
          <a:lstStyle/>
          <a:p>
            <a:pPr indent="0" marL="0">
              <a:lnSpc>
                <a:spcPct val="120000"/>
              </a:lnSpc>
              <a:spcAft>
                <a:spcPts val="900"/>
              </a:spcAft>
              <a:buNone/>
            </a:pPr>
            <a:r>
              <a:rPr lang="en-US" sz="1250" dirty="0">
                <a:solidFill>
                  <a:srgbClr val="FFFFFF"/>
                </a:solidFill>
                <a:latin typeface="Arial" pitchFamily="34" charset="0"/>
                <a:ea typeface="Arial" pitchFamily="34" charset="-122"/>
                <a:cs typeface="Arial" pitchFamily="34" charset="-120"/>
              </a:rPr>
              <a:t>-  Luồng phê duyệt của con người để mở công cụ có tác động ghi.</a:t>
            </a:r>
            <a:endParaRPr lang="en-US" sz="1250" dirty="0"/>
          </a:p>
          <a:p>
            <a:pPr indent="0" marL="0">
              <a:lnSpc>
                <a:spcPct val="120000"/>
              </a:lnSpc>
              <a:spcAft>
                <a:spcPts val="900"/>
              </a:spcAft>
              <a:buNone/>
            </a:pPr>
            <a:r>
              <a:rPr lang="en-US" sz="1250" dirty="0">
                <a:solidFill>
                  <a:srgbClr val="FFFFFF"/>
                </a:solidFill>
                <a:latin typeface="Arial" pitchFamily="34" charset="0"/>
                <a:ea typeface="Arial" pitchFamily="34" charset="-122"/>
                <a:cs typeface="Arial" pitchFamily="34" charset="-120"/>
              </a:rPr>
              <a:t>-  Phân rã câu hỏi và truy hồi lặp cho nhóm câu hỏi nhiều chặng.</a:t>
            </a:r>
            <a:endParaRPr lang="en-US" sz="1250" dirty="0"/>
          </a:p>
          <a:p>
            <a:pPr indent="0" marL="0">
              <a:lnSpc>
                <a:spcPct val="120000"/>
              </a:lnSpc>
              <a:spcAft>
                <a:spcPts val="900"/>
              </a:spcAft>
              <a:buNone/>
            </a:pPr>
            <a:r>
              <a:rPr lang="en-US" sz="1250" dirty="0">
                <a:solidFill>
                  <a:srgbClr val="FFFFFF"/>
                </a:solidFill>
                <a:latin typeface="Arial" pitchFamily="34" charset="0"/>
                <a:ea typeface="Arial" pitchFamily="34" charset="-122"/>
                <a:cs typeface="Arial" pitchFamily="34" charset="-120"/>
              </a:rPr>
              <a:t>-  Tối ưu lưu trữ vector khi kho tri thức lớn lên.</a:t>
            </a:r>
            <a:endParaRPr lang="en-US" sz="1250" dirty="0"/>
          </a:p>
          <a:p>
            <a:pPr indent="0" marL="0">
              <a:lnSpc>
                <a:spcPct val="120000"/>
              </a:lnSpc>
              <a:spcAft>
                <a:spcPts val="900"/>
              </a:spcAft>
              <a:buNone/>
            </a:pPr>
            <a:r>
              <a:rPr lang="en-US" sz="1250" dirty="0">
                <a:solidFill>
                  <a:srgbClr val="FFFFFF"/>
                </a:solidFill>
                <a:latin typeface="Arial" pitchFamily="34" charset="0"/>
                <a:ea typeface="Arial" pitchFamily="34" charset="-122"/>
                <a:cs typeface="Arial" pitchFamily="34" charset="-120"/>
              </a:rPr>
              <a:t>-  Chấm điểm có người tham gia để hiệu chỉnh lại bộ chấm tự động.</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E2148"/>
        </a:solidFill>
      </p:bgPr>
    </p:bg>
    <p:spTree>
      <p:nvGrpSpPr>
        <p:cNvPr id="1" name=""/>
        <p:cNvGrpSpPr/>
        <p:nvPr/>
      </p:nvGrpSpPr>
      <p:grpSpPr>
        <a:xfrm>
          <a:off x="0" y="0"/>
          <a:ext cx="0" cy="0"/>
          <a:chOff x="0" y="0"/>
          <a:chExt cx="0" cy="0"/>
        </a:xfrm>
      </p:grpSpPr>
      <p:sp>
        <p:nvSpPr>
          <p:cNvPr id="2" name="Text 0"/>
          <p:cNvSpPr txBox="1"/>
          <p:nvPr/>
        </p:nvSpPr>
        <p:spPr>
          <a:xfrm>
            <a:off x="566928" y="6400800"/>
            <a:ext cx="6400800" cy="274320"/>
          </a:xfrm>
          <a:prstGeom prst="rect">
            <a:avLst/>
          </a:prstGeom>
          <a:noFill/>
          <a:ln/>
        </p:spPr>
        <p:txBody>
          <a:bodyPr wrap="square" lIns="0" tIns="0" rIns="0" bIns="0" rtlCol="0" anchor="ctr"/>
          <a:lstStyle/>
          <a:p>
            <a:pPr indent="0" marL="0">
              <a:buNone/>
            </a:pPr>
            <a:r>
              <a:rPr lang="en-US" sz="900" dirty="0">
                <a:solidFill>
                  <a:srgbClr val="3A5290"/>
                </a:solidFill>
                <a:latin typeface="Arial" pitchFamily="34" charset="0"/>
                <a:ea typeface="Arial" pitchFamily="34" charset="-122"/>
                <a:cs typeface="Arial" pitchFamily="34" charset="-120"/>
              </a:rPr>
              <a:t>RAG RELIABILITY PLATFORM  ·  Báo cáo đồ án môn học</a:t>
            </a:r>
            <a:endParaRPr lang="en-US" sz="900" dirty="0"/>
          </a:p>
        </p:txBody>
      </p:sp>
      <p:sp>
        <p:nvSpPr>
          <p:cNvPr id="3" name="Text 1"/>
          <p:cNvSpPr txBox="1"/>
          <p:nvPr/>
        </p:nvSpPr>
        <p:spPr>
          <a:xfrm>
            <a:off x="10972800" y="6400800"/>
            <a:ext cx="658368" cy="274320"/>
          </a:xfrm>
          <a:prstGeom prst="rect">
            <a:avLst/>
          </a:prstGeom>
          <a:noFill/>
          <a:ln/>
        </p:spPr>
        <p:txBody>
          <a:bodyPr wrap="square" lIns="0" tIns="0" rIns="0" bIns="0" rtlCol="0" anchor="ctr"/>
          <a:lstStyle/>
          <a:p>
            <a:pPr algn="r" indent="0" marL="0">
              <a:buNone/>
            </a:pPr>
            <a:r>
              <a:rPr lang="en-US" sz="900" dirty="0">
                <a:solidFill>
                  <a:srgbClr val="3A5290"/>
                </a:solidFill>
                <a:latin typeface="Arial" pitchFamily="34" charset="0"/>
                <a:ea typeface="Arial" pitchFamily="34" charset="-122"/>
                <a:cs typeface="Arial" pitchFamily="34" charset="-120"/>
              </a:rPr>
              <a:t>28</a:t>
            </a:r>
            <a:endParaRPr lang="en-US" sz="900" dirty="0"/>
          </a:p>
        </p:txBody>
      </p:sp>
      <p:sp>
        <p:nvSpPr>
          <p:cNvPr id="4" name="Text 2"/>
          <p:cNvSpPr txBox="1"/>
          <p:nvPr/>
        </p:nvSpPr>
        <p:spPr>
          <a:xfrm>
            <a:off x="0" y="2331720"/>
            <a:ext cx="12191695" cy="731520"/>
          </a:xfrm>
          <a:prstGeom prst="rect">
            <a:avLst/>
          </a:prstGeom>
          <a:noFill/>
          <a:ln/>
        </p:spPr>
        <p:txBody>
          <a:bodyPr wrap="square" lIns="0" tIns="0" rIns="0" bIns="0" rtlCol="0" anchor="ctr"/>
          <a:lstStyle/>
          <a:p>
            <a:pPr algn="ctr" indent="0" marL="0">
              <a:buNone/>
            </a:pPr>
            <a:r>
              <a:rPr lang="en-US" sz="4000" b="1" dirty="0">
                <a:solidFill>
                  <a:srgbClr val="8CC0E4"/>
                </a:solidFill>
                <a:latin typeface="Arial" pitchFamily="34" charset="0"/>
                <a:ea typeface="Arial" pitchFamily="34" charset="-122"/>
                <a:cs typeface="Arial" pitchFamily="34" charset="-120"/>
              </a:rPr>
              <a:t>RAG RELIABILITY PLATFORM</a:t>
            </a:r>
            <a:endParaRPr lang="en-US" sz="4000" dirty="0"/>
          </a:p>
        </p:txBody>
      </p:sp>
      <p:sp>
        <p:nvSpPr>
          <p:cNvPr id="5" name="Text 3"/>
          <p:cNvSpPr txBox="1"/>
          <p:nvPr/>
        </p:nvSpPr>
        <p:spPr>
          <a:xfrm>
            <a:off x="0" y="3200400"/>
            <a:ext cx="12191695" cy="64008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CẢM ƠN THẦY CÔ VÀ CÁC BẠN</a:t>
            </a:r>
            <a:endParaRPr lang="en-US" sz="2800" dirty="0"/>
          </a:p>
        </p:txBody>
      </p:sp>
      <p:sp>
        <p:nvSpPr>
          <p:cNvPr id="6" name="Text 4"/>
          <p:cNvSpPr txBox="1"/>
          <p:nvPr/>
        </p:nvSpPr>
        <p:spPr>
          <a:xfrm>
            <a:off x="0" y="3977640"/>
            <a:ext cx="12191695" cy="365760"/>
          </a:xfrm>
          <a:prstGeom prst="rect">
            <a:avLst/>
          </a:prstGeom>
          <a:noFill/>
          <a:ln/>
        </p:spPr>
        <p:txBody>
          <a:bodyPr wrap="square" lIns="0" tIns="0" rIns="0" bIns="0" rtlCol="0" anchor="ctr"/>
          <a:lstStyle/>
          <a:p>
            <a:pPr algn="ctr" indent="0" marL="0">
              <a:buNone/>
            </a:pPr>
            <a:r>
              <a:rPr lang="en-US" sz="1400" dirty="0">
                <a:solidFill>
                  <a:srgbClr val="3A5290"/>
                </a:solidFill>
                <a:latin typeface="Arial" pitchFamily="34" charset="0"/>
                <a:ea typeface="Arial" pitchFamily="34" charset="-122"/>
                <a:cs typeface="Arial" pitchFamily="34" charset="-120"/>
              </a:rPr>
              <a:t>Báo cáo đồ án môn học  ·  Nguyễn Văn Việt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RAG Reliability Platform</dc:title>
  <dc:subject>PptxGenJS Presentation</dc:subject>
  <dc:creator>Nguyen Van Viet</dc:creator>
  <cp:lastModifiedBy>Nguyen Van Viet</cp:lastModifiedBy>
  <cp:revision>1</cp:revision>
  <dcterms:created xsi:type="dcterms:W3CDTF">2026-09-20T11:33:37Z</dcterms:created>
  <dcterms:modified xsi:type="dcterms:W3CDTF">2026-09-20T11:33:37Z</dcterms:modified>
</cp:coreProperties>
</file>