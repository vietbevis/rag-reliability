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38BDF8"/>
                </a:solidFill>
              </a:defRPr>
            </a:pPr>
            <a:r>
              <a:t>SLIDE 1/5  •  TỔNG QUAN HỆ THỐNG</a:t>
            </a:r>
          </a:p>
          <a:p>
            <a:pPr>
              <a:spcBef>
                <a:spcPts val="300"/>
              </a:spcBef>
              <a:defRPr sz="2000" b="1">
                <a:solidFill>
                  <a:srgbClr val="F8FAFC"/>
                </a:solidFill>
              </a:defRPr>
            </a:pPr>
            <a:r>
              <a:t>Tổng Quan Dự Án &amp; Triết Lý Thiết Kế Cốt Lõi</a:t>
            </a:r>
          </a:p>
        </p:txBody>
      </p:sp>
      <p:sp>
        <p:nvSpPr>
          <p:cNvPr id="4" name="Rectangle 3"/>
          <p:cNvSpPr/>
          <p:nvPr/>
        </p:nvSpPr>
        <p:spPr>
          <a:xfrm>
            <a:off x="731520" y="1234440"/>
            <a:ext cx="10728655" cy="18288"/>
          </a:xfrm>
          <a:prstGeom prst="rect">
            <a:avLst/>
          </a:prstGeom>
          <a:solidFill>
            <a:srgbClr val="2D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94A3B8"/>
                </a:solidFill>
              </a:defRPr>
            </a:pPr>
            <a:r>
              <a:t>RAG Reliability Service &amp; Agent Reliability Platform  |  NestJS 11 • pgvector • BullMQ • Neo4j • LangGraph • MCP</a:t>
            </a:r>
          </a:p>
        </p:txBody>
      </p:sp>
      <p:sp>
        <p:nvSpPr>
          <p:cNvPr id="6" name="Rounded Rectangle 5"/>
          <p:cNvSpPr/>
          <p:nvPr/>
        </p:nvSpPr>
        <p:spPr>
          <a:xfrm>
            <a:off x="731520" y="1417320"/>
            <a:ext cx="5212080" cy="320040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38BDF8"/>
                </a:solidFill>
              </a:defRPr>
            </a:pPr>
            <a:r>
              <a:t>1. Production-Grade RAG Engine</a:t>
            </a:r>
          </a:p>
          <a:p>
            <a:pPr>
              <a:spcAft>
                <a:spcPts val="600"/>
              </a:spcAft>
            </a:pPr>
            <a:r>
              <a:rPr b="1" sz="1050">
                <a:solidFill>
                  <a:srgbClr val="F8FAFC"/>
                </a:solidFill>
              </a:rPr>
              <a:t>• Mục tiêu:</a:t>
            </a:r>
            <a:r>
              <a:rPr sz="1050">
                <a:solidFill>
                  <a:srgbClr val="94A3B8"/>
                </a:solidFill>
              </a:rPr>
              <a:t> Triệt tiêu hoàn toàn LLM Hallucination và citation giả mạo.</a:t>
            </a:r>
          </a:p>
          <a:p>
            <a:pPr>
              <a:spcAft>
                <a:spcPts val="600"/>
              </a:spcAft>
            </a:pPr>
            <a:r>
              <a:rPr b="1" sz="1050">
                <a:solidFill>
                  <a:srgbClr val="F8FAFC"/>
                </a:solidFill>
              </a:rPr>
              <a:t>• Grounding Over Guessing:</a:t>
            </a:r>
            <a:r>
              <a:rPr sz="1050">
                <a:solidFill>
                  <a:srgbClr val="94A3B8"/>
                </a:solidFill>
              </a:rPr>
              <a:t> Chỉ trả lời khi có bằng chứng (evidence) xác thực từ cơ sở dữ liệu tri thức.</a:t>
            </a:r>
          </a:p>
          <a:p>
            <a:pPr>
              <a:spcAft>
                <a:spcPts val="600"/>
              </a:spcAft>
            </a:pPr>
            <a:r>
              <a:rPr b="1" sz="1050">
                <a:solidFill>
                  <a:srgbClr val="F8FAFC"/>
                </a:solidFill>
              </a:rPr>
              <a:t>• Abstention Gate:</a:t>
            </a:r>
            <a:r>
              <a:rPr sz="1050">
                <a:solidFill>
                  <a:srgbClr val="94A3B8"/>
                </a:solidFill>
              </a:rPr>
              <a:t> Dứt khoát từ chối trung thực (INSUFFICIENT_EVIDENCE) khi thiếu bằng chứng thay vì tự suy diễn.</a:t>
            </a:r>
          </a:p>
          <a:p>
            <a:pPr>
              <a:spcAft>
                <a:spcPts val="600"/>
              </a:spcAft>
            </a:pPr>
            <a:r>
              <a:rPr b="1" sz="1050">
                <a:solidFill>
                  <a:srgbClr val="F8FAFC"/>
                </a:solidFill>
              </a:rPr>
              <a:t>• Claim-level Verification:</a:t>
            </a:r>
            <a:r>
              <a:rPr sz="1050">
                <a:solidFill>
                  <a:srgbClr val="94A3B8"/>
                </a:solidFill>
              </a:rPr>
              <a:t> Tách câu trả lời thành từng claim nguyên tử và kiểm chứng trung thực qua NLI.</a:t>
            </a:r>
          </a:p>
          <a:p>
            <a:pPr>
              <a:spcAft>
                <a:spcPts val="600"/>
              </a:spcAft>
            </a:pPr>
            <a:r>
              <a:rPr b="1" sz="1050">
                <a:solidFill>
                  <a:srgbClr val="F8FAFC"/>
                </a:solidFill>
              </a:rPr>
              <a:t>• Bảo toàn số học (Numeric Provenance):</a:t>
            </a:r>
            <a:r>
              <a:rPr sz="1050">
                <a:solidFill>
                  <a:srgbClr val="94A3B8"/>
                </a:solidFill>
              </a:rPr>
              <a:t> Mọi số liệu trong câu trả lời bắt buộc truy vết được nguồn gốc.</a:t>
            </a:r>
          </a:p>
        </p:txBody>
      </p:sp>
      <p:sp>
        <p:nvSpPr>
          <p:cNvPr id="7" name="Rounded Rectangle 6"/>
          <p:cNvSpPr/>
          <p:nvPr/>
        </p:nvSpPr>
        <p:spPr>
          <a:xfrm>
            <a:off x="6248095" y="1417320"/>
            <a:ext cx="5212080" cy="320040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A78BFA"/>
                </a:solidFill>
              </a:defRPr>
            </a:pPr>
            <a:r>
              <a:t>2. Agent Reliability Platform</a:t>
            </a:r>
          </a:p>
          <a:p>
            <a:pPr>
              <a:spcAft>
                <a:spcPts val="600"/>
              </a:spcAft>
            </a:pPr>
            <a:r>
              <a:rPr b="1" sz="1050">
                <a:solidFill>
                  <a:srgbClr val="F8FAFC"/>
                </a:solidFill>
              </a:rPr>
              <a:t>• Zero-Coupling Core:</a:t>
            </a:r>
            <a:r>
              <a:rPr sz="1050">
                <a:solidFill>
                  <a:srgbClr val="94A3B8"/>
                </a:solidFill>
              </a:rPr>
              <a:t> Agent Core (LangGraph) hoàn toàn độc lập với cài đặt Tool và MCP SDK.</a:t>
            </a:r>
          </a:p>
          <a:p>
            <a:pPr>
              <a:spcAft>
                <a:spcPts val="600"/>
              </a:spcAft>
            </a:pPr>
            <a:r>
              <a:rPr b="1" sz="1050">
                <a:solidFill>
                  <a:srgbClr val="F8FAFC"/>
                </a:solidFill>
              </a:rPr>
              <a:t>• Chuẩn hóa Tool:</a:t>
            </a:r>
            <a:r>
              <a:rPr sz="1050">
                <a:solidFill>
                  <a:srgbClr val="94A3B8"/>
                </a:solidFill>
              </a:rPr>
              <a:t> RAG là local tool, dịch vụ ngoài là remote tool qua chuẩn Model Context Protocol (MCP).</a:t>
            </a:r>
          </a:p>
          <a:p>
            <a:pPr>
              <a:spcAft>
                <a:spcPts val="600"/>
              </a:spcAft>
            </a:pPr>
            <a:r>
              <a:rPr b="1" sz="1050">
                <a:solidFill>
                  <a:srgbClr val="F8FAFC"/>
                </a:solidFill>
              </a:rPr>
              <a:t>• Tự động khám phá (Dynamic Discovery):</a:t>
            </a:r>
            <a:r>
              <a:rPr sz="1050">
                <a:solidFill>
                  <a:srgbClr val="94A3B8"/>
                </a:solidFill>
              </a:rPr>
              <a:t> Tích hợp thêm MCP Server chỉ qua cấu hình .env (0 dòng sửa Agent Core).</a:t>
            </a:r>
          </a:p>
          <a:p>
            <a:pPr>
              <a:spcAft>
                <a:spcPts val="600"/>
              </a:spcAft>
            </a:pPr>
            <a:r>
              <a:rPr b="1" sz="1050">
                <a:solidFill>
                  <a:srgbClr val="F8FAFC"/>
                </a:solidFill>
              </a:rPr>
              <a:t>• Hạ tầng an toàn (Circuit Breakers):</a:t>
            </a:r>
            <a:r>
              <a:rPr sz="1050">
                <a:solidFill>
                  <a:srgbClr val="94A3B8"/>
                </a:solidFill>
              </a:rPr>
              <a:t> Chống lặp vô tận, kiểm soát trần token/USD budget và tự động chặn hành vi rủi ro.</a:t>
            </a:r>
          </a:p>
          <a:p>
            <a:pPr>
              <a:spcAft>
                <a:spcPts val="600"/>
              </a:spcAft>
            </a:pPr>
            <a:r>
              <a:rPr b="1" sz="1050">
                <a:solidFill>
                  <a:srgbClr val="F8FAFC"/>
                </a:solidFill>
              </a:rPr>
              <a:t>• Deterministic Replay:</a:t>
            </a:r>
            <a:r>
              <a:rPr sz="1050">
                <a:solidFill>
                  <a:srgbClr val="94A3B8"/>
                </a:solidFill>
              </a:rPr>
              <a:t> Ghi trace toàn diện, hỗ trợ replay 3 chế độ (recorded, dry-run, live-read).</a:t>
            </a:r>
          </a:p>
        </p:txBody>
      </p:sp>
      <p:sp>
        <p:nvSpPr>
          <p:cNvPr id="8" name="Rounded Rectangle 7"/>
          <p:cNvSpPr/>
          <p:nvPr/>
        </p:nvSpPr>
        <p:spPr>
          <a:xfrm>
            <a:off x="731520" y="4754880"/>
            <a:ext cx="10728655" cy="146304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34D399"/>
                </a:solidFill>
              </a:defRPr>
            </a:pPr>
            <a:r>
              <a:t>Enterprise Tech Stack (Strict TypeScript, 0 `any`)</a:t>
            </a:r>
          </a:p>
          <a:p>
            <a:pPr>
              <a:spcAft>
                <a:spcPts val="300"/>
              </a:spcAft>
            </a:pPr>
            <a:r>
              <a:rPr b="1" sz="1000">
                <a:solidFill>
                  <a:srgbClr val="38BDF8"/>
                </a:solidFill>
              </a:rPr>
              <a:t>▪ Backend: </a:t>
            </a:r>
            <a:r>
              <a:rPr sz="1000">
                <a:solidFill>
                  <a:srgbClr val="94A3B8"/>
                </a:solidFill>
              </a:rPr>
              <a:t>NestJS 11 Monolith, Zod Validation, ESM Architecture, Clean Modular Pattern</a:t>
            </a:r>
          </a:p>
          <a:p>
            <a:pPr>
              <a:spcAft>
                <a:spcPts val="300"/>
              </a:spcAft>
            </a:pPr>
            <a:r>
              <a:rPr b="1" sz="1000">
                <a:solidFill>
                  <a:srgbClr val="38BDF8"/>
                </a:solidFill>
              </a:rPr>
              <a:t>▪ Databases: </a:t>
            </a:r>
            <a:r>
              <a:rPr sz="1000">
                <a:solidFill>
                  <a:srgbClr val="94A3B8"/>
                </a:solidFill>
              </a:rPr>
              <a:t>PostgreSQL 16 + pgvector (1024d HNSW Cosine Index), Prisma 7 (@prisma/adapter-pg)</a:t>
            </a:r>
          </a:p>
          <a:p>
            <a:pPr>
              <a:spcAft>
                <a:spcPts val="300"/>
              </a:spcAft>
            </a:pPr>
            <a:r>
              <a:rPr b="1" sz="1000">
                <a:solidFill>
                  <a:srgbClr val="38BDF8"/>
                </a:solidFill>
              </a:rPr>
              <a:t>▪ Async &amp; Graph: </a:t>
            </a:r>
            <a:r>
              <a:rPr sz="1000">
                <a:solidFill>
                  <a:srgbClr val="94A3B8"/>
                </a:solidFill>
              </a:rPr>
              <a:t>Redis 7 + BullMQ Worker (Job Retry &amp; Concurrency), Neo4j 5 (Graph RAG Entity Traversal)</a:t>
            </a:r>
          </a:p>
          <a:p>
            <a:pPr>
              <a:spcAft>
                <a:spcPts val="300"/>
              </a:spcAft>
            </a:pPr>
            <a:r>
              <a:rPr b="1" sz="1000">
                <a:solidFill>
                  <a:srgbClr val="38BDF8"/>
                </a:solidFill>
              </a:rPr>
              <a:t>▪ AI &amp; Agent: </a:t>
            </a:r>
            <a:r>
              <a:rPr sz="1000">
                <a:solidFill>
                  <a:srgbClr val="94A3B8"/>
                </a:solidFill>
              </a:rPr>
              <a:t>LangChain.js, LangGraph StateGraph, Model Context Protocol (@modelcontextprotocol/sdk)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38BDF8"/>
                </a:solidFill>
              </a:defRPr>
            </a:pPr>
            <a:r>
              <a:t>SLIDE 2/5  •  QUY TRÌNH NẠP DỮ LIỆU</a:t>
            </a:r>
          </a:p>
          <a:p>
            <a:pPr>
              <a:spcBef>
                <a:spcPts val="300"/>
              </a:spcBef>
              <a:defRPr sz="2000" b="1">
                <a:solidFill>
                  <a:srgbClr val="F8FAFC"/>
                </a:solidFill>
              </a:defRPr>
            </a:pPr>
            <a:r>
              <a:t>Data Ingestion, Structure-Aware Chunking &amp; Dual Indexing</a:t>
            </a:r>
          </a:p>
        </p:txBody>
      </p:sp>
      <p:sp>
        <p:nvSpPr>
          <p:cNvPr id="4" name="Rectangle 3"/>
          <p:cNvSpPr/>
          <p:nvPr/>
        </p:nvSpPr>
        <p:spPr>
          <a:xfrm>
            <a:off x="731520" y="1234440"/>
            <a:ext cx="10728655" cy="18288"/>
          </a:xfrm>
          <a:prstGeom prst="rect">
            <a:avLst/>
          </a:prstGeom>
          <a:solidFill>
            <a:srgbClr val="2D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94A3B8"/>
                </a:solidFill>
              </a:defRPr>
            </a:pPr>
            <a:r>
              <a:t>RAG Reliability Service &amp; Agent Reliability Platform  |  NestJS 11 • pgvector • BullMQ • Neo4j • LangGraph • MCP</a:t>
            </a:r>
          </a:p>
        </p:txBody>
      </p:sp>
      <p:sp>
        <p:nvSpPr>
          <p:cNvPr id="6" name="Rounded Rectangle 5"/>
          <p:cNvSpPr/>
          <p:nvPr/>
        </p:nvSpPr>
        <p:spPr>
          <a:xfrm>
            <a:off x="731520" y="1417320"/>
            <a:ext cx="10728655" cy="91440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FBBF24"/>
                </a:solidFill>
              </a:defRPr>
            </a:pPr>
            <a:r>
              <a:t>Quy trình xử lý tuần tự (BullMQ Asynchronous Worker)</a:t>
            </a:r>
          </a:p>
          <a:p>
            <a:pPr>
              <a:spcBef>
                <a:spcPts val="200"/>
              </a:spcBef>
            </a:pPr>
            <a:r>
              <a:rPr b="1" sz="1050">
                <a:solidFill>
                  <a:srgbClr val="38BDF8"/>
                </a:solidFill>
              </a:rPr>
              <a:t>Upload</a:t>
            </a:r>
            <a:r>
              <a:rPr b="1" sz="1050">
                <a:solidFill>
                  <a:srgbClr val="94A3B8"/>
                </a:solidFill>
              </a:rPr>
              <a:t> → </a:t>
            </a:r>
            <a:r>
              <a:rPr b="1" sz="1050">
                <a:solidFill>
                  <a:srgbClr val="A78BFA"/>
                </a:solidFill>
              </a:rPr>
              <a:t>Parse</a:t>
            </a:r>
            <a:r>
              <a:rPr b="1" sz="1050">
                <a:solidFill>
                  <a:srgbClr val="94A3B8"/>
                </a:solidFill>
              </a:rPr>
              <a:t> → </a:t>
            </a:r>
            <a:r>
              <a:rPr b="1" sz="1050">
                <a:solidFill>
                  <a:srgbClr val="38BDF8"/>
                </a:solidFill>
              </a:rPr>
              <a:t>Normalize &amp; Clean</a:t>
            </a:r>
            <a:r>
              <a:rPr b="1" sz="1050">
                <a:solidFill>
                  <a:srgbClr val="94A3B8"/>
                </a:solidFill>
              </a:rPr>
              <a:t> → </a:t>
            </a:r>
            <a:r>
              <a:rPr b="1" sz="1050">
                <a:solidFill>
                  <a:srgbClr val="FBBF24"/>
                </a:solidFill>
              </a:rPr>
              <a:t>Deduplicate (SHA-256)</a:t>
            </a:r>
            <a:r>
              <a:rPr b="1" sz="1050">
                <a:solidFill>
                  <a:srgbClr val="94A3B8"/>
                </a:solidFill>
              </a:rPr>
              <a:t> → </a:t>
            </a:r>
            <a:r>
              <a:rPr b="1" sz="1050">
                <a:solidFill>
                  <a:srgbClr val="F43F5E"/>
                </a:solidFill>
              </a:rPr>
              <a:t>Quality Gate</a:t>
            </a:r>
            <a:r>
              <a:rPr b="1" sz="1050">
                <a:solidFill>
                  <a:srgbClr val="94A3B8"/>
                </a:solidFill>
              </a:rPr>
              <a:t> → </a:t>
            </a:r>
            <a:r>
              <a:rPr b="1" sz="1050">
                <a:solidFill>
                  <a:srgbClr val="34D399"/>
                </a:solidFill>
              </a:rPr>
              <a:t>Structure Chunking</a:t>
            </a:r>
            <a:r>
              <a:rPr b="1" sz="1050">
                <a:solidFill>
                  <a:srgbClr val="94A3B8"/>
                </a:solidFill>
              </a:rPr>
              <a:t> → </a:t>
            </a:r>
            <a:r>
              <a:rPr b="1" sz="1050">
                <a:solidFill>
                  <a:srgbClr val="38BDF8"/>
                </a:solidFill>
              </a:rPr>
              <a:t>Vector &amp; Graph Embed</a:t>
            </a:r>
          </a:p>
        </p:txBody>
      </p:sp>
      <p:sp>
        <p:nvSpPr>
          <p:cNvPr id="7" name="Rounded Rectangle 6"/>
          <p:cNvSpPr/>
          <p:nvPr/>
        </p:nvSpPr>
        <p:spPr>
          <a:xfrm>
            <a:off x="731520" y="2468880"/>
            <a:ext cx="3364992" cy="3749039"/>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38BDF8"/>
                </a:solidFill>
              </a:defRPr>
            </a:pPr>
            <a:r>
              <a:t>1. Multi-Format Parsers</a:t>
            </a:r>
          </a:p>
          <a:p>
            <a:pPr>
              <a:spcAft>
                <a:spcPts val="600"/>
              </a:spcAft>
            </a:pPr>
            <a:r>
              <a:rPr b="1" sz="1000">
                <a:solidFill>
                  <a:srgbClr val="F8FAFC"/>
                </a:solidFill>
              </a:rPr>
              <a:t>• Thư viện cốt lõi:</a:t>
            </a:r>
            <a:r>
              <a:rPr sz="950">
                <a:solidFill>
                  <a:srgbClr val="94A3B8"/>
                </a:solidFill>
              </a:rPr>
              <a:t> Tích hợp @firecrawl/anydoc xử lý đa dạng định dạng: PDF, DOCX, XLSX, PPTX, HTML, Markdown (file ≤ 25MB).</a:t>
            </a:r>
          </a:p>
          <a:p>
            <a:pPr>
              <a:spcAft>
                <a:spcPts val="600"/>
              </a:spcAft>
            </a:pPr>
            <a:r>
              <a:rPr b="1" sz="1000">
                <a:solidFill>
                  <a:srgbClr val="F8FAFC"/>
                </a:solidFill>
              </a:rPr>
              <a:t>• Tái tạo Bảng biểu:</a:t>
            </a:r>
            <a:r>
              <a:rPr sz="950">
                <a:solidFill>
                  <a:srgbClr val="94A3B8"/>
                </a:solidFill>
              </a:rPr>
              <a:t> Trích xuất cấu trúc bảng trong DOCX/XLSX/PPTX sang định dạng chuẩn GitHub Flavored Markdown (GFM).</a:t>
            </a:r>
          </a:p>
          <a:p>
            <a:pPr>
              <a:spcAft>
                <a:spcPts val="600"/>
              </a:spcAft>
            </a:pPr>
            <a:r>
              <a:rPr b="1" sz="1000">
                <a:solidFill>
                  <a:srgbClr val="F8FAFC"/>
                </a:solidFill>
              </a:rPr>
              <a:t>• OCR Fallback:</a:t>
            </a:r>
            <a:r>
              <a:rPr sz="950">
                <a:solidFill>
                  <a:srgbClr val="94A3B8"/>
                </a:solidFill>
              </a:rPr>
              <a:t> Tự động gắn nhãn NEEDS_OCR và kích hoạt OCR đối với tài liệu PDF dạng scan hoặc hình ảnh.</a:t>
            </a:r>
          </a:p>
          <a:p>
            <a:pPr>
              <a:spcAft>
                <a:spcPts val="600"/>
              </a:spcAft>
            </a:pPr>
            <a:r>
              <a:rPr b="1" sz="1000">
                <a:solidFill>
                  <a:srgbClr val="F8FAFC"/>
                </a:solidFill>
              </a:rPr>
              <a:t>• Chuẩn hóa văn bản:</a:t>
            </a:r>
            <a:r>
              <a:rPr sz="950">
                <a:solidFill>
                  <a:srgbClr val="94A3B8"/>
                </a:solidFill>
              </a:rPr>
              <a:t> DocumentNormalizer loại bỏ ký tự rác, whitespace thừa, fix mã hóa tiếng Việt.</a:t>
            </a:r>
          </a:p>
        </p:txBody>
      </p:sp>
      <p:sp>
        <p:nvSpPr>
          <p:cNvPr id="8" name="Rounded Rectangle 7"/>
          <p:cNvSpPr/>
          <p:nvPr/>
        </p:nvSpPr>
        <p:spPr>
          <a:xfrm>
            <a:off x="4412894" y="2468880"/>
            <a:ext cx="3364992" cy="3749039"/>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34D399"/>
                </a:solidFill>
              </a:defRPr>
            </a:pPr>
            <a:r>
              <a:t>2. Structure-Aware Chunking</a:t>
            </a:r>
          </a:p>
          <a:p>
            <a:pPr>
              <a:spcAft>
                <a:spcPts val="600"/>
              </a:spcAft>
            </a:pPr>
            <a:r>
              <a:rPr b="1" sz="1000">
                <a:solidFill>
                  <a:srgbClr val="F8FAFC"/>
                </a:solidFill>
              </a:rPr>
              <a:t>• Tôn trọng phân cấp Heading:</a:t>
            </a:r>
            <a:r>
              <a:rPr sz="950">
                <a:solidFill>
                  <a:srgbClr val="94A3B8"/>
                </a:solidFill>
              </a:rPr>
              <a:t> Nhận diện ngữ cảnh phân cấp H1 → H4, bảo đảm chunk giữ trọn vẹn context của phần/chương.</a:t>
            </a:r>
          </a:p>
          <a:p>
            <a:pPr>
              <a:spcAft>
                <a:spcPts val="600"/>
              </a:spcAft>
            </a:pPr>
            <a:r>
              <a:rPr b="1" sz="1000">
                <a:solidFill>
                  <a:srgbClr val="F8FAFC"/>
                </a:solidFill>
              </a:rPr>
              <a:t>• Bảo toàn Bảng biểu:</a:t>
            </a:r>
            <a:r>
              <a:rPr sz="950">
                <a:solidFill>
                  <a:srgbClr val="94A3B8"/>
                </a:solidFill>
              </a:rPr>
              <a:t> Thuật toán độc quyền giữ nguyên vẹn toàn bộ bảng ≤ 512 token trong 1 chunk duy nhất, tránh cắt rời header hay hàng dữ liệu.</a:t>
            </a:r>
          </a:p>
          <a:p>
            <a:pPr>
              <a:spcAft>
                <a:spcPts val="600"/>
              </a:spcAft>
            </a:pPr>
            <a:r>
              <a:rPr b="1" sz="1000">
                <a:solidFill>
                  <a:srgbClr val="F8FAFC"/>
                </a:solidFill>
              </a:rPr>
              <a:t>• Lọc chất lượng Chunk:</a:t>
            </a:r>
            <a:r>
              <a:rPr sz="950">
                <a:solidFill>
                  <a:srgbClr val="94A3B8"/>
                </a:solidFill>
              </a:rPr>
              <a:t> ChunkQualityService thẩm định mật độ từ ngữ, loại bỏ chunk vô nghĩa (&lt; 30 ký tự, lặp từ, rác mã hóa).</a:t>
            </a:r>
          </a:p>
          <a:p>
            <a:pPr>
              <a:spcAft>
                <a:spcPts val="600"/>
              </a:spcAft>
            </a:pPr>
            <a:r>
              <a:rPr b="1" sz="1000">
                <a:solidFill>
                  <a:srgbClr val="F8FAFC"/>
                </a:solidFill>
              </a:rPr>
              <a:t>• Chunker Factory:</a:t>
            </a:r>
            <a:r>
              <a:rPr sz="950">
                <a:solidFill>
                  <a:srgbClr val="94A3B8"/>
                </a:solidFill>
              </a:rPr>
              <a:t> Hỗ trợ chuyển đổi linh hoạt: Structure-Aware, Fixed-Size, hoặc Semantic Chunking.</a:t>
            </a:r>
          </a:p>
        </p:txBody>
      </p:sp>
      <p:sp>
        <p:nvSpPr>
          <p:cNvPr id="9" name="Rounded Rectangle 8"/>
          <p:cNvSpPr/>
          <p:nvPr/>
        </p:nvSpPr>
        <p:spPr>
          <a:xfrm>
            <a:off x="8095183" y="2468880"/>
            <a:ext cx="3364992" cy="3749039"/>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A78BFA"/>
                </a:solidFill>
              </a:defRPr>
            </a:pPr>
            <a:r>
              <a:t>3. Dual Indexing: Vector &amp; Graph</a:t>
            </a:r>
          </a:p>
          <a:p>
            <a:pPr>
              <a:spcAft>
                <a:spcPts val="600"/>
              </a:spcAft>
            </a:pPr>
            <a:r>
              <a:rPr b="1" sz="1000">
                <a:solidFill>
                  <a:srgbClr val="F8FAFC"/>
                </a:solidFill>
              </a:rPr>
              <a:t>• Dense Vector Indexing:</a:t>
            </a:r>
            <a:r>
              <a:rPr sz="950">
                <a:solidFill>
                  <a:srgbClr val="94A3B8"/>
                </a:solidFill>
              </a:rPr>
              <a:t> Đa provider embedding (mặc định multilingual-e5-large 1024 chiều), xử lý tiền tố tự động ('passage: ').</a:t>
            </a:r>
          </a:p>
          <a:p>
            <a:pPr>
              <a:spcAft>
                <a:spcPts val="600"/>
              </a:spcAft>
            </a:pPr>
            <a:r>
              <a:rPr b="1" sz="1000">
                <a:solidFill>
                  <a:srgbClr val="F8FAFC"/>
                </a:solidFill>
              </a:rPr>
              <a:t>• pgvector HNSW:</a:t>
            </a:r>
            <a:r>
              <a:rPr sz="950">
                <a:solidFill>
                  <a:srgbClr val="94A3B8"/>
                </a:solidFill>
              </a:rPr>
              <a:t> Lưu trữ trên PostgreSQL 16 với chỉ mục HNSW cosine distance, tối ưu hóa tốc độ tìm kiếm láng giềng gần nhất.</a:t>
            </a:r>
          </a:p>
          <a:p>
            <a:pPr>
              <a:spcAft>
                <a:spcPts val="600"/>
              </a:spcAft>
            </a:pPr>
            <a:r>
              <a:rPr b="1" sz="1000">
                <a:solidFill>
                  <a:srgbClr val="F8FAFC"/>
                </a:solidFill>
              </a:rPr>
              <a:t>• Knowledge Graph Indexing:</a:t>
            </a:r>
            <a:r>
              <a:rPr sz="950">
                <a:solidFill>
                  <a:srgbClr val="94A3B8"/>
                </a:solidFill>
              </a:rPr>
              <a:t> RagGraphModule trích xuất thực thể (Entity) &amp; quan hệ (Relation) lưu vào Neo4j 5.</a:t>
            </a:r>
          </a:p>
          <a:p>
            <a:pPr>
              <a:spcAft>
                <a:spcPts val="600"/>
              </a:spcAft>
            </a:pPr>
            <a:r>
              <a:rPr b="1" sz="1000">
                <a:solidFill>
                  <a:srgbClr val="F8FAFC"/>
                </a:solidFill>
              </a:rPr>
              <a:t>• Khả năng phục hồi (Resilience):</a:t>
            </a:r>
            <a:r>
              <a:rPr sz="950">
                <a:solidFill>
                  <a:srgbClr val="94A3B8"/>
                </a:solidFill>
              </a:rPr>
              <a:t> BullMQ tự động retry 3 lần với exponential backoff; chống trùng lặp theo hash SHA-256.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38BDF8"/>
                </a:solidFill>
              </a:defRPr>
            </a:pPr>
            <a:r>
              <a:t>SLIDE 3/5  •  TỐI ƯU HÓA TRUY VẤN VÀ NGỮ CẢNH</a:t>
            </a:r>
          </a:p>
          <a:p>
            <a:pPr>
              <a:spcBef>
                <a:spcPts val="300"/>
              </a:spcBef>
              <a:defRPr sz="2000" b="1">
                <a:solidFill>
                  <a:srgbClr val="F8FAFC"/>
                </a:solidFill>
              </a:defRPr>
            </a:pPr>
            <a:r>
              <a:t>Multi-Strategy Retrieval &amp; Context Engineering</a:t>
            </a:r>
          </a:p>
        </p:txBody>
      </p:sp>
      <p:sp>
        <p:nvSpPr>
          <p:cNvPr id="4" name="Rectangle 3"/>
          <p:cNvSpPr/>
          <p:nvPr/>
        </p:nvSpPr>
        <p:spPr>
          <a:xfrm>
            <a:off x="731520" y="1234440"/>
            <a:ext cx="10728655" cy="18288"/>
          </a:xfrm>
          <a:prstGeom prst="rect">
            <a:avLst/>
          </a:prstGeom>
          <a:solidFill>
            <a:srgbClr val="2D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94A3B8"/>
                </a:solidFill>
              </a:defRPr>
            </a:pPr>
            <a:r>
              <a:t>RAG Reliability Service &amp; Agent Reliability Platform  |  NestJS 11 • pgvector • BullMQ • Neo4j • LangGraph • MCP</a:t>
            </a:r>
          </a:p>
        </p:txBody>
      </p:sp>
      <p:sp>
        <p:nvSpPr>
          <p:cNvPr id="6" name="Rounded Rectangle 5"/>
          <p:cNvSpPr/>
          <p:nvPr/>
        </p:nvSpPr>
        <p:spPr>
          <a:xfrm>
            <a:off x="731520" y="1417320"/>
            <a:ext cx="2514600" cy="292608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38BDF8"/>
                </a:solidFill>
              </a:defRPr>
            </a:pPr>
            <a:r>
              <a:t>1. Vector Search</a:t>
            </a:r>
          </a:p>
          <a:p>
            <a:pPr>
              <a:spcAft>
                <a:spcPts val="600"/>
              </a:spcAft>
              <a:defRPr sz="950" b="1">
                <a:solidFill>
                  <a:srgbClr val="F8FAFC"/>
                </a:solidFill>
              </a:defRPr>
            </a:pPr>
            <a:r>
              <a:t>HNSW Cosine Similarity</a:t>
            </a:r>
          </a:p>
          <a:p>
            <a:pPr>
              <a:spcAft>
                <a:spcPts val="400"/>
              </a:spcAft>
              <a:defRPr sz="900">
                <a:solidFill>
                  <a:srgbClr val="94A3B8"/>
                </a:solidFill>
              </a:defRPr>
            </a:pPr>
            <a:r>
              <a:t>• Truy vấn ngữ nghĩa sâu trên pgvector.</a:t>
            </a:r>
          </a:p>
          <a:p>
            <a:pPr>
              <a:spcAft>
                <a:spcPts val="400"/>
              </a:spcAft>
              <a:defRPr sz="900">
                <a:solidFill>
                  <a:srgbClr val="94A3B8"/>
                </a:solidFill>
              </a:defRPr>
            </a:pPr>
            <a:r>
              <a:t>• Tự động thêm tiền tố 'query: ' cho mô hình E5.</a:t>
            </a:r>
          </a:p>
          <a:p>
            <a:pPr>
              <a:spcAft>
                <a:spcPts val="400"/>
              </a:spcAft>
              <a:defRPr sz="900">
                <a:solidFill>
                  <a:srgbClr val="94A3B8"/>
                </a:solidFill>
              </a:defRPr>
            </a:pPr>
            <a:r>
              <a:t>• Phù hợp cho câu hỏi diễn giải (paraphrase) và khác biệt từ khóa.</a:t>
            </a:r>
          </a:p>
        </p:txBody>
      </p:sp>
      <p:sp>
        <p:nvSpPr>
          <p:cNvPr id="7" name="Rounded Rectangle 6"/>
          <p:cNvSpPr/>
          <p:nvPr/>
        </p:nvSpPr>
        <p:spPr>
          <a:xfrm>
            <a:off x="3469233" y="1417320"/>
            <a:ext cx="2514600" cy="292608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34D399"/>
                </a:solidFill>
              </a:defRPr>
            </a:pPr>
            <a:r>
              <a:t>2. Keyword Search</a:t>
            </a:r>
          </a:p>
          <a:p>
            <a:pPr>
              <a:spcAft>
                <a:spcPts val="600"/>
              </a:spcAft>
              <a:defRPr sz="950" b="1">
                <a:solidFill>
                  <a:srgbClr val="F8FAFC"/>
                </a:solidFill>
              </a:defRPr>
            </a:pPr>
            <a:r>
              <a:t>PostgreSQL Full-Text</a:t>
            </a:r>
          </a:p>
          <a:p>
            <a:pPr>
              <a:spcAft>
                <a:spcPts val="400"/>
              </a:spcAft>
              <a:defRPr sz="900">
                <a:solidFill>
                  <a:srgbClr val="94A3B8"/>
                </a:solidFill>
              </a:defRPr>
            </a:pPr>
            <a:r>
              <a:t>• Phân tích cú pháp tsvector &amp; tsquery.</a:t>
            </a:r>
          </a:p>
          <a:p>
            <a:pPr>
              <a:spcAft>
                <a:spcPts val="400"/>
              </a:spcAft>
              <a:defRPr sz="900">
                <a:solidFill>
                  <a:srgbClr val="94A3B8"/>
                </a:solidFill>
              </a:defRPr>
            </a:pPr>
            <a:r>
              <a:t>• Hỗ trợ cả từ khóa tiếng Việt và thuật ngữ kỹ thuật.</a:t>
            </a:r>
          </a:p>
          <a:p>
            <a:pPr>
              <a:spcAft>
                <a:spcPts val="400"/>
              </a:spcAft>
              <a:defRPr sz="900">
                <a:solidFill>
                  <a:srgbClr val="94A3B8"/>
                </a:solidFill>
              </a:defRPr>
            </a:pPr>
            <a:r>
              <a:t>• Bắt chính xác mã quy chế, số hiệu, model, port, IP.</a:t>
            </a:r>
          </a:p>
        </p:txBody>
      </p:sp>
      <p:sp>
        <p:nvSpPr>
          <p:cNvPr id="8" name="Rounded Rectangle 7"/>
          <p:cNvSpPr/>
          <p:nvPr/>
        </p:nvSpPr>
        <p:spPr>
          <a:xfrm>
            <a:off x="6206946" y="1417320"/>
            <a:ext cx="2514600" cy="292608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A78BFA"/>
                </a:solidFill>
              </a:defRPr>
            </a:pPr>
            <a:r>
              <a:t>3. Graph Retrieval</a:t>
            </a:r>
          </a:p>
          <a:p>
            <a:pPr>
              <a:spcAft>
                <a:spcPts val="600"/>
              </a:spcAft>
              <a:defRPr sz="950" b="1">
                <a:solidFill>
                  <a:srgbClr val="F8FAFC"/>
                </a:solidFill>
              </a:defRPr>
            </a:pPr>
            <a:r>
              <a:t>Neo4j Cypher Traversal</a:t>
            </a:r>
          </a:p>
          <a:p>
            <a:pPr>
              <a:spcAft>
                <a:spcPts val="400"/>
              </a:spcAft>
              <a:defRPr sz="900">
                <a:solidFill>
                  <a:srgbClr val="94A3B8"/>
                </a:solidFill>
              </a:defRPr>
            </a:pPr>
            <a:r>
              <a:t>• Link thực thể liên quan qua GraphEntityLinker.</a:t>
            </a:r>
          </a:p>
          <a:p>
            <a:pPr>
              <a:spcAft>
                <a:spcPts val="400"/>
              </a:spcAft>
              <a:defRPr sz="900">
                <a:solidFill>
                  <a:srgbClr val="94A3B8"/>
                </a:solidFill>
              </a:defRPr>
            </a:pPr>
            <a:r>
              <a:t>• Duyệt quan hệ đồ thị giữa nhiều văn bản khác nhau.</a:t>
            </a:r>
          </a:p>
          <a:p>
            <a:pPr>
              <a:spcAft>
                <a:spcPts val="400"/>
              </a:spcAft>
              <a:defRPr sz="900">
                <a:solidFill>
                  <a:srgbClr val="94A3B8"/>
                </a:solidFill>
              </a:defRPr>
            </a:pPr>
            <a:r>
              <a:t>• Giải quyết các câu hỏi suy luận đa chặng (multi-hop reasoning).</a:t>
            </a:r>
          </a:p>
        </p:txBody>
      </p:sp>
      <p:sp>
        <p:nvSpPr>
          <p:cNvPr id="9" name="Rounded Rectangle 8"/>
          <p:cNvSpPr/>
          <p:nvPr/>
        </p:nvSpPr>
        <p:spPr>
          <a:xfrm>
            <a:off x="8944659" y="1417320"/>
            <a:ext cx="2514600" cy="292608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FBBF24"/>
                </a:solidFill>
              </a:defRPr>
            </a:pPr>
            <a:r>
              <a:t>4. Hybrid Fusion</a:t>
            </a:r>
          </a:p>
          <a:p>
            <a:pPr>
              <a:spcAft>
                <a:spcPts val="600"/>
              </a:spcAft>
              <a:defRPr sz="950" b="1">
                <a:solidFill>
                  <a:srgbClr val="F8FAFC"/>
                </a:solidFill>
              </a:defRPr>
            </a:pPr>
            <a:r>
              <a:t>RRF &amp; Weighted Score</a:t>
            </a:r>
          </a:p>
          <a:p>
            <a:pPr>
              <a:spcAft>
                <a:spcPts val="400"/>
              </a:spcAft>
              <a:defRPr sz="900">
                <a:solidFill>
                  <a:srgbClr val="94A3B8"/>
                </a:solidFill>
              </a:defRPr>
            </a:pPr>
            <a:r>
              <a:t>• Hợp nhất Vector + Keyword/Graph bằng Reciprocal Rank Fusion (RRF).</a:t>
            </a:r>
          </a:p>
          <a:p>
            <a:pPr>
              <a:spcAft>
                <a:spcPts val="400"/>
              </a:spcAft>
              <a:defRPr sz="900">
                <a:solidFill>
                  <a:srgbClr val="94A3B8"/>
                </a:solidFill>
              </a:defRPr>
            </a:pPr>
            <a:r>
              <a:t>• Cân bằng giữa hiểu ngữ nghĩa và độ chính xác từ khóa.</a:t>
            </a:r>
          </a:p>
          <a:p>
            <a:pPr>
              <a:spcAft>
                <a:spcPts val="400"/>
              </a:spcAft>
              <a:defRPr sz="900">
                <a:solidFill>
                  <a:srgbClr val="94A3B8"/>
                </a:solidFill>
              </a:defRPr>
            </a:pPr>
            <a:r>
              <a:t>• Mang lại Recall@5 vượt trội (0.991).</a:t>
            </a:r>
          </a:p>
        </p:txBody>
      </p:sp>
      <p:sp>
        <p:nvSpPr>
          <p:cNvPr id="10" name="Rounded Rectangle 9"/>
          <p:cNvSpPr/>
          <p:nvPr/>
        </p:nvSpPr>
        <p:spPr>
          <a:xfrm>
            <a:off x="731520" y="4480560"/>
            <a:ext cx="10728655" cy="173736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38BDF8"/>
                </a:solidFill>
              </a:defRPr>
            </a:pPr>
            <a:r>
              <a:t>Kỹ Nghệ Ngữ Cảnh &amp; Bộ Lọc Từ Chối (Context Engineering &amp; Abstain Gate)</a:t>
            </a:r>
          </a:p>
          <a:p>
            <a:pPr>
              <a:spcAft>
                <a:spcPts val="300"/>
              </a:spcAft>
            </a:pPr>
            <a:r>
              <a:rPr b="1" sz="1000">
                <a:solidFill>
                  <a:srgbClr val="FBBF24"/>
                </a:solidFill>
              </a:rPr>
              <a:t>▪ Cross-Encoder Re-ranking: </a:t>
            </a:r>
            <a:r>
              <a:rPr sz="950">
                <a:solidFill>
                  <a:srgbClr val="94A3B8"/>
                </a:solidFill>
              </a:rPr>
              <a:t> Tùy chọn rerank top ứng viên qua cross-encoder để loại bỏ chunk gây nhiễu trước khi nạp vào LLM prompt.</a:t>
            </a:r>
          </a:p>
          <a:p>
            <a:pPr>
              <a:spcAft>
                <a:spcPts val="300"/>
              </a:spcAft>
            </a:pPr>
            <a:r>
              <a:rPr b="1" sz="1000">
                <a:solidFill>
                  <a:srgbClr val="FBBF24"/>
                </a:solidFill>
              </a:rPr>
              <a:t>▪ Table Expansion: </a:t>
            </a:r>
            <a:r>
              <a:rPr sz="950">
                <a:solidFill>
                  <a:srgbClr val="94A3B8"/>
                </a:solidFill>
              </a:rPr>
              <a:t> Tự động mở rộng và ghép các dòng bảng biểu bị phân mảnh trong retrieval nhằm khôi phục toàn vẹn dữ liệu.</a:t>
            </a:r>
          </a:p>
          <a:p>
            <a:pPr>
              <a:spcAft>
                <a:spcPts val="300"/>
              </a:spcAft>
            </a:pPr>
            <a:r>
              <a:rPr b="1" sz="1000">
                <a:solidFill>
                  <a:srgbClr val="FBBF24"/>
                </a:solidFill>
              </a:rPr>
              <a:t>▪ Abstain Gate (ContextValidatorService): </a:t>
            </a:r>
            <a:r>
              <a:rPr sz="950">
                <a:solidFill>
                  <a:srgbClr val="94A3B8"/>
                </a:solidFill>
              </a:rPr>
              <a:t> Kiểm tra nhanh điểm tương đồng; nếu không có chunk nào đủ tin cậy → ngắt pipeline sớm và trả về INSUFFICIENT_EVIDENCE (0 token LLM).</a:t>
            </a:r>
          </a:p>
          <a:p>
            <a:pPr>
              <a:spcAft>
                <a:spcPts val="300"/>
              </a:spcAft>
            </a:pPr>
            <a:r>
              <a:rPr b="1" sz="1000">
                <a:solidFill>
                  <a:srgbClr val="FBBF24"/>
                </a:solidFill>
              </a:rPr>
              <a:t>▪ Fast Search Endpoint: </a:t>
            </a:r>
            <a:r>
              <a:rPr sz="950">
                <a:solidFill>
                  <a:srgbClr val="94A3B8"/>
                </a:solidFill>
              </a:rPr>
              <a:t> POST /rag/search cung cấp truy xuất retrieval thuần túy siêu tốc mà hoàn toàn không kích hoạt LLM.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38BDF8"/>
                </a:solidFill>
              </a:defRPr>
            </a:pPr>
            <a:r>
              <a:t>SLIDE 4/5  •  KIỂM CHỨNG ĐỘ TIN CẬY &amp; VÒNG LẶP AGENT</a:t>
            </a:r>
          </a:p>
          <a:p>
            <a:pPr>
              <a:spcBef>
                <a:spcPts val="300"/>
              </a:spcBef>
              <a:defRPr sz="2000" b="1">
                <a:solidFill>
                  <a:srgbClr val="F8FAFC"/>
                </a:solidFill>
              </a:defRPr>
            </a:pPr>
            <a:r>
              <a:t>Grounding Engine, Anti-Hallucination &amp; Agent Runtime</a:t>
            </a:r>
          </a:p>
        </p:txBody>
      </p:sp>
      <p:sp>
        <p:nvSpPr>
          <p:cNvPr id="4" name="Rectangle 3"/>
          <p:cNvSpPr/>
          <p:nvPr/>
        </p:nvSpPr>
        <p:spPr>
          <a:xfrm>
            <a:off x="731520" y="1234440"/>
            <a:ext cx="10728655" cy="18288"/>
          </a:xfrm>
          <a:prstGeom prst="rect">
            <a:avLst/>
          </a:prstGeom>
          <a:solidFill>
            <a:srgbClr val="2D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94A3B8"/>
                </a:solidFill>
              </a:defRPr>
            </a:pPr>
            <a:r>
              <a:t>RAG Reliability Service &amp; Agent Reliability Platform  |  NestJS 11 • pgvector • BullMQ • Neo4j • LangGraph • MCP</a:t>
            </a:r>
          </a:p>
        </p:txBody>
      </p:sp>
      <p:sp>
        <p:nvSpPr>
          <p:cNvPr id="6" name="Rounded Rectangle 5"/>
          <p:cNvSpPr/>
          <p:nvPr/>
        </p:nvSpPr>
        <p:spPr>
          <a:xfrm>
            <a:off x="731520" y="1417320"/>
            <a:ext cx="5212080" cy="3749039"/>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F43F5E"/>
                </a:solidFill>
              </a:defRPr>
            </a:pPr>
            <a:r>
              <a:t>1. Grounding &amp; Anti-Hallucination Engine</a:t>
            </a:r>
          </a:p>
          <a:p>
            <a:pPr>
              <a:spcAft>
                <a:spcPts val="500"/>
              </a:spcAft>
            </a:pPr>
            <a:r>
              <a:rPr b="1" sz="1000">
                <a:solidFill>
                  <a:srgbClr val="F8FAFC"/>
                </a:solidFill>
              </a:rPr>
              <a:t>✔ Strict Structured Output: </a:t>
            </a:r>
            <a:r>
              <a:rPr sz="950">
                <a:solidFill>
                  <a:srgbClr val="94A3B8"/>
                </a:solidFill>
              </a:rPr>
              <a:t> LLM bắt buộc sinh JSON cấu trúc qua schema Zod (hỗ trợ fallback bóc tách ```json fence cho Qwen/GLM).</a:t>
            </a:r>
          </a:p>
          <a:p>
            <a:pPr>
              <a:spcAft>
                <a:spcPts val="500"/>
              </a:spcAft>
            </a:pPr>
            <a:r>
              <a:rPr b="1" sz="1000">
                <a:solidFill>
                  <a:srgbClr val="F8FAFC"/>
                </a:solidFill>
              </a:rPr>
              <a:t>✔ Atomic Claim Extraction: </a:t>
            </a:r>
            <a:r>
              <a:rPr sz="950">
                <a:solidFill>
                  <a:srgbClr val="94A3B8"/>
                </a:solidFill>
              </a:rPr>
              <a:t> ClaimExtractorService phân tích câu trả lời thành từng phát biểu nguyên tử độc lập.</a:t>
            </a:r>
          </a:p>
          <a:p>
            <a:pPr>
              <a:spcAft>
                <a:spcPts val="500"/>
              </a:spcAft>
            </a:pPr>
            <a:r>
              <a:rPr b="1" sz="1000">
                <a:solidFill>
                  <a:srgbClr val="F8FAFC"/>
                </a:solidFill>
              </a:rPr>
              <a:t>✔ Evidence Matching &amp; Citation: </a:t>
            </a:r>
            <a:r>
              <a:rPr sz="950">
                <a:solidFill>
                  <a:srgbClr val="94A3B8"/>
                </a:solidFill>
              </a:rPr>
              <a:t> EvidenceMatcherService đối chiếu từng claim với chunk nguồn; gắn trích dẫn chính xác (chunkId, page, heading).</a:t>
            </a:r>
          </a:p>
          <a:p>
            <a:pPr>
              <a:spcAft>
                <a:spcPts val="500"/>
              </a:spcAft>
            </a:pPr>
            <a:r>
              <a:rPr b="1" sz="1000">
                <a:solidFill>
                  <a:srgbClr val="F8FAFC"/>
                </a:solidFill>
              </a:rPr>
              <a:t>✔ NLI Faithfulness Verifier: </a:t>
            </a:r>
            <a:r>
              <a:rPr sz="950">
                <a:solidFill>
                  <a:srgbClr val="94A3B8"/>
                </a:solidFill>
              </a:rPr>
              <a:t> Mô hình Natural Language Inference phân loại tính trung thực: ENTAILED (đúng), CONTRADICTION (mâu thuẫn), NEUTRAL.</a:t>
            </a:r>
          </a:p>
          <a:p>
            <a:pPr>
              <a:spcAft>
                <a:spcPts val="500"/>
              </a:spcAft>
            </a:pPr>
            <a:r>
              <a:rPr b="1" sz="1000">
                <a:solidFill>
                  <a:srgbClr val="F8FAFC"/>
                </a:solidFill>
              </a:rPr>
              <a:t>✔ Numeric-Provenance: </a:t>
            </a:r>
            <a:r>
              <a:rPr sz="950">
                <a:solidFill>
                  <a:srgbClr val="94A3B8"/>
                </a:solidFill>
              </a:rPr>
              <a:t> Kiểm chứng bảo toàn 100% số liệu (tiền tệ, ngày tháng, phần trăm, phiên bản); cấm tuyệt đối sinh số liệu mới.</a:t>
            </a:r>
          </a:p>
        </p:txBody>
      </p:sp>
      <p:sp>
        <p:nvSpPr>
          <p:cNvPr id="7" name="Rounded Rectangle 6"/>
          <p:cNvSpPr/>
          <p:nvPr/>
        </p:nvSpPr>
        <p:spPr>
          <a:xfrm>
            <a:off x="6248095" y="1417320"/>
            <a:ext cx="5212080" cy="3749039"/>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A78BFA"/>
                </a:solidFill>
              </a:defRPr>
            </a:pPr>
            <a:r>
              <a:t>2. Agent Runtime &amp; Reliability Controls</a:t>
            </a:r>
          </a:p>
          <a:p>
            <a:pPr>
              <a:spcAft>
                <a:spcPts val="500"/>
              </a:spcAft>
            </a:pPr>
            <a:r>
              <a:rPr b="1" sz="1000">
                <a:solidFill>
                  <a:srgbClr val="F8FAFC"/>
                </a:solidFill>
              </a:rPr>
              <a:t>❖ LangGraph StateGraph: </a:t>
            </a:r>
            <a:r>
              <a:rPr sz="950">
                <a:solidFill>
                  <a:srgbClr val="94A3B8"/>
                </a:solidFill>
              </a:rPr>
              <a:t> Vòng lặp Agent ⇄ Tool ⇄ Finalize rõ ràng, xử lý native tool-calling và fallback structured output.</a:t>
            </a:r>
          </a:p>
          <a:p>
            <a:pPr>
              <a:spcAft>
                <a:spcPts val="500"/>
              </a:spcAft>
            </a:pPr>
            <a:r>
              <a:rPr b="1" sz="1000">
                <a:solidFill>
                  <a:srgbClr val="F8FAFC"/>
                </a:solidFill>
              </a:rPr>
              <a:t>❖ Tool Registry Đa Provider: </a:t>
            </a:r>
            <a:r>
              <a:rPr sz="950">
                <a:solidFill>
                  <a:srgbClr val="94A3B8"/>
                </a:solidFill>
              </a:rPr>
              <a:t> Quản lý LocalToolProvider (rag.search, calculator, current_time) và MCPToolProvider qua stdio/SSE/HTTP.</a:t>
            </a:r>
          </a:p>
          <a:p>
            <a:pPr>
              <a:spcAft>
                <a:spcPts val="500"/>
              </a:spcAft>
            </a:pPr>
            <a:r>
              <a:rPr b="1" sz="1000">
                <a:solidFill>
                  <a:srgbClr val="F8FAFC"/>
                </a:solidFill>
              </a:rPr>
              <a:t>❖ Hạ tầng Circuit Breakers: </a:t>
            </a:r>
            <a:r>
              <a:rPr sz="950">
                <a:solidFill>
                  <a:srgbClr val="94A3B8"/>
                </a:solidFill>
              </a:rPr>
              <a:t> Budget Guard chặn vượt max steps, token budget, hoặc cost USD; Loop Detector phát hiện lặp tool call.</a:t>
            </a:r>
          </a:p>
          <a:p>
            <a:pPr>
              <a:spcAft>
                <a:spcPts val="500"/>
              </a:spcAft>
            </a:pPr>
            <a:r>
              <a:rPr b="1" sz="1000">
                <a:solidFill>
                  <a:srgbClr val="F8FAFC"/>
                </a:solidFill>
              </a:rPr>
              <a:t>❖ Risk Gate: </a:t>
            </a:r>
            <a:r>
              <a:rPr sz="950">
                <a:solidFill>
                  <a:srgbClr val="94A3B8"/>
                </a:solidFill>
              </a:rPr>
              <a:t> Tự động từ chối các công cụ phá hủy / nguy hiểm (riskLevel: high) bằng lỗi PERMISSION_DENIED.</a:t>
            </a:r>
          </a:p>
          <a:p>
            <a:pPr>
              <a:spcAft>
                <a:spcPts val="500"/>
              </a:spcAft>
            </a:pPr>
            <a:r>
              <a:rPr b="1" sz="1000">
                <a:solidFill>
                  <a:srgbClr val="F8FAFC"/>
                </a:solidFill>
              </a:rPr>
              <a:t>❖ Finalize Verification: </a:t>
            </a:r>
            <a:r>
              <a:rPr sz="950">
                <a:solidFill>
                  <a:srgbClr val="94A3B8"/>
                </a:solidFill>
              </a:rPr>
              <a:t> Node Finalize gom toàn bộ evidence từ các tool calls và chạy qua Grounding Engine trước khi trả kết quả.</a:t>
            </a:r>
          </a:p>
        </p:txBody>
      </p:sp>
      <p:sp>
        <p:nvSpPr>
          <p:cNvPr id="8" name="Rounded Rectangle 7"/>
          <p:cNvSpPr/>
          <p:nvPr/>
        </p:nvSpPr>
        <p:spPr>
          <a:xfrm>
            <a:off x="731520" y="5303520"/>
            <a:ext cx="10728655" cy="91440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FBBF24"/>
                </a:solidFill>
              </a:defRPr>
            </a:pPr>
            <a:r>
              <a:t>RagStatus: Taxonomy Trạng Thái Minh Bạch Cho API &amp; Client</a:t>
            </a:r>
          </a:p>
          <a:p>
            <a:pPr>
              <a:spcBef>
                <a:spcPts val="200"/>
              </a:spcBef>
            </a:pPr>
            <a:r>
              <a:rPr b="1" sz="950">
                <a:solidFill>
                  <a:srgbClr val="34D399"/>
                </a:solidFill>
              </a:rPr>
              <a:t> [GROUNDED] </a:t>
            </a:r>
            <a:r>
              <a:rPr sz="900">
                <a:solidFill>
                  <a:srgbClr val="94A3B8"/>
                </a:solidFill>
              </a:rPr>
              <a:t>(Đầy đủ bằng chứng)   </a:t>
            </a:r>
            <a:r>
              <a:rPr b="1" sz="950">
                <a:solidFill>
                  <a:srgbClr val="FBBF24"/>
                </a:solidFill>
              </a:rPr>
              <a:t> [PARTIALLY_GROUNDED] </a:t>
            </a:r>
            <a:r>
              <a:rPr sz="900">
                <a:solidFill>
                  <a:srgbClr val="94A3B8"/>
                </a:solidFill>
              </a:rPr>
              <a:t>(Được chứng minh 1 phần)   </a:t>
            </a:r>
            <a:r>
              <a:rPr b="1" sz="950">
                <a:solidFill>
                  <a:srgbClr val="38BDF8"/>
                </a:solidFill>
              </a:rPr>
              <a:t> [INSUFFICIENT_EVIDENCE] </a:t>
            </a:r>
            <a:r>
              <a:rPr sz="900">
                <a:solidFill>
                  <a:srgbClr val="94A3B8"/>
                </a:solidFill>
              </a:rPr>
              <a:t>(Từ chối vì thiếu bằng chứng)   </a:t>
            </a:r>
            <a:r>
              <a:rPr b="1" sz="950">
                <a:solidFill>
                  <a:srgbClr val="F43F5E"/>
                </a:solidFill>
              </a:rPr>
              <a:t> [CONFLICTING_EVIDENCE] </a:t>
            </a:r>
            <a:r>
              <a:rPr sz="900">
                <a:solidFill>
                  <a:srgbClr val="94A3B8"/>
                </a:solidFill>
              </a:rPr>
              <a:t>(Phát hiện tài liệu mâu thuẫn)   </a:t>
            </a:r>
            <a:r>
              <a:rPr b="1" sz="950">
                <a:solidFill>
                  <a:srgbClr val="94A3B8"/>
                </a:solidFill>
              </a:rPr>
              <a:t> [ERROR] </a:t>
            </a:r>
            <a:r>
              <a:rPr sz="900">
                <a:solidFill>
                  <a:srgbClr val="94A3B8"/>
                </a:solidFill>
              </a:rPr>
              <a:t>(Lỗi hạ tầng (vẫn giữ HTTP 200))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38BDF8"/>
                </a:solidFill>
              </a:defRPr>
            </a:pPr>
            <a:r>
              <a:t>SLIDE 5/5  •  ĐO LƯỜNG VÀ KIỂM CHỨNG PRODUCTION</a:t>
            </a:r>
          </a:p>
          <a:p>
            <a:pPr>
              <a:spcBef>
                <a:spcPts val="300"/>
              </a:spcBef>
              <a:defRPr sz="2000" b="1">
                <a:solidFill>
                  <a:srgbClr val="F8FAFC"/>
                </a:solidFill>
              </a:defRPr>
            </a:pPr>
            <a:r>
              <a:t>Observability, Evaluation Framework &amp; Số Liệu Thực Đo</a:t>
            </a:r>
          </a:p>
        </p:txBody>
      </p:sp>
      <p:sp>
        <p:nvSpPr>
          <p:cNvPr id="4" name="Rectangle 3"/>
          <p:cNvSpPr/>
          <p:nvPr/>
        </p:nvSpPr>
        <p:spPr>
          <a:xfrm>
            <a:off x="731520" y="1234440"/>
            <a:ext cx="10728655" cy="18288"/>
          </a:xfrm>
          <a:prstGeom prst="rect">
            <a:avLst/>
          </a:prstGeom>
          <a:solidFill>
            <a:srgbClr val="2D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400800"/>
            <a:ext cx="10728655"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900">
                <a:solidFill>
                  <a:srgbClr val="94A3B8"/>
                </a:solidFill>
              </a:defRPr>
            </a:pPr>
            <a:r>
              <a:t>RAG Reliability Service &amp; Agent Reliability Platform  |  NestJS 11 • pgvector • BullMQ • Neo4j • LangGraph • MCP</a:t>
            </a:r>
          </a:p>
        </p:txBody>
      </p:sp>
      <p:sp>
        <p:nvSpPr>
          <p:cNvPr id="6" name="Rounded Rectangle 5"/>
          <p:cNvSpPr/>
          <p:nvPr/>
        </p:nvSpPr>
        <p:spPr>
          <a:xfrm>
            <a:off x="731520" y="1417320"/>
            <a:ext cx="2514600" cy="146304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defRPr sz="2800" b="1">
                <a:solidFill>
                  <a:srgbClr val="34D399"/>
                </a:solidFill>
              </a:defRPr>
            </a:pPr>
            <a:r>
              <a:t>0.991</a:t>
            </a:r>
          </a:p>
          <a:p>
            <a:pPr algn="ctr">
              <a:defRPr sz="1100" b="1">
                <a:solidFill>
                  <a:srgbClr val="F8FAFC"/>
                </a:solidFill>
              </a:defRPr>
            </a:pPr>
            <a:r>
              <a:t>RAG Recall@5</a:t>
            </a:r>
          </a:p>
          <a:p>
            <a:pPr algn="ctr">
              <a:defRPr sz="850">
                <a:solidFill>
                  <a:srgbClr val="94A3B8"/>
                </a:solidFill>
              </a:defRPr>
            </a:pPr>
            <a:r>
              <a:t>Truy xuất chính xác tuyệt đối</a:t>
            </a:r>
          </a:p>
        </p:txBody>
      </p:sp>
      <p:sp>
        <p:nvSpPr>
          <p:cNvPr id="7" name="Rounded Rectangle 6"/>
          <p:cNvSpPr/>
          <p:nvPr/>
        </p:nvSpPr>
        <p:spPr>
          <a:xfrm>
            <a:off x="3469233" y="1417320"/>
            <a:ext cx="2514600" cy="146304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defRPr sz="2800" b="1">
                <a:solidFill>
                  <a:srgbClr val="38BDF8"/>
                </a:solidFill>
              </a:defRPr>
            </a:pPr>
            <a:r>
              <a:t>0.983</a:t>
            </a:r>
          </a:p>
          <a:p>
            <a:pPr algn="ctr">
              <a:defRPr sz="1100" b="1">
                <a:solidFill>
                  <a:srgbClr val="F8FAFC"/>
                </a:solidFill>
              </a:defRPr>
            </a:pPr>
            <a:r>
              <a:t>RAG Faithfulness</a:t>
            </a:r>
          </a:p>
          <a:p>
            <a:pPr algn="ctr">
              <a:defRPr sz="850">
                <a:solidFill>
                  <a:srgbClr val="94A3B8"/>
                </a:solidFill>
              </a:defRPr>
            </a:pPr>
            <a:r>
              <a:t>Mức độ trung thực với dữ liệu</a:t>
            </a:r>
          </a:p>
        </p:txBody>
      </p:sp>
      <p:sp>
        <p:nvSpPr>
          <p:cNvPr id="8" name="Rounded Rectangle 7"/>
          <p:cNvSpPr/>
          <p:nvPr/>
        </p:nvSpPr>
        <p:spPr>
          <a:xfrm>
            <a:off x="6206946" y="1417320"/>
            <a:ext cx="2514600" cy="146304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defRPr sz="2800" b="1">
                <a:solidFill>
                  <a:srgbClr val="A78BFA"/>
                </a:solidFill>
              </a:defRPr>
            </a:pPr>
            <a:r>
              <a:t>100%</a:t>
            </a:r>
          </a:p>
          <a:p>
            <a:pPr algn="ctr">
              <a:defRPr sz="1100" b="1">
                <a:solidFill>
                  <a:srgbClr val="F8FAFC"/>
                </a:solidFill>
              </a:defRPr>
            </a:pPr>
            <a:r>
              <a:t>Abstention Accuracy</a:t>
            </a:r>
          </a:p>
          <a:p>
            <a:pPr algn="ctr">
              <a:defRPr sz="850">
                <a:solidFill>
                  <a:srgbClr val="94A3B8"/>
                </a:solidFill>
              </a:defRPr>
            </a:pPr>
            <a:r>
              <a:t>Từ chối đúng khi thiếu tài liệu</a:t>
            </a:r>
          </a:p>
        </p:txBody>
      </p:sp>
      <p:sp>
        <p:nvSpPr>
          <p:cNvPr id="9" name="Rounded Rectangle 8"/>
          <p:cNvSpPr/>
          <p:nvPr/>
        </p:nvSpPr>
        <p:spPr>
          <a:xfrm>
            <a:off x="8944659" y="1417320"/>
            <a:ext cx="2514600" cy="146304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defRPr sz="2800" b="1">
                <a:solidFill>
                  <a:srgbClr val="F43F5E"/>
                </a:solidFill>
              </a:defRPr>
            </a:pPr>
            <a:r>
              <a:t>1.8%</a:t>
            </a:r>
          </a:p>
          <a:p>
            <a:pPr algn="ctr">
              <a:defRPr sz="1100" b="1">
                <a:solidFill>
                  <a:srgbClr val="F8FAFC"/>
                </a:solidFill>
              </a:defRPr>
            </a:pPr>
            <a:r>
              <a:t>Hallucination Rate</a:t>
            </a:r>
          </a:p>
          <a:p>
            <a:pPr algn="ctr">
              <a:defRPr sz="850">
                <a:solidFill>
                  <a:srgbClr val="94A3B8"/>
                </a:solidFill>
              </a:defRPr>
            </a:pPr>
            <a:r>
              <a:t>Tỷ lệ ảo giác cực thấp</a:t>
            </a:r>
          </a:p>
        </p:txBody>
      </p:sp>
      <p:sp>
        <p:nvSpPr>
          <p:cNvPr id="10" name="Rounded Rectangle 9"/>
          <p:cNvSpPr/>
          <p:nvPr/>
        </p:nvSpPr>
        <p:spPr>
          <a:xfrm>
            <a:off x="731520" y="3017520"/>
            <a:ext cx="5212080" cy="219456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38BDF8"/>
                </a:solidFill>
              </a:defRPr>
            </a:pPr>
            <a:r>
              <a:t>RAG Golden Dataset Phân Tầng Lỗi (210 Cases)</a:t>
            </a:r>
          </a:p>
          <a:p>
            <a:pPr>
              <a:spcAft>
                <a:spcPts val="400"/>
              </a:spcAft>
            </a:pPr>
            <a:r>
              <a:rPr b="1" sz="950">
                <a:solidFill>
                  <a:srgbClr val="F8FAFC"/>
                </a:solidFill>
              </a:rPr>
              <a:t>• Bộ dữ liệu 13 file chuyên biệt: </a:t>
            </a:r>
            <a:r>
              <a:rPr sz="900">
                <a:solidFill>
                  <a:srgbClr val="94A3B8"/>
                </a:solidFill>
              </a:rPr>
              <a:t> Thiết kế để bóc tách lỗi theo từng tầng (embedding, retrieval, rerank, generation, NLI).</a:t>
            </a:r>
          </a:p>
          <a:p>
            <a:pPr>
              <a:spcAft>
                <a:spcPts val="400"/>
              </a:spcAft>
            </a:pPr>
            <a:r>
              <a:rPr b="1" sz="950">
                <a:solidFill>
                  <a:srgbClr val="F8FAFC"/>
                </a:solidFill>
              </a:rPr>
              <a:t>• Đa dạng kịch bản phức tạp: </a:t>
            </a:r>
            <a:r>
              <a:rPr sz="900">
                <a:solidFill>
                  <a:srgbClr val="94A3B8"/>
                </a:solidFill>
              </a:rPr>
              <a:t> Gồm các nhóm: answerable (57), numerical (15), multi-hop (18), conflicting (6), adversarial (15), unanswerable (15), vietnamese-robustness (12).</a:t>
            </a:r>
          </a:p>
          <a:p>
            <a:pPr>
              <a:spcAft>
                <a:spcPts val="400"/>
              </a:spcAft>
            </a:pPr>
            <a:r>
              <a:rPr b="1" sz="950">
                <a:solidFill>
                  <a:srgbClr val="F8FAFC"/>
                </a:solidFill>
              </a:rPr>
              <a:t>• CI Quality Gate: </a:t>
            </a:r>
            <a:r>
              <a:rPr sz="900">
                <a:solidFill>
                  <a:srgbClr val="94A3B8"/>
                </a:solidFill>
              </a:rPr>
              <a:t> Lệnh `npm run evaluate` so sánh trực tiếp với baseline và tự động chặn merge nếu phát hiện regression.</a:t>
            </a:r>
          </a:p>
        </p:txBody>
      </p:sp>
      <p:sp>
        <p:nvSpPr>
          <p:cNvPr id="11" name="Rounded Rectangle 10"/>
          <p:cNvSpPr/>
          <p:nvPr/>
        </p:nvSpPr>
        <p:spPr>
          <a:xfrm>
            <a:off x="6248095" y="3017520"/>
            <a:ext cx="5212080" cy="219456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A78BFA"/>
                </a:solidFill>
              </a:defRPr>
            </a:pPr>
            <a:r>
              <a:t>Agent Benchmark &amp; Observability (24 Cases)</a:t>
            </a:r>
          </a:p>
          <a:p>
            <a:pPr>
              <a:spcAft>
                <a:spcPts val="400"/>
              </a:spcAft>
            </a:pPr>
            <a:r>
              <a:rPr b="1" sz="950">
                <a:solidFill>
                  <a:srgbClr val="F8FAFC"/>
                </a:solidFill>
              </a:rPr>
              <a:t>• Môi trường Mock Deterministic: </a:t>
            </a:r>
            <a:r>
              <a:rPr sz="900">
                <a:solidFill>
                  <a:srgbClr val="94A3B8"/>
                </a:solidFill>
              </a:rPr>
              <a:t> Benchmark 24 case qua canned RAG và mock MCP giúp đo lường độc lập với mạng Internet.</a:t>
            </a:r>
          </a:p>
          <a:p>
            <a:pPr>
              <a:spcAft>
                <a:spcPts val="400"/>
              </a:spcAft>
            </a:pPr>
            <a:r>
              <a:rPr b="1" sz="950">
                <a:solidFill>
                  <a:srgbClr val="F8FAFC"/>
                </a:solidFill>
              </a:rPr>
              <a:t>• Kết quả Agent thực đo (glm-5.3-flash): </a:t>
            </a:r>
            <a:r>
              <a:rPr sz="900">
                <a:solidFill>
                  <a:srgbClr val="94A3B8"/>
                </a:solidFill>
              </a:rPr>
              <a:t> Tool Selection Accuracy: 100%, Argument Accuracy: 100%, Safety Rate: 100%, Task Success: 83.3%.</a:t>
            </a:r>
          </a:p>
          <a:p>
            <a:pPr>
              <a:spcAft>
                <a:spcPts val="400"/>
              </a:spcAft>
            </a:pPr>
            <a:r>
              <a:rPr b="1" sz="950">
                <a:solidFill>
                  <a:srgbClr val="F8FAFC"/>
                </a:solidFill>
              </a:rPr>
              <a:t>• Giám sát &amp; Replay: </a:t>
            </a:r>
            <a:r>
              <a:rPr sz="900">
                <a:solidFill>
                  <a:srgbClr val="94A3B8"/>
                </a:solidFill>
              </a:rPr>
              <a:t> Tracer module hỗ trợ Langfuse; ReplayService cho phép chạy lại đúng trace với các chế độ recorded, dry-run, live-read.</a:t>
            </a:r>
          </a:p>
        </p:txBody>
      </p:sp>
      <p:sp>
        <p:nvSpPr>
          <p:cNvPr id="12" name="Rounded Rectangle 11"/>
          <p:cNvSpPr/>
          <p:nvPr/>
        </p:nvSpPr>
        <p:spPr>
          <a:xfrm>
            <a:off x="731520" y="5349240"/>
            <a:ext cx="10728655" cy="868680"/>
          </a:xfrm>
          <a:prstGeom prst="roundRect">
            <a:avLst/>
          </a:prstGeom>
          <a:solidFill>
            <a:srgbClr val="1A2234"/>
          </a:solidFill>
          <a:ln w="12700">
            <a:solidFill>
              <a:srgbClr val="2D374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800"/>
              </a:spcAft>
              <a:defRPr sz="1300" b="1">
                <a:solidFill>
                  <a:srgbClr val="34D399"/>
                </a:solidFill>
              </a:defRPr>
            </a:pPr>
            <a:r>
              <a:t>Giá Trị Kỹ Thuật Đóng Gói Toàn Diện</a:t>
            </a:r>
          </a:p>
          <a:p>
            <a:pPr>
              <a:spcBef>
                <a:spcPts val="200"/>
              </a:spcBef>
              <a:defRPr sz="950">
                <a:solidFill>
                  <a:srgbClr val="F8FAFC"/>
                </a:solidFill>
              </a:defRPr>
            </a:pPr>
            <a:r>
              <a:t>Hệ thống thiết lập một chuẩn mực mới trong xây dựng ứng dụng AI: Mọi tối ưu hóa về Prompt, Embedding, Reranker hay Model đều được định lượng hóa chính xác bằng số liệu và bảo vệ bằng rào chắn tự động trong quy trình phát triển liên tục.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